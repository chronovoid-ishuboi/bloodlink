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62" r:id="rId8"/>
    <p:sldId id="263" r:id="rId9"/>
    <p:sldId id="264" r:id="rId10"/>
    <p:sldId id="268" r:id="rId11"/>
    <p:sldId id="270" r:id="rId12"/>
    <p:sldId id="265" r:id="rId13"/>
    <p:sldId id="267" r:id="rId14"/>
    <p:sldId id="272" r:id="rId15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57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A0A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D1C1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A0A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D1C1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A0A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A0A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0285" cy="3931285"/>
          </a:xfrm>
          <a:custGeom>
            <a:avLst/>
            <a:gdLst/>
            <a:ahLst/>
            <a:cxnLst/>
            <a:rect l="l" t="t" r="r" b="b"/>
            <a:pathLst>
              <a:path w="9900285" h="3931285">
                <a:moveTo>
                  <a:pt x="0" y="3931199"/>
                </a:moveTo>
                <a:lnTo>
                  <a:pt x="9900000" y="3931199"/>
                </a:lnTo>
                <a:lnTo>
                  <a:pt x="9900000" y="0"/>
                </a:lnTo>
                <a:lnTo>
                  <a:pt x="0" y="0"/>
                </a:lnTo>
                <a:lnTo>
                  <a:pt x="0" y="3931199"/>
                </a:lnTo>
                <a:close/>
              </a:path>
            </a:pathLst>
          </a:custGeom>
          <a:solidFill>
            <a:srgbClr val="FDF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900000" y="0"/>
            <a:ext cx="792480" cy="7560309"/>
          </a:xfrm>
          <a:custGeom>
            <a:avLst/>
            <a:gdLst/>
            <a:ahLst/>
            <a:cxnLst/>
            <a:rect l="l" t="t" r="r" b="b"/>
            <a:pathLst>
              <a:path w="792479" h="7560309">
                <a:moveTo>
                  <a:pt x="791999" y="0"/>
                </a:moveTo>
                <a:lnTo>
                  <a:pt x="0" y="0"/>
                </a:lnTo>
                <a:lnTo>
                  <a:pt x="0" y="7560000"/>
                </a:lnTo>
                <a:lnTo>
                  <a:pt x="791999" y="7560000"/>
                </a:lnTo>
                <a:lnTo>
                  <a:pt x="791999" y="0"/>
                </a:lnTo>
                <a:close/>
              </a:path>
            </a:pathLst>
          </a:custGeom>
          <a:solidFill>
            <a:srgbClr val="6B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0285" cy="7560309"/>
          </a:xfrm>
          <a:custGeom>
            <a:avLst/>
            <a:gdLst/>
            <a:ahLst/>
            <a:cxnLst/>
            <a:rect l="l" t="t" r="r" b="b"/>
            <a:pathLst>
              <a:path w="9900285" h="7560309">
                <a:moveTo>
                  <a:pt x="0" y="7560000"/>
                </a:moveTo>
                <a:lnTo>
                  <a:pt x="9900000" y="7560000"/>
                </a:lnTo>
                <a:lnTo>
                  <a:pt x="9900000" y="0"/>
                </a:lnTo>
                <a:lnTo>
                  <a:pt x="0" y="0"/>
                </a:lnTo>
                <a:lnTo>
                  <a:pt x="0" y="7560000"/>
                </a:lnTo>
                <a:close/>
              </a:path>
            </a:pathLst>
          </a:custGeom>
          <a:solidFill>
            <a:srgbClr val="FDF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900000" y="0"/>
            <a:ext cx="792480" cy="7560309"/>
          </a:xfrm>
          <a:custGeom>
            <a:avLst/>
            <a:gdLst/>
            <a:ahLst/>
            <a:cxnLst/>
            <a:rect l="l" t="t" r="r" b="b"/>
            <a:pathLst>
              <a:path w="792479" h="7560309">
                <a:moveTo>
                  <a:pt x="791999" y="0"/>
                </a:moveTo>
                <a:lnTo>
                  <a:pt x="0" y="0"/>
                </a:lnTo>
                <a:lnTo>
                  <a:pt x="0" y="7560000"/>
                </a:lnTo>
                <a:lnTo>
                  <a:pt x="791999" y="7560000"/>
                </a:lnTo>
                <a:lnTo>
                  <a:pt x="791999" y="0"/>
                </a:lnTo>
                <a:close/>
              </a:path>
            </a:pathLst>
          </a:custGeom>
          <a:solidFill>
            <a:srgbClr val="6B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1300" y="1020899"/>
            <a:ext cx="9710799" cy="58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A0A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1300" y="1670899"/>
            <a:ext cx="8114665" cy="1727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D1C1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26810" y="364029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328670"/>
            <a:ext cx="9900285" cy="4233824"/>
            <a:chOff x="0" y="3326400"/>
            <a:chExt cx="9900285" cy="4233824"/>
          </a:xfrm>
        </p:grpSpPr>
        <p:sp>
          <p:nvSpPr>
            <p:cNvPr id="4" name="object 4"/>
            <p:cNvSpPr/>
            <p:nvPr/>
          </p:nvSpPr>
          <p:spPr>
            <a:xfrm>
              <a:off x="0" y="3931199"/>
              <a:ext cx="9900285" cy="3629025"/>
            </a:xfrm>
            <a:custGeom>
              <a:avLst/>
              <a:gdLst/>
              <a:ahLst/>
              <a:cxnLst/>
              <a:rect l="l" t="t" r="r" b="b"/>
              <a:pathLst>
                <a:path w="9900285" h="3629025">
                  <a:moveTo>
                    <a:pt x="9900000" y="0"/>
                  </a:moveTo>
                  <a:lnTo>
                    <a:pt x="0" y="0"/>
                  </a:lnTo>
                  <a:lnTo>
                    <a:pt x="0" y="3628800"/>
                  </a:lnTo>
                  <a:lnTo>
                    <a:pt x="9900000" y="3628800"/>
                  </a:lnTo>
                  <a:lnTo>
                    <a:pt x="9900000" y="0"/>
                  </a:lnTo>
                  <a:close/>
                </a:path>
              </a:pathLst>
            </a:custGeom>
            <a:solidFill>
              <a:srgbClr val="8A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326400"/>
              <a:ext cx="7128509" cy="605155"/>
            </a:xfrm>
            <a:custGeom>
              <a:avLst/>
              <a:gdLst/>
              <a:ahLst/>
              <a:cxnLst/>
              <a:rect l="l" t="t" r="r" b="b"/>
              <a:pathLst>
                <a:path w="7128509" h="605154">
                  <a:moveTo>
                    <a:pt x="5939999" y="0"/>
                  </a:moveTo>
                  <a:lnTo>
                    <a:pt x="0" y="0"/>
                  </a:lnTo>
                  <a:lnTo>
                    <a:pt x="0" y="604799"/>
                  </a:lnTo>
                  <a:lnTo>
                    <a:pt x="7127999" y="604799"/>
                  </a:lnTo>
                  <a:lnTo>
                    <a:pt x="5939999" y="0"/>
                  </a:lnTo>
                  <a:close/>
                </a:path>
              </a:pathLst>
            </a:custGeom>
            <a:solidFill>
              <a:srgbClr val="BF38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4992" y="4300201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2286000" y="1143000"/>
                  </a:moveTo>
                  <a:lnTo>
                    <a:pt x="2284996" y="1094689"/>
                  </a:lnTo>
                  <a:lnTo>
                    <a:pt x="2282012" y="1046886"/>
                  </a:lnTo>
                  <a:lnTo>
                    <a:pt x="2277097" y="999629"/>
                  </a:lnTo>
                  <a:lnTo>
                    <a:pt x="2270277" y="952969"/>
                  </a:lnTo>
                  <a:lnTo>
                    <a:pt x="2261590" y="906932"/>
                  </a:lnTo>
                  <a:lnTo>
                    <a:pt x="2251087" y="861568"/>
                  </a:lnTo>
                  <a:lnTo>
                    <a:pt x="2238806" y="816914"/>
                  </a:lnTo>
                  <a:lnTo>
                    <a:pt x="2224786" y="773010"/>
                  </a:lnTo>
                  <a:lnTo>
                    <a:pt x="2209063" y="729894"/>
                  </a:lnTo>
                  <a:lnTo>
                    <a:pt x="2191677" y="687603"/>
                  </a:lnTo>
                  <a:lnTo>
                    <a:pt x="2172665" y="646188"/>
                  </a:lnTo>
                  <a:lnTo>
                    <a:pt x="2152078" y="605675"/>
                  </a:lnTo>
                  <a:lnTo>
                    <a:pt x="2129942" y="566115"/>
                  </a:lnTo>
                  <a:lnTo>
                    <a:pt x="2106307" y="527532"/>
                  </a:lnTo>
                  <a:lnTo>
                    <a:pt x="2081212" y="489978"/>
                  </a:lnTo>
                  <a:lnTo>
                    <a:pt x="2054694" y="453504"/>
                  </a:lnTo>
                  <a:lnTo>
                    <a:pt x="2026780" y="418122"/>
                  </a:lnTo>
                  <a:lnTo>
                    <a:pt x="1997532" y="383895"/>
                  </a:lnTo>
                  <a:lnTo>
                    <a:pt x="1966976" y="350850"/>
                  </a:lnTo>
                  <a:lnTo>
                    <a:pt x="1935162" y="319024"/>
                  </a:lnTo>
                  <a:lnTo>
                    <a:pt x="1902117" y="288467"/>
                  </a:lnTo>
                  <a:lnTo>
                    <a:pt x="1867877" y="259219"/>
                  </a:lnTo>
                  <a:lnTo>
                    <a:pt x="1832508" y="231317"/>
                  </a:lnTo>
                  <a:lnTo>
                    <a:pt x="1796021" y="204787"/>
                  </a:lnTo>
                  <a:lnTo>
                    <a:pt x="1758467" y="179692"/>
                  </a:lnTo>
                  <a:lnTo>
                    <a:pt x="1719897" y="156057"/>
                  </a:lnTo>
                  <a:lnTo>
                    <a:pt x="1680337" y="133921"/>
                  </a:lnTo>
                  <a:lnTo>
                    <a:pt x="1639824" y="113334"/>
                  </a:lnTo>
                  <a:lnTo>
                    <a:pt x="1598396" y="94322"/>
                  </a:lnTo>
                  <a:lnTo>
                    <a:pt x="1556118" y="76936"/>
                  </a:lnTo>
                  <a:lnTo>
                    <a:pt x="1513001" y="61214"/>
                  </a:lnTo>
                  <a:lnTo>
                    <a:pt x="1469097" y="47193"/>
                  </a:lnTo>
                  <a:lnTo>
                    <a:pt x="1424432" y="34912"/>
                  </a:lnTo>
                  <a:lnTo>
                    <a:pt x="1379067" y="24409"/>
                  </a:lnTo>
                  <a:lnTo>
                    <a:pt x="1333042" y="15735"/>
                  </a:lnTo>
                  <a:lnTo>
                    <a:pt x="1286383" y="8915"/>
                  </a:lnTo>
                  <a:lnTo>
                    <a:pt x="1239126" y="3987"/>
                  </a:lnTo>
                  <a:lnTo>
                    <a:pt x="1191323" y="1003"/>
                  </a:lnTo>
                  <a:lnTo>
                    <a:pt x="1143000" y="0"/>
                  </a:lnTo>
                  <a:lnTo>
                    <a:pt x="1094689" y="1003"/>
                  </a:lnTo>
                  <a:lnTo>
                    <a:pt x="1046873" y="3987"/>
                  </a:lnTo>
                  <a:lnTo>
                    <a:pt x="999629" y="8915"/>
                  </a:lnTo>
                  <a:lnTo>
                    <a:pt x="952957" y="15735"/>
                  </a:lnTo>
                  <a:lnTo>
                    <a:pt x="906932" y="24409"/>
                  </a:lnTo>
                  <a:lnTo>
                    <a:pt x="861568" y="34912"/>
                  </a:lnTo>
                  <a:lnTo>
                    <a:pt x="816914" y="47193"/>
                  </a:lnTo>
                  <a:lnTo>
                    <a:pt x="773010" y="61214"/>
                  </a:lnTo>
                  <a:lnTo>
                    <a:pt x="729894" y="76936"/>
                  </a:lnTo>
                  <a:lnTo>
                    <a:pt x="687603" y="94322"/>
                  </a:lnTo>
                  <a:lnTo>
                    <a:pt x="646188" y="113334"/>
                  </a:lnTo>
                  <a:lnTo>
                    <a:pt x="605675" y="133921"/>
                  </a:lnTo>
                  <a:lnTo>
                    <a:pt x="566102" y="156057"/>
                  </a:lnTo>
                  <a:lnTo>
                    <a:pt x="527532" y="179692"/>
                  </a:lnTo>
                  <a:lnTo>
                    <a:pt x="489978" y="204787"/>
                  </a:lnTo>
                  <a:lnTo>
                    <a:pt x="453491" y="231317"/>
                  </a:lnTo>
                  <a:lnTo>
                    <a:pt x="418122" y="259219"/>
                  </a:lnTo>
                  <a:lnTo>
                    <a:pt x="383895" y="288467"/>
                  </a:lnTo>
                  <a:lnTo>
                    <a:pt x="350850" y="319024"/>
                  </a:lnTo>
                  <a:lnTo>
                    <a:pt x="319024" y="350850"/>
                  </a:lnTo>
                  <a:lnTo>
                    <a:pt x="288467" y="383895"/>
                  </a:lnTo>
                  <a:lnTo>
                    <a:pt x="259219" y="418122"/>
                  </a:lnTo>
                  <a:lnTo>
                    <a:pt x="231305" y="453504"/>
                  </a:lnTo>
                  <a:lnTo>
                    <a:pt x="204787" y="489978"/>
                  </a:lnTo>
                  <a:lnTo>
                    <a:pt x="179692" y="527532"/>
                  </a:lnTo>
                  <a:lnTo>
                    <a:pt x="156057" y="566115"/>
                  </a:lnTo>
                  <a:lnTo>
                    <a:pt x="133921" y="605675"/>
                  </a:lnTo>
                  <a:lnTo>
                    <a:pt x="113334" y="646188"/>
                  </a:lnTo>
                  <a:lnTo>
                    <a:pt x="94322" y="687603"/>
                  </a:lnTo>
                  <a:lnTo>
                    <a:pt x="76936" y="729894"/>
                  </a:lnTo>
                  <a:lnTo>
                    <a:pt x="61214" y="773010"/>
                  </a:lnTo>
                  <a:lnTo>
                    <a:pt x="47193" y="816914"/>
                  </a:lnTo>
                  <a:lnTo>
                    <a:pt x="34912" y="861568"/>
                  </a:lnTo>
                  <a:lnTo>
                    <a:pt x="24409" y="906932"/>
                  </a:lnTo>
                  <a:lnTo>
                    <a:pt x="15722" y="952969"/>
                  </a:lnTo>
                  <a:lnTo>
                    <a:pt x="8902" y="999629"/>
                  </a:lnTo>
                  <a:lnTo>
                    <a:pt x="3987" y="1046886"/>
                  </a:lnTo>
                  <a:lnTo>
                    <a:pt x="1003" y="1094689"/>
                  </a:lnTo>
                  <a:lnTo>
                    <a:pt x="0" y="1143000"/>
                  </a:lnTo>
                  <a:lnTo>
                    <a:pt x="1003" y="1191323"/>
                  </a:lnTo>
                  <a:lnTo>
                    <a:pt x="3987" y="1239126"/>
                  </a:lnTo>
                  <a:lnTo>
                    <a:pt x="8902" y="1286383"/>
                  </a:lnTo>
                  <a:lnTo>
                    <a:pt x="15722" y="1333042"/>
                  </a:lnTo>
                  <a:lnTo>
                    <a:pt x="24409" y="1379080"/>
                  </a:lnTo>
                  <a:lnTo>
                    <a:pt x="34912" y="1424444"/>
                  </a:lnTo>
                  <a:lnTo>
                    <a:pt x="47193" y="1469097"/>
                  </a:lnTo>
                  <a:lnTo>
                    <a:pt x="61214" y="1513001"/>
                  </a:lnTo>
                  <a:lnTo>
                    <a:pt x="76936" y="1556118"/>
                  </a:lnTo>
                  <a:lnTo>
                    <a:pt x="94322" y="1598409"/>
                  </a:lnTo>
                  <a:lnTo>
                    <a:pt x="113334" y="1639824"/>
                  </a:lnTo>
                  <a:lnTo>
                    <a:pt x="133921" y="1680337"/>
                  </a:lnTo>
                  <a:lnTo>
                    <a:pt x="156057" y="1719897"/>
                  </a:lnTo>
                  <a:lnTo>
                    <a:pt x="179692" y="1758480"/>
                  </a:lnTo>
                  <a:lnTo>
                    <a:pt x="204787" y="1796021"/>
                  </a:lnTo>
                  <a:lnTo>
                    <a:pt x="231305" y="1832508"/>
                  </a:lnTo>
                  <a:lnTo>
                    <a:pt x="259219" y="1867890"/>
                  </a:lnTo>
                  <a:lnTo>
                    <a:pt x="288467" y="1902117"/>
                  </a:lnTo>
                  <a:lnTo>
                    <a:pt x="319024" y="1935162"/>
                  </a:lnTo>
                  <a:lnTo>
                    <a:pt x="350850" y="1966976"/>
                  </a:lnTo>
                  <a:lnTo>
                    <a:pt x="383895" y="1997532"/>
                  </a:lnTo>
                  <a:lnTo>
                    <a:pt x="418122" y="2026793"/>
                  </a:lnTo>
                  <a:lnTo>
                    <a:pt x="453491" y="2054694"/>
                  </a:lnTo>
                  <a:lnTo>
                    <a:pt x="489978" y="2081212"/>
                  </a:lnTo>
                  <a:lnTo>
                    <a:pt x="527532" y="2106320"/>
                  </a:lnTo>
                  <a:lnTo>
                    <a:pt x="566102" y="2129955"/>
                  </a:lnTo>
                  <a:lnTo>
                    <a:pt x="605675" y="2152078"/>
                  </a:lnTo>
                  <a:lnTo>
                    <a:pt x="646188" y="2172678"/>
                  </a:lnTo>
                  <a:lnTo>
                    <a:pt x="687603" y="2191677"/>
                  </a:lnTo>
                  <a:lnTo>
                    <a:pt x="729894" y="2209063"/>
                  </a:lnTo>
                  <a:lnTo>
                    <a:pt x="773010" y="2224786"/>
                  </a:lnTo>
                  <a:lnTo>
                    <a:pt x="816914" y="2238819"/>
                  </a:lnTo>
                  <a:lnTo>
                    <a:pt x="861568" y="2251100"/>
                  </a:lnTo>
                  <a:lnTo>
                    <a:pt x="906932" y="2261603"/>
                  </a:lnTo>
                  <a:lnTo>
                    <a:pt x="952957" y="2270277"/>
                  </a:lnTo>
                  <a:lnTo>
                    <a:pt x="999629" y="2277097"/>
                  </a:lnTo>
                  <a:lnTo>
                    <a:pt x="1046873" y="2282025"/>
                  </a:lnTo>
                  <a:lnTo>
                    <a:pt x="1094689" y="2284996"/>
                  </a:lnTo>
                  <a:lnTo>
                    <a:pt x="1143000" y="2286000"/>
                  </a:lnTo>
                  <a:lnTo>
                    <a:pt x="1191323" y="2284996"/>
                  </a:lnTo>
                  <a:lnTo>
                    <a:pt x="1239126" y="2282025"/>
                  </a:lnTo>
                  <a:lnTo>
                    <a:pt x="1286383" y="2277097"/>
                  </a:lnTo>
                  <a:lnTo>
                    <a:pt x="1333042" y="2270277"/>
                  </a:lnTo>
                  <a:lnTo>
                    <a:pt x="1379067" y="2261603"/>
                  </a:lnTo>
                  <a:lnTo>
                    <a:pt x="1424432" y="2251100"/>
                  </a:lnTo>
                  <a:lnTo>
                    <a:pt x="1469097" y="2238819"/>
                  </a:lnTo>
                  <a:lnTo>
                    <a:pt x="1513001" y="2224786"/>
                  </a:lnTo>
                  <a:lnTo>
                    <a:pt x="1556118" y="2209063"/>
                  </a:lnTo>
                  <a:lnTo>
                    <a:pt x="1598396" y="2191677"/>
                  </a:lnTo>
                  <a:lnTo>
                    <a:pt x="1639824" y="2172678"/>
                  </a:lnTo>
                  <a:lnTo>
                    <a:pt x="1680337" y="2152078"/>
                  </a:lnTo>
                  <a:lnTo>
                    <a:pt x="1719897" y="2129955"/>
                  </a:lnTo>
                  <a:lnTo>
                    <a:pt x="1758467" y="2106320"/>
                  </a:lnTo>
                  <a:lnTo>
                    <a:pt x="1796021" y="2081212"/>
                  </a:lnTo>
                  <a:lnTo>
                    <a:pt x="1832508" y="2054694"/>
                  </a:lnTo>
                  <a:lnTo>
                    <a:pt x="1867877" y="2026793"/>
                  </a:lnTo>
                  <a:lnTo>
                    <a:pt x="1902117" y="1997532"/>
                  </a:lnTo>
                  <a:lnTo>
                    <a:pt x="1935162" y="1966976"/>
                  </a:lnTo>
                  <a:lnTo>
                    <a:pt x="1966976" y="1935162"/>
                  </a:lnTo>
                  <a:lnTo>
                    <a:pt x="1997532" y="1902117"/>
                  </a:lnTo>
                  <a:lnTo>
                    <a:pt x="2026780" y="1867890"/>
                  </a:lnTo>
                  <a:lnTo>
                    <a:pt x="2054694" y="1832508"/>
                  </a:lnTo>
                  <a:lnTo>
                    <a:pt x="2081212" y="1796021"/>
                  </a:lnTo>
                  <a:lnTo>
                    <a:pt x="2106307" y="1758480"/>
                  </a:lnTo>
                  <a:lnTo>
                    <a:pt x="2129942" y="1719897"/>
                  </a:lnTo>
                  <a:lnTo>
                    <a:pt x="2152078" y="1680337"/>
                  </a:lnTo>
                  <a:lnTo>
                    <a:pt x="2172665" y="1639824"/>
                  </a:lnTo>
                  <a:lnTo>
                    <a:pt x="2191677" y="1598409"/>
                  </a:lnTo>
                  <a:lnTo>
                    <a:pt x="2209063" y="1556118"/>
                  </a:lnTo>
                  <a:lnTo>
                    <a:pt x="2224786" y="1513001"/>
                  </a:lnTo>
                  <a:lnTo>
                    <a:pt x="2238806" y="1469097"/>
                  </a:lnTo>
                  <a:lnTo>
                    <a:pt x="2251087" y="1424444"/>
                  </a:lnTo>
                  <a:lnTo>
                    <a:pt x="2261590" y="1379080"/>
                  </a:lnTo>
                  <a:lnTo>
                    <a:pt x="2270277" y="1333042"/>
                  </a:lnTo>
                  <a:lnTo>
                    <a:pt x="2277097" y="1286383"/>
                  </a:lnTo>
                  <a:lnTo>
                    <a:pt x="2282012" y="1239126"/>
                  </a:lnTo>
                  <a:lnTo>
                    <a:pt x="2284996" y="1191323"/>
                  </a:lnTo>
                  <a:lnTo>
                    <a:pt x="2286000" y="1143000"/>
                  </a:lnTo>
                  <a:close/>
                </a:path>
              </a:pathLst>
            </a:custGeom>
            <a:solidFill>
              <a:srgbClr val="FFF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999" y="5564199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634999" y="0"/>
                  </a:moveTo>
                  <a:lnTo>
                    <a:pt x="587608" y="1741"/>
                  </a:lnTo>
                  <a:lnTo>
                    <a:pt x="541164" y="6885"/>
                  </a:lnTo>
                  <a:lnTo>
                    <a:pt x="495788" y="15307"/>
                  </a:lnTo>
                  <a:lnTo>
                    <a:pt x="451603" y="26885"/>
                  </a:lnTo>
                  <a:lnTo>
                    <a:pt x="408733" y="41496"/>
                  </a:lnTo>
                  <a:lnTo>
                    <a:pt x="367299" y="59018"/>
                  </a:lnTo>
                  <a:lnTo>
                    <a:pt x="327426" y="79328"/>
                  </a:lnTo>
                  <a:lnTo>
                    <a:pt x="289235" y="102302"/>
                  </a:lnTo>
                  <a:lnTo>
                    <a:pt x="252850" y="127819"/>
                  </a:lnTo>
                  <a:lnTo>
                    <a:pt x="218393" y="155754"/>
                  </a:lnTo>
                  <a:lnTo>
                    <a:pt x="185987" y="185987"/>
                  </a:lnTo>
                  <a:lnTo>
                    <a:pt x="155754" y="218393"/>
                  </a:lnTo>
                  <a:lnTo>
                    <a:pt x="127818" y="252850"/>
                  </a:lnTo>
                  <a:lnTo>
                    <a:pt x="102302" y="289236"/>
                  </a:lnTo>
                  <a:lnTo>
                    <a:pt x="79328" y="327426"/>
                  </a:lnTo>
                  <a:lnTo>
                    <a:pt x="59018" y="367300"/>
                  </a:lnTo>
                  <a:lnTo>
                    <a:pt x="41496" y="408733"/>
                  </a:lnTo>
                  <a:lnTo>
                    <a:pt x="26885" y="451603"/>
                  </a:lnTo>
                  <a:lnTo>
                    <a:pt x="15307" y="495788"/>
                  </a:lnTo>
                  <a:lnTo>
                    <a:pt x="6885" y="541164"/>
                  </a:lnTo>
                  <a:lnTo>
                    <a:pt x="1741" y="587609"/>
                  </a:lnTo>
                  <a:lnTo>
                    <a:pt x="0" y="634999"/>
                  </a:lnTo>
                  <a:lnTo>
                    <a:pt x="1741" y="682390"/>
                  </a:lnTo>
                  <a:lnTo>
                    <a:pt x="6885" y="728835"/>
                  </a:lnTo>
                  <a:lnTo>
                    <a:pt x="15307" y="774211"/>
                  </a:lnTo>
                  <a:lnTo>
                    <a:pt x="26885" y="818396"/>
                  </a:lnTo>
                  <a:lnTo>
                    <a:pt x="41496" y="861266"/>
                  </a:lnTo>
                  <a:lnTo>
                    <a:pt x="59018" y="902699"/>
                  </a:lnTo>
                  <a:lnTo>
                    <a:pt x="79328" y="942573"/>
                  </a:lnTo>
                  <a:lnTo>
                    <a:pt x="102302" y="980764"/>
                  </a:lnTo>
                  <a:lnTo>
                    <a:pt x="127818" y="1017149"/>
                  </a:lnTo>
                  <a:lnTo>
                    <a:pt x="155754" y="1051606"/>
                  </a:lnTo>
                  <a:lnTo>
                    <a:pt x="185987" y="1084012"/>
                  </a:lnTo>
                  <a:lnTo>
                    <a:pt x="218393" y="1114245"/>
                  </a:lnTo>
                  <a:lnTo>
                    <a:pt x="252850" y="1142180"/>
                  </a:lnTo>
                  <a:lnTo>
                    <a:pt x="289235" y="1167697"/>
                  </a:lnTo>
                  <a:lnTo>
                    <a:pt x="327426" y="1190671"/>
                  </a:lnTo>
                  <a:lnTo>
                    <a:pt x="367299" y="1210981"/>
                  </a:lnTo>
                  <a:lnTo>
                    <a:pt x="408733" y="1228503"/>
                  </a:lnTo>
                  <a:lnTo>
                    <a:pt x="451603" y="1243114"/>
                  </a:lnTo>
                  <a:lnTo>
                    <a:pt x="495788" y="1254692"/>
                  </a:lnTo>
                  <a:lnTo>
                    <a:pt x="541164" y="1263114"/>
                  </a:lnTo>
                  <a:lnTo>
                    <a:pt x="587608" y="1268258"/>
                  </a:lnTo>
                  <a:lnTo>
                    <a:pt x="634999" y="1269999"/>
                  </a:lnTo>
                  <a:lnTo>
                    <a:pt x="682390" y="1268258"/>
                  </a:lnTo>
                  <a:lnTo>
                    <a:pt x="728835" y="1263114"/>
                  </a:lnTo>
                  <a:lnTo>
                    <a:pt x="774211" y="1254692"/>
                  </a:lnTo>
                  <a:lnTo>
                    <a:pt x="818396" y="1243114"/>
                  </a:lnTo>
                  <a:lnTo>
                    <a:pt x="861266" y="1228503"/>
                  </a:lnTo>
                  <a:lnTo>
                    <a:pt x="902699" y="1210981"/>
                  </a:lnTo>
                  <a:lnTo>
                    <a:pt x="942573" y="1190671"/>
                  </a:lnTo>
                  <a:lnTo>
                    <a:pt x="980764" y="1167697"/>
                  </a:lnTo>
                  <a:lnTo>
                    <a:pt x="1017149" y="1142180"/>
                  </a:lnTo>
                  <a:lnTo>
                    <a:pt x="1051606" y="1114245"/>
                  </a:lnTo>
                  <a:lnTo>
                    <a:pt x="1084012" y="1084012"/>
                  </a:lnTo>
                  <a:lnTo>
                    <a:pt x="1114245" y="1051606"/>
                  </a:lnTo>
                  <a:lnTo>
                    <a:pt x="1142180" y="1017149"/>
                  </a:lnTo>
                  <a:lnTo>
                    <a:pt x="1167697" y="980764"/>
                  </a:lnTo>
                  <a:lnTo>
                    <a:pt x="1190671" y="942573"/>
                  </a:lnTo>
                  <a:lnTo>
                    <a:pt x="1210981" y="902699"/>
                  </a:lnTo>
                  <a:lnTo>
                    <a:pt x="1228503" y="861266"/>
                  </a:lnTo>
                  <a:lnTo>
                    <a:pt x="1243114" y="818396"/>
                  </a:lnTo>
                  <a:lnTo>
                    <a:pt x="1254692" y="774211"/>
                  </a:lnTo>
                  <a:lnTo>
                    <a:pt x="1263114" y="728835"/>
                  </a:lnTo>
                  <a:lnTo>
                    <a:pt x="1268257" y="682390"/>
                  </a:lnTo>
                  <a:lnTo>
                    <a:pt x="1269999" y="634999"/>
                  </a:lnTo>
                  <a:lnTo>
                    <a:pt x="1268257" y="587609"/>
                  </a:lnTo>
                  <a:lnTo>
                    <a:pt x="1263114" y="541164"/>
                  </a:lnTo>
                  <a:lnTo>
                    <a:pt x="1254692" y="495788"/>
                  </a:lnTo>
                  <a:lnTo>
                    <a:pt x="1243114" y="451603"/>
                  </a:lnTo>
                  <a:lnTo>
                    <a:pt x="1228503" y="408733"/>
                  </a:lnTo>
                  <a:lnTo>
                    <a:pt x="1210981" y="367300"/>
                  </a:lnTo>
                  <a:lnTo>
                    <a:pt x="1190671" y="327426"/>
                  </a:lnTo>
                  <a:lnTo>
                    <a:pt x="1167697" y="289236"/>
                  </a:lnTo>
                  <a:lnTo>
                    <a:pt x="1142180" y="252850"/>
                  </a:lnTo>
                  <a:lnTo>
                    <a:pt x="1114245" y="218393"/>
                  </a:lnTo>
                  <a:lnTo>
                    <a:pt x="1084012" y="185987"/>
                  </a:lnTo>
                  <a:lnTo>
                    <a:pt x="1051606" y="155754"/>
                  </a:lnTo>
                  <a:lnTo>
                    <a:pt x="1017149" y="127819"/>
                  </a:lnTo>
                  <a:lnTo>
                    <a:pt x="980764" y="102302"/>
                  </a:lnTo>
                  <a:lnTo>
                    <a:pt x="942573" y="79328"/>
                  </a:lnTo>
                  <a:lnTo>
                    <a:pt x="902699" y="59018"/>
                  </a:lnTo>
                  <a:lnTo>
                    <a:pt x="861266" y="41496"/>
                  </a:lnTo>
                  <a:lnTo>
                    <a:pt x="818396" y="26885"/>
                  </a:lnTo>
                  <a:lnTo>
                    <a:pt x="774211" y="15307"/>
                  </a:lnTo>
                  <a:lnTo>
                    <a:pt x="728835" y="6885"/>
                  </a:lnTo>
                  <a:lnTo>
                    <a:pt x="682390" y="1741"/>
                  </a:lnTo>
                  <a:lnTo>
                    <a:pt x="634999" y="0"/>
                  </a:lnTo>
                  <a:close/>
                </a:path>
              </a:pathLst>
            </a:custGeom>
            <a:solidFill>
              <a:srgbClr val="FFF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57145" y="4548742"/>
              <a:ext cx="3214902" cy="1884604"/>
            </a:xfrm>
            <a:custGeom>
              <a:avLst/>
              <a:gdLst/>
              <a:ahLst/>
              <a:cxnLst/>
              <a:rect l="l" t="t" r="r" b="b"/>
              <a:pathLst>
                <a:path w="2540000" h="457200">
                  <a:moveTo>
                    <a:pt x="2489199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406400"/>
                  </a:lnTo>
                  <a:lnTo>
                    <a:pt x="3988" y="426184"/>
                  </a:lnTo>
                  <a:lnTo>
                    <a:pt x="14869" y="442330"/>
                  </a:lnTo>
                  <a:lnTo>
                    <a:pt x="31015" y="453211"/>
                  </a:lnTo>
                  <a:lnTo>
                    <a:pt x="50800" y="457200"/>
                  </a:lnTo>
                  <a:lnTo>
                    <a:pt x="2489199" y="457200"/>
                  </a:lnTo>
                  <a:lnTo>
                    <a:pt x="2508984" y="453211"/>
                  </a:lnTo>
                  <a:lnTo>
                    <a:pt x="2525130" y="442330"/>
                  </a:lnTo>
                  <a:lnTo>
                    <a:pt x="2536011" y="426184"/>
                  </a:lnTo>
                  <a:lnTo>
                    <a:pt x="2539999" y="406400"/>
                  </a:lnTo>
                  <a:lnTo>
                    <a:pt x="2539999" y="50800"/>
                  </a:lnTo>
                  <a:lnTo>
                    <a:pt x="2536011" y="31015"/>
                  </a:lnTo>
                  <a:lnTo>
                    <a:pt x="2525130" y="14869"/>
                  </a:lnTo>
                  <a:lnTo>
                    <a:pt x="2508984" y="3988"/>
                  </a:lnTo>
                  <a:lnTo>
                    <a:pt x="2489199" y="0"/>
                  </a:lnTo>
                  <a:close/>
                </a:path>
              </a:pathLst>
            </a:custGeom>
            <a:solidFill>
              <a:srgbClr val="79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54896" y="4691171"/>
            <a:ext cx="2819400" cy="160428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SDG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3: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Good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Health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Well-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being</a:t>
            </a:r>
            <a:endParaRPr lang="en-US" sz="2000" b="1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CSE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4402 | Visual Programming 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Lab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FA56D4-7F2B-4865-8929-77B4BA3D846D}"/>
              </a:ext>
            </a:extLst>
          </p:cNvPr>
          <p:cNvSpPr txBox="1"/>
          <p:nvPr/>
        </p:nvSpPr>
        <p:spPr>
          <a:xfrm>
            <a:off x="2984500" y="1122307"/>
            <a:ext cx="3701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  </a:t>
            </a:r>
            <a:r>
              <a:rPr lang="en-US" sz="4800" b="1" dirty="0" err="1">
                <a:solidFill>
                  <a:srgbClr val="C00000"/>
                </a:solidFill>
              </a:rPr>
              <a:t>BloodLink</a:t>
            </a:r>
            <a:endParaRPr lang="en-US" sz="4800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9AFF2A-D5E0-4AD5-9944-48517A31005F}"/>
              </a:ext>
            </a:extLst>
          </p:cNvPr>
          <p:cNvSpPr txBox="1"/>
          <p:nvPr/>
        </p:nvSpPr>
        <p:spPr>
          <a:xfrm>
            <a:off x="3602571" y="1940488"/>
            <a:ext cx="2745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Where Blood Finds Life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26810" y="364029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900285" cy="467995"/>
          </a:xfrm>
          <a:custGeom>
            <a:avLst/>
            <a:gdLst/>
            <a:ahLst/>
            <a:cxnLst/>
            <a:rect l="l" t="t" r="r" b="b"/>
            <a:pathLst>
              <a:path w="9900285" h="467995">
                <a:moveTo>
                  <a:pt x="9900000" y="0"/>
                </a:moveTo>
                <a:lnTo>
                  <a:pt x="0" y="0"/>
                </a:lnTo>
                <a:lnTo>
                  <a:pt x="0" y="467999"/>
                </a:lnTo>
                <a:lnTo>
                  <a:pt x="9900000" y="467999"/>
                </a:lnTo>
                <a:lnTo>
                  <a:pt x="9900000" y="0"/>
                </a:lnTo>
                <a:close/>
              </a:path>
            </a:pathLst>
          </a:custGeom>
          <a:solidFill>
            <a:srgbClr val="8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253999"/>
            <a:ext cx="9900285" cy="54610"/>
          </a:xfrm>
          <a:custGeom>
            <a:avLst/>
            <a:gdLst/>
            <a:ahLst/>
            <a:cxnLst/>
            <a:rect l="l" t="t" r="r" b="b"/>
            <a:pathLst>
              <a:path w="9900285" h="54609">
                <a:moveTo>
                  <a:pt x="9900000" y="0"/>
                </a:moveTo>
                <a:lnTo>
                  <a:pt x="0" y="0"/>
                </a:lnTo>
                <a:lnTo>
                  <a:pt x="0" y="54000"/>
                </a:lnTo>
                <a:lnTo>
                  <a:pt x="9900000" y="54000"/>
                </a:lnTo>
                <a:lnTo>
                  <a:pt x="9900000" y="0"/>
                </a:lnTo>
                <a:close/>
              </a:path>
            </a:pathLst>
          </a:custGeom>
          <a:solidFill>
            <a:srgbClr val="BF38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300" y="140899"/>
            <a:ext cx="1211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PRESENTED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100" rIns="0" bIns="0" rtlCol="0">
            <a:spAutoFit/>
          </a:bodyPr>
          <a:lstStyle/>
          <a:p>
            <a:pPr marL="3569335">
              <a:lnSpc>
                <a:spcPct val="100000"/>
              </a:lnSpc>
              <a:spcBef>
                <a:spcPts val="100"/>
              </a:spcBef>
            </a:pPr>
            <a:r>
              <a:rPr sz="3000" u="sng" dirty="0">
                <a:uFill>
                  <a:solidFill>
                    <a:srgbClr val="BF382A"/>
                  </a:solidFill>
                </a:uFill>
              </a:rPr>
              <a:t>Our</a:t>
            </a:r>
            <a:r>
              <a:rPr sz="3000" u="sng" spc="-45" dirty="0">
                <a:uFill>
                  <a:solidFill>
                    <a:srgbClr val="BF382A"/>
                  </a:solidFill>
                </a:uFill>
              </a:rPr>
              <a:t> </a:t>
            </a:r>
            <a:r>
              <a:rPr sz="3000" u="sng" spc="-20" dirty="0">
                <a:uFill>
                  <a:solidFill>
                    <a:srgbClr val="BF382A"/>
                  </a:solidFill>
                </a:uFill>
              </a:rPr>
              <a:t>Team</a:t>
            </a:r>
            <a:endParaRPr sz="3000" dirty="0"/>
          </a:p>
        </p:txBody>
      </p:sp>
      <p:grpSp>
        <p:nvGrpSpPr>
          <p:cNvPr id="7" name="object 7"/>
          <p:cNvGrpSpPr/>
          <p:nvPr/>
        </p:nvGrpSpPr>
        <p:grpSpPr>
          <a:xfrm>
            <a:off x="504000" y="2872799"/>
            <a:ext cx="2772410" cy="3326765"/>
            <a:chOff x="504000" y="2872799"/>
            <a:chExt cx="2772410" cy="3326765"/>
          </a:xfrm>
        </p:grpSpPr>
        <p:sp>
          <p:nvSpPr>
            <p:cNvPr id="8" name="object 8"/>
            <p:cNvSpPr/>
            <p:nvPr/>
          </p:nvSpPr>
          <p:spPr>
            <a:xfrm>
              <a:off x="504000" y="2872799"/>
              <a:ext cx="2772410" cy="3326765"/>
            </a:xfrm>
            <a:custGeom>
              <a:avLst/>
              <a:gdLst/>
              <a:ahLst/>
              <a:cxnLst/>
              <a:rect l="l" t="t" r="r" b="b"/>
              <a:pathLst>
                <a:path w="2772410" h="3326765">
                  <a:moveTo>
                    <a:pt x="2695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250200"/>
                  </a:lnTo>
                  <a:lnTo>
                    <a:pt x="5982" y="3279877"/>
                  </a:lnTo>
                  <a:lnTo>
                    <a:pt x="22303" y="3304096"/>
                  </a:lnTo>
                  <a:lnTo>
                    <a:pt x="46522" y="3320417"/>
                  </a:lnTo>
                  <a:lnTo>
                    <a:pt x="76200" y="3326400"/>
                  </a:lnTo>
                  <a:lnTo>
                    <a:pt x="2695800" y="3326400"/>
                  </a:lnTo>
                  <a:lnTo>
                    <a:pt x="2725477" y="3320417"/>
                  </a:lnTo>
                  <a:lnTo>
                    <a:pt x="2749696" y="3304096"/>
                  </a:lnTo>
                  <a:lnTo>
                    <a:pt x="2766017" y="3279877"/>
                  </a:lnTo>
                  <a:lnTo>
                    <a:pt x="2772000" y="3250200"/>
                  </a:lnTo>
                  <a:lnTo>
                    <a:pt x="2772000" y="76200"/>
                  </a:lnTo>
                  <a:lnTo>
                    <a:pt x="2766017" y="46522"/>
                  </a:lnTo>
                  <a:lnTo>
                    <a:pt x="2749696" y="22303"/>
                  </a:lnTo>
                  <a:lnTo>
                    <a:pt x="2725477" y="5982"/>
                  </a:lnTo>
                  <a:lnTo>
                    <a:pt x="2695800" y="0"/>
                  </a:lnTo>
                  <a:close/>
                </a:path>
              </a:pathLst>
            </a:custGeom>
            <a:solidFill>
              <a:srgbClr val="FD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12199" y="2923599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lnTo>
                    <a:pt x="130533" y="6351"/>
                  </a:lnTo>
                  <a:lnTo>
                    <a:pt x="88060" y="24274"/>
                  </a:lnTo>
                  <a:lnTo>
                    <a:pt x="52076" y="52076"/>
                  </a:lnTo>
                  <a:lnTo>
                    <a:pt x="24274" y="88060"/>
                  </a:lnTo>
                  <a:lnTo>
                    <a:pt x="6351" y="130533"/>
                  </a:lnTo>
                  <a:lnTo>
                    <a:pt x="0" y="177800"/>
                  </a:lnTo>
                  <a:lnTo>
                    <a:pt x="6351" y="225066"/>
                  </a:lnTo>
                  <a:lnTo>
                    <a:pt x="24274" y="267539"/>
                  </a:lnTo>
                  <a:lnTo>
                    <a:pt x="52076" y="303523"/>
                  </a:lnTo>
                  <a:lnTo>
                    <a:pt x="88060" y="331325"/>
                  </a:lnTo>
                  <a:lnTo>
                    <a:pt x="130533" y="349248"/>
                  </a:lnTo>
                  <a:lnTo>
                    <a:pt x="177800" y="355600"/>
                  </a:lnTo>
                  <a:lnTo>
                    <a:pt x="225066" y="349248"/>
                  </a:lnTo>
                  <a:lnTo>
                    <a:pt x="267539" y="331325"/>
                  </a:lnTo>
                  <a:lnTo>
                    <a:pt x="303523" y="303523"/>
                  </a:lnTo>
                  <a:lnTo>
                    <a:pt x="331325" y="267539"/>
                  </a:lnTo>
                  <a:lnTo>
                    <a:pt x="349248" y="225066"/>
                  </a:lnTo>
                  <a:lnTo>
                    <a:pt x="355600" y="177800"/>
                  </a:lnTo>
                  <a:lnTo>
                    <a:pt x="349248" y="130533"/>
                  </a:lnTo>
                  <a:lnTo>
                    <a:pt x="331325" y="88060"/>
                  </a:lnTo>
                  <a:lnTo>
                    <a:pt x="303523" y="52076"/>
                  </a:lnTo>
                  <a:lnTo>
                    <a:pt x="267539" y="24274"/>
                  </a:lnTo>
                  <a:lnTo>
                    <a:pt x="225066" y="6351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rgbClr val="8A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43606" y="2995139"/>
            <a:ext cx="692785" cy="5103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US" sz="1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20"/>
              </a:spcBef>
            </a:pPr>
            <a:endParaRPr lang="en-US" sz="9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1000" y="3749099"/>
            <a:ext cx="2518410" cy="12700"/>
          </a:xfrm>
          <a:custGeom>
            <a:avLst/>
            <a:gdLst/>
            <a:ahLst/>
            <a:cxnLst/>
            <a:rect l="l" t="t" r="r" b="b"/>
            <a:pathLst>
              <a:path w="2518410" h="12700">
                <a:moveTo>
                  <a:pt x="2517999" y="0"/>
                </a:moveTo>
                <a:lnTo>
                  <a:pt x="0" y="0"/>
                </a:lnTo>
                <a:lnTo>
                  <a:pt x="0" y="12700"/>
                </a:lnTo>
                <a:lnTo>
                  <a:pt x="2517999" y="12700"/>
                </a:lnTo>
                <a:lnTo>
                  <a:pt x="2517999" y="0"/>
                </a:lnTo>
                <a:close/>
              </a:path>
            </a:pathLst>
          </a:custGeom>
          <a:solidFill>
            <a:srgbClr val="E8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3563999" y="2872799"/>
            <a:ext cx="2772410" cy="3326765"/>
            <a:chOff x="3563999" y="2872799"/>
            <a:chExt cx="2772410" cy="3326765"/>
          </a:xfrm>
        </p:grpSpPr>
        <p:sp>
          <p:nvSpPr>
            <p:cNvPr id="14" name="object 14"/>
            <p:cNvSpPr/>
            <p:nvPr/>
          </p:nvSpPr>
          <p:spPr>
            <a:xfrm>
              <a:off x="3563999" y="2872799"/>
              <a:ext cx="2772410" cy="3326765"/>
            </a:xfrm>
            <a:custGeom>
              <a:avLst/>
              <a:gdLst/>
              <a:ahLst/>
              <a:cxnLst/>
              <a:rect l="l" t="t" r="r" b="b"/>
              <a:pathLst>
                <a:path w="2772410" h="3326765">
                  <a:moveTo>
                    <a:pt x="2695799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250200"/>
                  </a:lnTo>
                  <a:lnTo>
                    <a:pt x="5982" y="3279877"/>
                  </a:lnTo>
                  <a:lnTo>
                    <a:pt x="22303" y="3304096"/>
                  </a:lnTo>
                  <a:lnTo>
                    <a:pt x="46522" y="3320417"/>
                  </a:lnTo>
                  <a:lnTo>
                    <a:pt x="76200" y="3326400"/>
                  </a:lnTo>
                  <a:lnTo>
                    <a:pt x="2695799" y="3326400"/>
                  </a:lnTo>
                  <a:lnTo>
                    <a:pt x="2725476" y="3320417"/>
                  </a:lnTo>
                  <a:lnTo>
                    <a:pt x="2749696" y="3304096"/>
                  </a:lnTo>
                  <a:lnTo>
                    <a:pt x="2766017" y="3279877"/>
                  </a:lnTo>
                  <a:lnTo>
                    <a:pt x="2771999" y="3250200"/>
                  </a:lnTo>
                  <a:lnTo>
                    <a:pt x="2771999" y="76200"/>
                  </a:lnTo>
                  <a:lnTo>
                    <a:pt x="2766017" y="46522"/>
                  </a:lnTo>
                  <a:lnTo>
                    <a:pt x="2749696" y="22303"/>
                  </a:lnTo>
                  <a:lnTo>
                    <a:pt x="2725476" y="5982"/>
                  </a:lnTo>
                  <a:lnTo>
                    <a:pt x="2695799" y="0"/>
                  </a:lnTo>
                  <a:close/>
                </a:path>
              </a:pathLst>
            </a:custGeom>
            <a:solidFill>
              <a:srgbClr val="FD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72200" y="2923599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lnTo>
                    <a:pt x="130533" y="6351"/>
                  </a:lnTo>
                  <a:lnTo>
                    <a:pt x="88060" y="24274"/>
                  </a:lnTo>
                  <a:lnTo>
                    <a:pt x="52076" y="52076"/>
                  </a:lnTo>
                  <a:lnTo>
                    <a:pt x="24274" y="88060"/>
                  </a:lnTo>
                  <a:lnTo>
                    <a:pt x="6351" y="130533"/>
                  </a:lnTo>
                  <a:lnTo>
                    <a:pt x="0" y="177800"/>
                  </a:lnTo>
                  <a:lnTo>
                    <a:pt x="6351" y="225066"/>
                  </a:lnTo>
                  <a:lnTo>
                    <a:pt x="24274" y="267539"/>
                  </a:lnTo>
                  <a:lnTo>
                    <a:pt x="52076" y="303523"/>
                  </a:lnTo>
                  <a:lnTo>
                    <a:pt x="88060" y="331325"/>
                  </a:lnTo>
                  <a:lnTo>
                    <a:pt x="130533" y="349248"/>
                  </a:lnTo>
                  <a:lnTo>
                    <a:pt x="177800" y="355600"/>
                  </a:lnTo>
                  <a:lnTo>
                    <a:pt x="225066" y="349248"/>
                  </a:lnTo>
                  <a:lnTo>
                    <a:pt x="267539" y="331325"/>
                  </a:lnTo>
                  <a:lnTo>
                    <a:pt x="303523" y="303523"/>
                  </a:lnTo>
                  <a:lnTo>
                    <a:pt x="331325" y="267539"/>
                  </a:lnTo>
                  <a:lnTo>
                    <a:pt x="349248" y="225066"/>
                  </a:lnTo>
                  <a:lnTo>
                    <a:pt x="355600" y="177800"/>
                  </a:lnTo>
                  <a:lnTo>
                    <a:pt x="349248" y="130533"/>
                  </a:lnTo>
                  <a:lnTo>
                    <a:pt x="331325" y="88060"/>
                  </a:lnTo>
                  <a:lnTo>
                    <a:pt x="303523" y="52076"/>
                  </a:lnTo>
                  <a:lnTo>
                    <a:pt x="267539" y="24274"/>
                  </a:lnTo>
                  <a:lnTo>
                    <a:pt x="225066" y="6351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rgbClr val="8A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603715" y="2974399"/>
            <a:ext cx="692785" cy="5103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20"/>
              </a:spcBef>
            </a:pPr>
            <a:r>
              <a:rPr sz="1000" i="1" dirty="0">
                <a:solidFill>
                  <a:srgbClr val="D8D8D8"/>
                </a:solidFill>
                <a:latin typeface="Arial"/>
                <a:cs typeface="Arial"/>
              </a:rPr>
              <a:t>[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90999" y="3749099"/>
            <a:ext cx="2518410" cy="12700"/>
          </a:xfrm>
          <a:custGeom>
            <a:avLst/>
            <a:gdLst/>
            <a:ahLst/>
            <a:cxnLst/>
            <a:rect l="l" t="t" r="r" b="b"/>
            <a:pathLst>
              <a:path w="2518410" h="12700">
                <a:moveTo>
                  <a:pt x="2517999" y="0"/>
                </a:moveTo>
                <a:lnTo>
                  <a:pt x="0" y="0"/>
                </a:lnTo>
                <a:lnTo>
                  <a:pt x="0" y="12700"/>
                </a:lnTo>
                <a:lnTo>
                  <a:pt x="2517999" y="12700"/>
                </a:lnTo>
                <a:lnTo>
                  <a:pt x="2517999" y="0"/>
                </a:lnTo>
                <a:close/>
              </a:path>
            </a:pathLst>
          </a:custGeom>
          <a:solidFill>
            <a:srgbClr val="E8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624000" y="2872799"/>
            <a:ext cx="2772410" cy="3326765"/>
            <a:chOff x="6624000" y="2872799"/>
            <a:chExt cx="2772410" cy="3326765"/>
          </a:xfrm>
        </p:grpSpPr>
        <p:sp>
          <p:nvSpPr>
            <p:cNvPr id="20" name="object 20"/>
            <p:cNvSpPr/>
            <p:nvPr/>
          </p:nvSpPr>
          <p:spPr>
            <a:xfrm>
              <a:off x="6624000" y="2872799"/>
              <a:ext cx="2772410" cy="3326765"/>
            </a:xfrm>
            <a:custGeom>
              <a:avLst/>
              <a:gdLst/>
              <a:ahLst/>
              <a:cxnLst/>
              <a:rect l="l" t="t" r="r" b="b"/>
              <a:pathLst>
                <a:path w="2772409" h="3326765">
                  <a:moveTo>
                    <a:pt x="2695799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250200"/>
                  </a:lnTo>
                  <a:lnTo>
                    <a:pt x="5982" y="3279877"/>
                  </a:lnTo>
                  <a:lnTo>
                    <a:pt x="22303" y="3304096"/>
                  </a:lnTo>
                  <a:lnTo>
                    <a:pt x="46522" y="3320417"/>
                  </a:lnTo>
                  <a:lnTo>
                    <a:pt x="76200" y="3326400"/>
                  </a:lnTo>
                  <a:lnTo>
                    <a:pt x="2695799" y="3326400"/>
                  </a:lnTo>
                  <a:lnTo>
                    <a:pt x="2725476" y="3320417"/>
                  </a:lnTo>
                  <a:lnTo>
                    <a:pt x="2749696" y="3304096"/>
                  </a:lnTo>
                  <a:lnTo>
                    <a:pt x="2766017" y="3279877"/>
                  </a:lnTo>
                  <a:lnTo>
                    <a:pt x="2771999" y="3250200"/>
                  </a:lnTo>
                  <a:lnTo>
                    <a:pt x="2771999" y="76200"/>
                  </a:lnTo>
                  <a:lnTo>
                    <a:pt x="2766017" y="46522"/>
                  </a:lnTo>
                  <a:lnTo>
                    <a:pt x="2749696" y="22303"/>
                  </a:lnTo>
                  <a:lnTo>
                    <a:pt x="2725476" y="5982"/>
                  </a:lnTo>
                  <a:lnTo>
                    <a:pt x="2695799" y="0"/>
                  </a:lnTo>
                  <a:close/>
                </a:path>
              </a:pathLst>
            </a:custGeom>
            <a:solidFill>
              <a:srgbClr val="FD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32200" y="2923599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77800" y="0"/>
                  </a:moveTo>
                  <a:lnTo>
                    <a:pt x="130533" y="6351"/>
                  </a:lnTo>
                  <a:lnTo>
                    <a:pt x="88060" y="24274"/>
                  </a:lnTo>
                  <a:lnTo>
                    <a:pt x="52076" y="52076"/>
                  </a:lnTo>
                  <a:lnTo>
                    <a:pt x="24274" y="88060"/>
                  </a:lnTo>
                  <a:lnTo>
                    <a:pt x="6351" y="130533"/>
                  </a:lnTo>
                  <a:lnTo>
                    <a:pt x="0" y="177800"/>
                  </a:lnTo>
                  <a:lnTo>
                    <a:pt x="6351" y="225066"/>
                  </a:lnTo>
                  <a:lnTo>
                    <a:pt x="24274" y="267539"/>
                  </a:lnTo>
                  <a:lnTo>
                    <a:pt x="52076" y="303523"/>
                  </a:lnTo>
                  <a:lnTo>
                    <a:pt x="88060" y="331325"/>
                  </a:lnTo>
                  <a:lnTo>
                    <a:pt x="130533" y="349248"/>
                  </a:lnTo>
                  <a:lnTo>
                    <a:pt x="177800" y="355600"/>
                  </a:lnTo>
                  <a:lnTo>
                    <a:pt x="225065" y="349248"/>
                  </a:lnTo>
                  <a:lnTo>
                    <a:pt x="267538" y="331325"/>
                  </a:lnTo>
                  <a:lnTo>
                    <a:pt x="303523" y="303523"/>
                  </a:lnTo>
                  <a:lnTo>
                    <a:pt x="331324" y="267539"/>
                  </a:lnTo>
                  <a:lnTo>
                    <a:pt x="349248" y="225066"/>
                  </a:lnTo>
                  <a:lnTo>
                    <a:pt x="355600" y="177800"/>
                  </a:lnTo>
                  <a:lnTo>
                    <a:pt x="349248" y="130533"/>
                  </a:lnTo>
                  <a:lnTo>
                    <a:pt x="331324" y="88060"/>
                  </a:lnTo>
                  <a:lnTo>
                    <a:pt x="303523" y="52076"/>
                  </a:lnTo>
                  <a:lnTo>
                    <a:pt x="267538" y="24274"/>
                  </a:lnTo>
                  <a:lnTo>
                    <a:pt x="225065" y="6351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rgbClr val="8A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663715" y="2974399"/>
            <a:ext cx="692785" cy="5103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20"/>
              </a:spcBef>
            </a:pPr>
            <a:endParaRPr sz="1000" dirty="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751000" y="3749099"/>
            <a:ext cx="2518410" cy="12700"/>
          </a:xfrm>
          <a:custGeom>
            <a:avLst/>
            <a:gdLst/>
            <a:ahLst/>
            <a:cxnLst/>
            <a:rect l="l" t="t" r="r" b="b"/>
            <a:pathLst>
              <a:path w="2518409" h="12700">
                <a:moveTo>
                  <a:pt x="2517999" y="0"/>
                </a:moveTo>
                <a:lnTo>
                  <a:pt x="0" y="0"/>
                </a:lnTo>
                <a:lnTo>
                  <a:pt x="0" y="12700"/>
                </a:lnTo>
                <a:lnTo>
                  <a:pt x="2517999" y="12700"/>
                </a:lnTo>
                <a:lnTo>
                  <a:pt x="2517999" y="0"/>
                </a:lnTo>
                <a:close/>
              </a:path>
            </a:pathLst>
          </a:custGeom>
          <a:solidFill>
            <a:srgbClr val="E8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19841" y="6664299"/>
            <a:ext cx="40608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D1C1C"/>
                </a:solidFill>
                <a:latin typeface="Arial MT"/>
                <a:cs typeface="Arial MT"/>
              </a:rPr>
              <a:t>CSE 4402: Visual Programming Lab</a:t>
            </a:r>
            <a:r>
              <a:rPr sz="1000" spc="280" dirty="0">
                <a:solidFill>
                  <a:srgbClr val="3D1C1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3D1C1C"/>
                </a:solidFill>
                <a:latin typeface="Arial MT"/>
                <a:cs typeface="Arial MT"/>
              </a:rPr>
              <a:t>|</a:t>
            </a:r>
            <a:r>
              <a:rPr sz="1000" spc="275" dirty="0">
                <a:solidFill>
                  <a:srgbClr val="3D1C1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3D1C1C"/>
                </a:solidFill>
                <a:latin typeface="Arial MT"/>
                <a:cs typeface="Arial MT"/>
              </a:rPr>
              <a:t>Islamic</a:t>
            </a:r>
            <a:r>
              <a:rPr sz="1000" spc="5" dirty="0">
                <a:solidFill>
                  <a:srgbClr val="3D1C1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3D1C1C"/>
                </a:solidFill>
                <a:latin typeface="Arial MT"/>
                <a:cs typeface="Arial MT"/>
              </a:rPr>
              <a:t>University of </a:t>
            </a:r>
            <a:r>
              <a:rPr sz="1000" spc="-10" dirty="0">
                <a:solidFill>
                  <a:srgbClr val="3D1C1C"/>
                </a:solidFill>
                <a:latin typeface="Arial MT"/>
                <a:cs typeface="Arial MT"/>
              </a:rPr>
              <a:t>Technology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17FCAC-E635-4398-BD49-8FAB1CE087BF}"/>
              </a:ext>
            </a:extLst>
          </p:cNvPr>
          <p:cNvSpPr txBox="1"/>
          <p:nvPr/>
        </p:nvSpPr>
        <p:spPr>
          <a:xfrm>
            <a:off x="730982" y="4226534"/>
            <a:ext cx="25184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Sunbim</a:t>
            </a:r>
            <a:r>
              <a:rPr lang="en-US" b="1" dirty="0">
                <a:solidFill>
                  <a:srgbClr val="C00000"/>
                </a:solidFill>
              </a:rPr>
              <a:t> Haque </a:t>
            </a:r>
            <a:r>
              <a:rPr lang="en-US" b="1" dirty="0" err="1">
                <a:solidFill>
                  <a:srgbClr val="C00000"/>
                </a:solidFill>
              </a:rPr>
              <a:t>Niloy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ID : 230041205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29FC4D-D5A6-4FA4-A05F-924B3DE2F473}"/>
              </a:ext>
            </a:extLst>
          </p:cNvPr>
          <p:cNvSpPr txBox="1"/>
          <p:nvPr/>
        </p:nvSpPr>
        <p:spPr>
          <a:xfrm>
            <a:off x="3724588" y="4148025"/>
            <a:ext cx="24848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Md </a:t>
            </a:r>
            <a:r>
              <a:rPr lang="en-US" b="1" dirty="0" err="1">
                <a:solidFill>
                  <a:srgbClr val="C00000"/>
                </a:solidFill>
              </a:rPr>
              <a:t>Woasif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Mehmud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Issmam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ID :230041213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D49B45-E9C2-4F72-8CFD-BE127C330515}"/>
              </a:ext>
            </a:extLst>
          </p:cNvPr>
          <p:cNvSpPr txBox="1"/>
          <p:nvPr/>
        </p:nvSpPr>
        <p:spPr>
          <a:xfrm>
            <a:off x="6751000" y="4226534"/>
            <a:ext cx="26494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Samin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Sawban</a:t>
            </a:r>
            <a:r>
              <a:rPr lang="en-US" b="1" dirty="0">
                <a:solidFill>
                  <a:srgbClr val="C00000"/>
                </a:solidFill>
              </a:rPr>
              <a:t> Rayed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ID : 230041217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26810" y="3640299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900285" cy="467995"/>
          </a:xfrm>
          <a:custGeom>
            <a:avLst/>
            <a:gdLst/>
            <a:ahLst/>
            <a:cxnLst/>
            <a:rect l="l" t="t" r="r" b="b"/>
            <a:pathLst>
              <a:path w="9900285" h="467995">
                <a:moveTo>
                  <a:pt x="9900000" y="0"/>
                </a:moveTo>
                <a:lnTo>
                  <a:pt x="0" y="0"/>
                </a:lnTo>
                <a:lnTo>
                  <a:pt x="0" y="467999"/>
                </a:lnTo>
                <a:lnTo>
                  <a:pt x="9900000" y="467999"/>
                </a:lnTo>
                <a:lnTo>
                  <a:pt x="9900000" y="0"/>
                </a:lnTo>
                <a:close/>
              </a:path>
            </a:pathLst>
          </a:custGeom>
          <a:solidFill>
            <a:srgbClr val="8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253999"/>
            <a:ext cx="9900285" cy="54610"/>
          </a:xfrm>
          <a:custGeom>
            <a:avLst/>
            <a:gdLst/>
            <a:ahLst/>
            <a:cxnLst/>
            <a:rect l="l" t="t" r="r" b="b"/>
            <a:pathLst>
              <a:path w="9900285" h="54609">
                <a:moveTo>
                  <a:pt x="9900000" y="0"/>
                </a:moveTo>
                <a:lnTo>
                  <a:pt x="0" y="0"/>
                </a:lnTo>
                <a:lnTo>
                  <a:pt x="0" y="54000"/>
                </a:lnTo>
                <a:lnTo>
                  <a:pt x="9900000" y="54000"/>
                </a:lnTo>
                <a:lnTo>
                  <a:pt x="9900000" y="0"/>
                </a:lnTo>
                <a:close/>
              </a:path>
            </a:pathLst>
          </a:custGeom>
          <a:solidFill>
            <a:srgbClr val="BF38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300" y="140899"/>
            <a:ext cx="1761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PROBLEM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STATEMENT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The</a:t>
            </a:r>
            <a:r>
              <a:rPr sz="2800" spc="-50" dirty="0"/>
              <a:t> </a:t>
            </a:r>
            <a:r>
              <a:rPr sz="2800" spc="-10" dirty="0"/>
              <a:t>Problem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472250" y="1656071"/>
            <a:ext cx="433038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3D1C1C"/>
                </a:solidFill>
                <a:latin typeface="Arial MT"/>
                <a:cs typeface="Arial MT"/>
              </a:rPr>
              <a:t>When someone urgently needs blood in </a:t>
            </a:r>
            <a:r>
              <a:rPr sz="1400" spc="-10" dirty="0">
                <a:solidFill>
                  <a:srgbClr val="3D1C1C"/>
                </a:solidFill>
                <a:latin typeface="Arial MT"/>
                <a:cs typeface="Arial MT"/>
              </a:rPr>
              <a:t>Bangladesh: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350" y="2215099"/>
            <a:ext cx="88900" cy="889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012" y="5957828"/>
            <a:ext cx="88900" cy="889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250" y="3222597"/>
            <a:ext cx="88900" cy="889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462" y="4166518"/>
            <a:ext cx="88900" cy="889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900" y="5001873"/>
            <a:ext cx="88900" cy="889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43700" y="2103339"/>
            <a:ext cx="4677410" cy="40363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800"/>
              </a:lnSpc>
              <a:spcBef>
                <a:spcPts val="100"/>
              </a:spcBef>
            </a:pP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They</a:t>
            </a:r>
            <a:r>
              <a:rPr sz="1600" spc="-2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post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on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Facebook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—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hundreds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share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but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nobody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actually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coordinates</a:t>
            </a:r>
            <a:endParaRPr lang="en-US" sz="1600" spc="-10" dirty="0">
              <a:solidFill>
                <a:srgbClr val="1A0A0A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28800"/>
              </a:lnSpc>
              <a:spcBef>
                <a:spcPts val="100"/>
              </a:spcBef>
            </a:pPr>
            <a:endParaRPr lang="en-US" sz="1600" spc="-10" dirty="0">
              <a:solidFill>
                <a:srgbClr val="1A0A0A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28800"/>
              </a:lnSpc>
              <a:spcBef>
                <a:spcPts val="100"/>
              </a:spcBef>
            </a:pP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Many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donors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are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unavailable,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too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far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away,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or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recently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donated</a:t>
            </a:r>
            <a:endParaRPr lang="en-US" sz="1600" spc="-10" dirty="0">
              <a:solidFill>
                <a:srgbClr val="1A0A0A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28800"/>
              </a:lnSpc>
              <a:spcBef>
                <a:spcPts val="100"/>
              </a:spcBef>
            </a:pP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Hospitals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have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no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real-time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visibility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on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donor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availability</a:t>
            </a:r>
            <a:endParaRPr lang="en-US" sz="1600" spc="-10" dirty="0">
              <a:solidFill>
                <a:srgbClr val="1A0A0A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endParaRPr sz="1600" dirty="0">
              <a:latin typeface="Arial MT"/>
              <a:cs typeface="Arial MT"/>
            </a:endParaRPr>
          </a:p>
          <a:p>
            <a:pPr marL="12700" marR="605155">
              <a:lnSpc>
                <a:spcPct val="128800"/>
              </a:lnSpc>
            </a:pP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Rare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blood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groups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(O</a:t>
            </a:r>
            <a:r>
              <a:rPr sz="1600" dirty="0">
                <a:solidFill>
                  <a:srgbClr val="1A0A0A"/>
                </a:solidFill>
                <a:latin typeface="Symbol"/>
                <a:cs typeface="Symbol"/>
              </a:rPr>
              <a:t>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,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AB</a:t>
            </a:r>
            <a:r>
              <a:rPr sz="1600" dirty="0">
                <a:solidFill>
                  <a:srgbClr val="1A0A0A"/>
                </a:solidFill>
                <a:latin typeface="Symbol"/>
                <a:cs typeface="Symbol"/>
              </a:rPr>
              <a:t>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)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are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nearly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impossible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to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find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quickly </a:t>
            </a:r>
            <a:endParaRPr lang="en-US" sz="1600" spc="-10" dirty="0">
              <a:solidFill>
                <a:srgbClr val="1A0A0A"/>
              </a:solidFill>
              <a:latin typeface="Arial MT"/>
              <a:cs typeface="Arial MT"/>
            </a:endParaRPr>
          </a:p>
          <a:p>
            <a:pPr marL="12700" marR="605155">
              <a:lnSpc>
                <a:spcPct val="128800"/>
              </a:lnSpc>
            </a:pPr>
            <a:endParaRPr lang="en-US" sz="1600" spc="-10" dirty="0">
              <a:solidFill>
                <a:srgbClr val="1A0A0A"/>
              </a:solidFill>
              <a:latin typeface="Arial MT"/>
              <a:cs typeface="Arial MT"/>
            </a:endParaRPr>
          </a:p>
          <a:p>
            <a:pPr marL="12700" marR="605155">
              <a:lnSpc>
                <a:spcPct val="128800"/>
              </a:lnSpc>
            </a:pP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Valuable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time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is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lost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—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and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lives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are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at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risk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543999" y="1675266"/>
            <a:ext cx="3960495" cy="4675574"/>
          </a:xfrm>
          <a:custGeom>
            <a:avLst/>
            <a:gdLst/>
            <a:ahLst/>
            <a:cxnLst/>
            <a:rect l="l" t="t" r="r" b="b"/>
            <a:pathLst>
              <a:path w="3960495" h="4536440">
                <a:moveTo>
                  <a:pt x="38838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4459799"/>
                </a:lnTo>
                <a:lnTo>
                  <a:pt x="5982" y="4489476"/>
                </a:lnTo>
                <a:lnTo>
                  <a:pt x="22303" y="4513695"/>
                </a:lnTo>
                <a:lnTo>
                  <a:pt x="46522" y="4530016"/>
                </a:lnTo>
                <a:lnTo>
                  <a:pt x="76200" y="4535999"/>
                </a:lnTo>
                <a:lnTo>
                  <a:pt x="3883800" y="4535999"/>
                </a:lnTo>
                <a:lnTo>
                  <a:pt x="3913478" y="4530016"/>
                </a:lnTo>
                <a:lnTo>
                  <a:pt x="3937697" y="4513695"/>
                </a:lnTo>
                <a:lnTo>
                  <a:pt x="3954018" y="4489476"/>
                </a:lnTo>
                <a:lnTo>
                  <a:pt x="3960000" y="4459799"/>
                </a:lnTo>
                <a:lnTo>
                  <a:pt x="3960000" y="76200"/>
                </a:lnTo>
                <a:lnTo>
                  <a:pt x="3954018" y="46522"/>
                </a:lnTo>
                <a:lnTo>
                  <a:pt x="3937697" y="22303"/>
                </a:lnTo>
                <a:lnTo>
                  <a:pt x="3913478" y="5982"/>
                </a:lnTo>
                <a:lnTo>
                  <a:pt x="3883800" y="0"/>
                </a:lnTo>
                <a:close/>
              </a:path>
            </a:pathLst>
          </a:custGeom>
          <a:solidFill>
            <a:srgbClr val="F9E9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53414" y="1877900"/>
            <a:ext cx="15411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8A0000"/>
                </a:solidFill>
                <a:latin typeface="Arial"/>
                <a:cs typeface="Arial"/>
              </a:rPr>
              <a:t>Every</a:t>
            </a:r>
            <a:r>
              <a:rPr sz="1200" b="1" spc="-20" dirty="0">
                <a:solidFill>
                  <a:srgbClr val="8A0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8A0000"/>
                </a:solidFill>
                <a:latin typeface="Arial"/>
                <a:cs typeface="Arial"/>
              </a:rPr>
              <a:t>Minute</a:t>
            </a:r>
            <a:r>
              <a:rPr sz="1200" b="1" spc="-20" dirty="0">
                <a:solidFill>
                  <a:srgbClr val="8A000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8A0000"/>
                </a:solidFill>
                <a:latin typeface="Arial"/>
                <a:cs typeface="Arial"/>
              </a:rPr>
              <a:t>Counts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21799" y="2131900"/>
            <a:ext cx="3604895" cy="12700"/>
          </a:xfrm>
          <a:custGeom>
            <a:avLst/>
            <a:gdLst/>
            <a:ahLst/>
            <a:cxnLst/>
            <a:rect l="l" t="t" r="r" b="b"/>
            <a:pathLst>
              <a:path w="3604895" h="12700">
                <a:moveTo>
                  <a:pt x="3604399" y="0"/>
                </a:moveTo>
                <a:lnTo>
                  <a:pt x="0" y="0"/>
                </a:lnTo>
                <a:lnTo>
                  <a:pt x="0" y="12700"/>
                </a:lnTo>
                <a:lnTo>
                  <a:pt x="3604399" y="12700"/>
                </a:lnTo>
                <a:lnTo>
                  <a:pt x="3604399" y="0"/>
                </a:lnTo>
                <a:close/>
              </a:path>
            </a:pathLst>
          </a:custGeom>
          <a:solidFill>
            <a:srgbClr val="DD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658299" y="2233500"/>
            <a:ext cx="1127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indent="-197485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210185" algn="l"/>
              </a:tabLst>
            </a:pPr>
            <a:r>
              <a:rPr sz="1000" b="1" dirty="0">
                <a:solidFill>
                  <a:srgbClr val="1A0A0A"/>
                </a:solidFill>
                <a:latin typeface="Arial"/>
                <a:cs typeface="Arial"/>
              </a:rPr>
              <a:t>Average </a:t>
            </a:r>
            <a:r>
              <a:rPr sz="1000" b="1" spc="-10" dirty="0">
                <a:solidFill>
                  <a:srgbClr val="1A0A0A"/>
                </a:solidFill>
                <a:latin typeface="Arial"/>
                <a:cs typeface="Arial"/>
              </a:rPr>
              <a:t>delay: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79516" y="2233500"/>
            <a:ext cx="7105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BF382A"/>
                </a:solidFill>
                <a:latin typeface="Arial"/>
                <a:cs typeface="Arial"/>
              </a:rPr>
              <a:t>30</a:t>
            </a:r>
            <a:r>
              <a:rPr sz="1000" b="1" spc="5" dirty="0">
                <a:solidFill>
                  <a:srgbClr val="BF382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BF382A"/>
                </a:solidFill>
                <a:latin typeface="Arial"/>
                <a:cs typeface="Arial"/>
              </a:rPr>
              <a:t>–</a:t>
            </a:r>
            <a:r>
              <a:rPr sz="1000" b="1" spc="10" dirty="0">
                <a:solidFill>
                  <a:srgbClr val="BF382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BF382A"/>
                </a:solidFill>
                <a:latin typeface="Arial"/>
                <a:cs typeface="Arial"/>
              </a:rPr>
              <a:t>60</a:t>
            </a:r>
            <a:r>
              <a:rPr sz="1000" b="1" spc="10" dirty="0">
                <a:solidFill>
                  <a:srgbClr val="BF382A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BF382A"/>
                </a:solidFill>
                <a:latin typeface="Arial"/>
                <a:cs typeface="Arial"/>
              </a:rPr>
              <a:t>min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70999" y="2426540"/>
            <a:ext cx="3706495" cy="10160"/>
          </a:xfrm>
          <a:custGeom>
            <a:avLst/>
            <a:gdLst/>
            <a:ahLst/>
            <a:cxnLst/>
            <a:rect l="l" t="t" r="r" b="b"/>
            <a:pathLst>
              <a:path w="3706495" h="10160">
                <a:moveTo>
                  <a:pt x="3705999" y="0"/>
                </a:moveTo>
                <a:lnTo>
                  <a:pt x="0" y="0"/>
                </a:lnTo>
                <a:lnTo>
                  <a:pt x="0" y="10160"/>
                </a:lnTo>
                <a:lnTo>
                  <a:pt x="3705999" y="10160"/>
                </a:lnTo>
                <a:lnTo>
                  <a:pt x="3705999" y="0"/>
                </a:lnTo>
                <a:close/>
              </a:path>
            </a:pathLst>
          </a:custGeom>
          <a:solidFill>
            <a:srgbClr val="E8CF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658299" y="2487500"/>
            <a:ext cx="15144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indent="-197485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210185" algn="l"/>
              </a:tabLst>
            </a:pPr>
            <a:r>
              <a:rPr sz="1000" b="1" dirty="0">
                <a:solidFill>
                  <a:srgbClr val="1A0A0A"/>
                </a:solidFill>
                <a:latin typeface="Arial"/>
                <a:cs typeface="Arial"/>
              </a:rPr>
              <a:t>Rare</a:t>
            </a:r>
            <a:r>
              <a:rPr sz="1000" b="1" spc="-15" dirty="0">
                <a:solidFill>
                  <a:srgbClr val="1A0A0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A0A0A"/>
                </a:solidFill>
                <a:latin typeface="Arial"/>
                <a:cs typeface="Arial"/>
              </a:rPr>
              <a:t>group</a:t>
            </a:r>
            <a:r>
              <a:rPr sz="1000" b="1" spc="-15" dirty="0">
                <a:solidFill>
                  <a:srgbClr val="1A0A0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A0A0A"/>
                </a:solidFill>
                <a:latin typeface="Arial"/>
                <a:cs typeface="Arial"/>
              </a:rPr>
              <a:t>shortage: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33770" y="2487500"/>
            <a:ext cx="4565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BF382A"/>
                </a:solidFill>
                <a:latin typeface="Arial"/>
                <a:cs typeface="Arial"/>
              </a:rPr>
              <a:t>Critical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670999" y="2680540"/>
            <a:ext cx="3706495" cy="10160"/>
          </a:xfrm>
          <a:custGeom>
            <a:avLst/>
            <a:gdLst/>
            <a:ahLst/>
            <a:cxnLst/>
            <a:rect l="l" t="t" r="r" b="b"/>
            <a:pathLst>
              <a:path w="3706495" h="10160">
                <a:moveTo>
                  <a:pt x="3705999" y="0"/>
                </a:moveTo>
                <a:lnTo>
                  <a:pt x="0" y="0"/>
                </a:lnTo>
                <a:lnTo>
                  <a:pt x="0" y="10160"/>
                </a:lnTo>
                <a:lnTo>
                  <a:pt x="3705999" y="10160"/>
                </a:lnTo>
                <a:lnTo>
                  <a:pt x="3705999" y="0"/>
                </a:lnTo>
                <a:close/>
              </a:path>
            </a:pathLst>
          </a:custGeom>
          <a:solidFill>
            <a:srgbClr val="E8CF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658299" y="2741500"/>
            <a:ext cx="12179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indent="-197485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210185" algn="l"/>
              </a:tabLst>
            </a:pPr>
            <a:r>
              <a:rPr sz="1000" b="1" dirty="0">
                <a:solidFill>
                  <a:srgbClr val="1A0A0A"/>
                </a:solidFill>
                <a:latin typeface="Arial"/>
                <a:cs typeface="Arial"/>
              </a:rPr>
              <a:t>Current</a:t>
            </a:r>
            <a:r>
              <a:rPr sz="1000" b="1" spc="-40" dirty="0">
                <a:solidFill>
                  <a:srgbClr val="1A0A0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A0A0A"/>
                </a:solidFill>
                <a:latin typeface="Arial"/>
                <a:cs typeface="Arial"/>
              </a:rPr>
              <a:t>method: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97449" y="2741500"/>
            <a:ext cx="9925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BF382A"/>
                </a:solidFill>
                <a:latin typeface="Arial"/>
                <a:cs typeface="Arial"/>
              </a:rPr>
              <a:t>Facebook </a:t>
            </a:r>
            <a:r>
              <a:rPr sz="1000" b="1" spc="-10" dirty="0">
                <a:solidFill>
                  <a:srgbClr val="BF382A"/>
                </a:solidFill>
                <a:latin typeface="Arial"/>
                <a:cs typeface="Arial"/>
              </a:rPr>
              <a:t>posts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70999" y="2934540"/>
            <a:ext cx="3706495" cy="10160"/>
          </a:xfrm>
          <a:custGeom>
            <a:avLst/>
            <a:gdLst/>
            <a:ahLst/>
            <a:cxnLst/>
            <a:rect l="l" t="t" r="r" b="b"/>
            <a:pathLst>
              <a:path w="3706495" h="10160">
                <a:moveTo>
                  <a:pt x="3705999" y="0"/>
                </a:moveTo>
                <a:lnTo>
                  <a:pt x="0" y="0"/>
                </a:lnTo>
                <a:lnTo>
                  <a:pt x="0" y="10160"/>
                </a:lnTo>
                <a:lnTo>
                  <a:pt x="3705999" y="10160"/>
                </a:lnTo>
                <a:lnTo>
                  <a:pt x="3705999" y="0"/>
                </a:lnTo>
                <a:close/>
              </a:path>
            </a:pathLst>
          </a:custGeom>
          <a:solidFill>
            <a:srgbClr val="E8CF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58299" y="2995500"/>
            <a:ext cx="10553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indent="-197485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210185" algn="l"/>
              </a:tabLst>
            </a:pPr>
            <a:r>
              <a:rPr sz="1000" b="1" spc="-10" dirty="0">
                <a:solidFill>
                  <a:srgbClr val="1A0A0A"/>
                </a:solidFill>
                <a:latin typeface="Arial"/>
                <a:cs typeface="Arial"/>
              </a:rPr>
              <a:t>Coordination: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46800" y="2995500"/>
            <a:ext cx="3429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BF382A"/>
                </a:solidFill>
                <a:latin typeface="Arial"/>
                <a:cs typeface="Arial"/>
              </a:rPr>
              <a:t>None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94799" y="3293450"/>
            <a:ext cx="3706495" cy="10160"/>
          </a:xfrm>
          <a:custGeom>
            <a:avLst/>
            <a:gdLst/>
            <a:ahLst/>
            <a:cxnLst/>
            <a:rect l="l" t="t" r="r" b="b"/>
            <a:pathLst>
              <a:path w="3706495" h="10160">
                <a:moveTo>
                  <a:pt x="3705999" y="0"/>
                </a:moveTo>
                <a:lnTo>
                  <a:pt x="0" y="0"/>
                </a:lnTo>
                <a:lnTo>
                  <a:pt x="0" y="10160"/>
                </a:lnTo>
                <a:lnTo>
                  <a:pt x="3705999" y="10160"/>
                </a:lnTo>
                <a:lnTo>
                  <a:pt x="3705999" y="0"/>
                </a:lnTo>
                <a:close/>
              </a:path>
            </a:pathLst>
          </a:custGeom>
          <a:solidFill>
            <a:srgbClr val="E8CFC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17433D5-2882-48EF-853E-01C19B4BD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43999" y="3268717"/>
            <a:ext cx="3960494" cy="307196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26810" y="3640299"/>
            <a:ext cx="1384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900285" cy="467995"/>
          </a:xfrm>
          <a:custGeom>
            <a:avLst/>
            <a:gdLst/>
            <a:ahLst/>
            <a:cxnLst/>
            <a:rect l="l" t="t" r="r" b="b"/>
            <a:pathLst>
              <a:path w="9900285" h="467995">
                <a:moveTo>
                  <a:pt x="9900000" y="0"/>
                </a:moveTo>
                <a:lnTo>
                  <a:pt x="0" y="0"/>
                </a:lnTo>
                <a:lnTo>
                  <a:pt x="0" y="467999"/>
                </a:lnTo>
                <a:lnTo>
                  <a:pt x="9900000" y="467999"/>
                </a:lnTo>
                <a:lnTo>
                  <a:pt x="9900000" y="0"/>
                </a:lnTo>
                <a:close/>
              </a:path>
            </a:pathLst>
          </a:custGeom>
          <a:solidFill>
            <a:srgbClr val="8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253999"/>
            <a:ext cx="9900285" cy="54610"/>
          </a:xfrm>
          <a:custGeom>
            <a:avLst/>
            <a:gdLst/>
            <a:ahLst/>
            <a:cxnLst/>
            <a:rect l="l" t="t" r="r" b="b"/>
            <a:pathLst>
              <a:path w="9900285" h="54609">
                <a:moveTo>
                  <a:pt x="9900000" y="0"/>
                </a:moveTo>
                <a:lnTo>
                  <a:pt x="0" y="0"/>
                </a:lnTo>
                <a:lnTo>
                  <a:pt x="0" y="54000"/>
                </a:lnTo>
                <a:lnTo>
                  <a:pt x="9900000" y="54000"/>
                </a:lnTo>
                <a:lnTo>
                  <a:pt x="9900000" y="0"/>
                </a:lnTo>
                <a:close/>
              </a:path>
            </a:pathLst>
          </a:custGeom>
          <a:solidFill>
            <a:srgbClr val="BF38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300" y="140899"/>
            <a:ext cx="1193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BloodLink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491300" y="1658199"/>
            <a:ext cx="5135245" cy="2104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BF382A"/>
                </a:solidFill>
                <a:latin typeface="Arial"/>
                <a:cs typeface="Arial"/>
              </a:rPr>
              <a:t>Emergency</a:t>
            </a:r>
            <a:r>
              <a:rPr sz="1300" b="1" spc="-50" dirty="0">
                <a:solidFill>
                  <a:srgbClr val="BF382A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BF382A"/>
                </a:solidFill>
                <a:latin typeface="Arial"/>
                <a:cs typeface="Arial"/>
              </a:rPr>
              <a:t>Blood</a:t>
            </a:r>
            <a:r>
              <a:rPr sz="1300" b="1" spc="-50" dirty="0">
                <a:solidFill>
                  <a:srgbClr val="BF382A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BF382A"/>
                </a:solidFill>
                <a:latin typeface="Arial"/>
                <a:cs typeface="Arial"/>
              </a:rPr>
              <a:t>Response</a:t>
            </a:r>
            <a:r>
              <a:rPr sz="1300" b="1" spc="-45" dirty="0">
                <a:solidFill>
                  <a:srgbClr val="BF382A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BF382A"/>
                </a:solidFill>
                <a:latin typeface="Arial"/>
                <a:cs typeface="Arial"/>
              </a:rPr>
              <a:t>&amp;</a:t>
            </a:r>
            <a:r>
              <a:rPr sz="1300" b="1" spc="-50" dirty="0">
                <a:solidFill>
                  <a:srgbClr val="BF382A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BF382A"/>
                </a:solidFill>
                <a:latin typeface="Arial"/>
                <a:cs typeface="Arial"/>
              </a:rPr>
              <a:t>Donor</a:t>
            </a:r>
            <a:r>
              <a:rPr sz="1300" b="1" spc="-50" dirty="0">
                <a:solidFill>
                  <a:srgbClr val="BF382A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BF382A"/>
                </a:solidFill>
                <a:latin typeface="Arial"/>
                <a:cs typeface="Arial"/>
              </a:rPr>
              <a:t>Coordination</a:t>
            </a:r>
            <a:r>
              <a:rPr sz="1300" b="1" spc="-45" dirty="0">
                <a:solidFill>
                  <a:srgbClr val="BF382A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BF382A"/>
                </a:solidFill>
                <a:latin typeface="Arial"/>
                <a:cs typeface="Arial"/>
              </a:rPr>
              <a:t>Platform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ct val="128800"/>
              </a:lnSpc>
            </a:pP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BloodLink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is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an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emergency</a:t>
            </a:r>
            <a:r>
              <a:rPr sz="1600" spc="-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blood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response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platform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that</a:t>
            </a:r>
            <a:r>
              <a:rPr sz="1600" spc="-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reduces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the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time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 required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locate</a:t>
            </a:r>
            <a:r>
              <a:rPr sz="1600" spc="-2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eligible</a:t>
            </a:r>
            <a:r>
              <a:rPr sz="1600" spc="-2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blood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donors</a:t>
            </a:r>
            <a:r>
              <a:rPr sz="1600" spc="-2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during</a:t>
            </a:r>
            <a:r>
              <a:rPr sz="1600" spc="-2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critical</a:t>
            </a:r>
            <a:r>
              <a:rPr sz="1600" spc="-2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medical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situations</a:t>
            </a:r>
            <a:r>
              <a:rPr sz="1600" spc="-2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through</a:t>
            </a:r>
            <a:r>
              <a:rPr sz="1600" spc="-2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intelligent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donor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prioritization,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eligibility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assessment,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and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real-time</a:t>
            </a:r>
            <a:r>
              <a:rPr sz="1600" spc="-20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0A0A"/>
                </a:solidFill>
                <a:latin typeface="Arial MT"/>
                <a:cs typeface="Arial MT"/>
              </a:rPr>
              <a:t>emergency</a:t>
            </a:r>
            <a:r>
              <a:rPr sz="1600" spc="-15" dirty="0">
                <a:solidFill>
                  <a:srgbClr val="1A0A0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0A0A"/>
                </a:solidFill>
                <a:latin typeface="Arial MT"/>
                <a:cs typeface="Arial MT"/>
              </a:rPr>
              <a:t>coordination.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4000" y="4782799"/>
            <a:ext cx="4950460" cy="1094530"/>
          </a:xfrm>
          <a:custGeom>
            <a:avLst/>
            <a:gdLst/>
            <a:ahLst/>
            <a:cxnLst/>
            <a:rect l="l" t="t" r="r" b="b"/>
            <a:pathLst>
              <a:path w="4950460" h="660400">
                <a:moveTo>
                  <a:pt x="4886499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6899"/>
                </a:lnTo>
                <a:lnTo>
                  <a:pt x="4985" y="621630"/>
                </a:lnTo>
                <a:lnTo>
                  <a:pt x="18586" y="641813"/>
                </a:lnTo>
                <a:lnTo>
                  <a:pt x="38769" y="655414"/>
                </a:lnTo>
                <a:lnTo>
                  <a:pt x="63500" y="660399"/>
                </a:lnTo>
                <a:lnTo>
                  <a:pt x="4886499" y="660399"/>
                </a:lnTo>
                <a:lnTo>
                  <a:pt x="4911230" y="655414"/>
                </a:lnTo>
                <a:lnTo>
                  <a:pt x="4931413" y="641813"/>
                </a:lnTo>
                <a:lnTo>
                  <a:pt x="4945014" y="621630"/>
                </a:lnTo>
                <a:lnTo>
                  <a:pt x="4949999" y="596899"/>
                </a:lnTo>
                <a:lnTo>
                  <a:pt x="4949999" y="63499"/>
                </a:lnTo>
                <a:lnTo>
                  <a:pt x="4945014" y="38769"/>
                </a:lnTo>
                <a:lnTo>
                  <a:pt x="4931413" y="18586"/>
                </a:lnTo>
                <a:lnTo>
                  <a:pt x="4911230" y="4985"/>
                </a:lnTo>
                <a:lnTo>
                  <a:pt x="4886499" y="0"/>
                </a:lnTo>
                <a:close/>
              </a:path>
            </a:pathLst>
          </a:custGeom>
          <a:solidFill>
            <a:srgbClr val="FD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2900" y="4808453"/>
            <a:ext cx="2715260" cy="10945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100" b="1" dirty="0">
                <a:solidFill>
                  <a:srgbClr val="8A0000"/>
                </a:solidFill>
                <a:latin typeface="Arial"/>
                <a:cs typeface="Arial"/>
              </a:rPr>
              <a:t>SDG</a:t>
            </a:r>
            <a:r>
              <a:rPr sz="1100" b="1" spc="-25" dirty="0">
                <a:solidFill>
                  <a:srgbClr val="8A0000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8A0000"/>
                </a:solidFill>
                <a:latin typeface="Arial"/>
                <a:cs typeface="Arial"/>
              </a:rPr>
              <a:t>Alignment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400" dirty="0">
                <a:solidFill>
                  <a:srgbClr val="3D1C1C"/>
                </a:solidFill>
                <a:latin typeface="Arial MT"/>
                <a:cs typeface="Arial MT"/>
              </a:rPr>
              <a:t>SDG</a:t>
            </a:r>
            <a:r>
              <a:rPr sz="1400" spc="5" dirty="0">
                <a:solidFill>
                  <a:srgbClr val="3D1C1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D1C1C"/>
                </a:solidFill>
                <a:latin typeface="Arial MT"/>
                <a:cs typeface="Arial MT"/>
              </a:rPr>
              <a:t>3: Good</a:t>
            </a:r>
            <a:r>
              <a:rPr sz="1400" spc="5" dirty="0">
                <a:solidFill>
                  <a:srgbClr val="3D1C1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D1C1C"/>
                </a:solidFill>
                <a:latin typeface="Arial MT"/>
                <a:cs typeface="Arial MT"/>
              </a:rPr>
              <a:t>Health</a:t>
            </a:r>
            <a:r>
              <a:rPr sz="1400" spc="5" dirty="0">
                <a:solidFill>
                  <a:srgbClr val="3D1C1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D1C1C"/>
                </a:solidFill>
                <a:latin typeface="Arial MT"/>
                <a:cs typeface="Arial MT"/>
              </a:rPr>
              <a:t>and</a:t>
            </a:r>
            <a:r>
              <a:rPr sz="1400" spc="5" dirty="0">
                <a:solidFill>
                  <a:srgbClr val="3D1C1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D1C1C"/>
                </a:solidFill>
                <a:latin typeface="Arial MT"/>
                <a:cs typeface="Arial MT"/>
              </a:rPr>
              <a:t>Well-</a:t>
            </a:r>
            <a:r>
              <a:rPr sz="1400" spc="-10" dirty="0">
                <a:solidFill>
                  <a:srgbClr val="3D1C1C"/>
                </a:solidFill>
                <a:latin typeface="Arial MT"/>
                <a:cs typeface="Arial MT"/>
              </a:rPr>
              <a:t>being</a:t>
            </a:r>
            <a:endParaRPr sz="1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3D1C1C"/>
                </a:solidFill>
                <a:latin typeface="Arial MT"/>
                <a:cs typeface="Arial MT"/>
              </a:rPr>
              <a:t>Reducing emergency response time saves </a:t>
            </a:r>
            <a:r>
              <a:rPr sz="1400" spc="-10" dirty="0">
                <a:solidFill>
                  <a:srgbClr val="3D1C1C"/>
                </a:solidFill>
                <a:latin typeface="Arial MT"/>
                <a:cs typeface="Arial MT"/>
              </a:rPr>
              <a:t>lives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05489" y="1377681"/>
            <a:ext cx="3762375" cy="5443220"/>
          </a:xfrm>
          <a:custGeom>
            <a:avLst/>
            <a:gdLst/>
            <a:ahLst/>
            <a:cxnLst/>
            <a:rect l="l" t="t" r="r" b="b"/>
            <a:pathLst>
              <a:path w="3762375" h="5443220">
                <a:moveTo>
                  <a:pt x="3698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379700"/>
                </a:lnTo>
                <a:lnTo>
                  <a:pt x="4985" y="5404431"/>
                </a:lnTo>
                <a:lnTo>
                  <a:pt x="18586" y="5424613"/>
                </a:lnTo>
                <a:lnTo>
                  <a:pt x="38769" y="5438214"/>
                </a:lnTo>
                <a:lnTo>
                  <a:pt x="63500" y="5443200"/>
                </a:lnTo>
                <a:lnTo>
                  <a:pt x="3698500" y="5443200"/>
                </a:lnTo>
                <a:lnTo>
                  <a:pt x="3723231" y="5438214"/>
                </a:lnTo>
                <a:lnTo>
                  <a:pt x="3743413" y="5424613"/>
                </a:lnTo>
                <a:lnTo>
                  <a:pt x="3757014" y="5404431"/>
                </a:lnTo>
                <a:lnTo>
                  <a:pt x="3762000" y="5379700"/>
                </a:lnTo>
                <a:lnTo>
                  <a:pt x="3762000" y="63500"/>
                </a:lnTo>
                <a:lnTo>
                  <a:pt x="3757014" y="38769"/>
                </a:lnTo>
                <a:lnTo>
                  <a:pt x="3743413" y="18586"/>
                </a:lnTo>
                <a:lnTo>
                  <a:pt x="3723231" y="4985"/>
                </a:lnTo>
                <a:lnTo>
                  <a:pt x="3698500" y="0"/>
                </a:lnTo>
                <a:close/>
              </a:path>
            </a:pathLst>
          </a:custGeom>
          <a:solidFill>
            <a:srgbClr val="EDD4D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6650391" y="3955399"/>
            <a:ext cx="17475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BF382A"/>
                </a:solidFill>
                <a:latin typeface="Arial"/>
                <a:cs typeface="Arial"/>
              </a:rPr>
              <a:t>[ Insert app logo / concept image </a:t>
            </a:r>
            <a:r>
              <a:rPr sz="900" i="1" spc="-50" dirty="0">
                <a:solidFill>
                  <a:srgbClr val="BF382A"/>
                </a:solidFill>
                <a:latin typeface="Arial"/>
                <a:cs typeface="Arial"/>
              </a:rPr>
              <a:t>]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3CC7FF1-5214-4216-8F09-A23D4E92A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111" y="1377681"/>
            <a:ext cx="3762375" cy="546188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560E1CD-4707-ECFD-9982-4C59EC5D0EFB}"/>
              </a:ext>
            </a:extLst>
          </p:cNvPr>
          <p:cNvSpPr txBox="1"/>
          <p:nvPr/>
        </p:nvSpPr>
        <p:spPr>
          <a:xfrm>
            <a:off x="10227749" y="3703732"/>
            <a:ext cx="1384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5B5F63B-B7EB-5800-8478-46F333692B03}"/>
              </a:ext>
            </a:extLst>
          </p:cNvPr>
          <p:cNvSpPr/>
          <p:nvPr/>
        </p:nvSpPr>
        <p:spPr>
          <a:xfrm>
            <a:off x="0" y="0"/>
            <a:ext cx="9900285" cy="467995"/>
          </a:xfrm>
          <a:custGeom>
            <a:avLst/>
            <a:gdLst/>
            <a:ahLst/>
            <a:cxnLst/>
            <a:rect l="l" t="t" r="r" b="b"/>
            <a:pathLst>
              <a:path w="9900285" h="467995">
                <a:moveTo>
                  <a:pt x="9900000" y="0"/>
                </a:moveTo>
                <a:lnTo>
                  <a:pt x="0" y="0"/>
                </a:lnTo>
                <a:lnTo>
                  <a:pt x="0" y="467999"/>
                </a:lnTo>
                <a:lnTo>
                  <a:pt x="9900000" y="467999"/>
                </a:lnTo>
                <a:lnTo>
                  <a:pt x="9900000" y="0"/>
                </a:lnTo>
                <a:close/>
              </a:path>
            </a:pathLst>
          </a:custGeom>
          <a:solidFill>
            <a:srgbClr val="8A0000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2324383-2AF0-D435-F52B-F5049A982B23}"/>
              </a:ext>
            </a:extLst>
          </p:cNvPr>
          <p:cNvSpPr/>
          <p:nvPr/>
        </p:nvSpPr>
        <p:spPr>
          <a:xfrm>
            <a:off x="-1" y="7508240"/>
            <a:ext cx="9900285" cy="54610"/>
          </a:xfrm>
          <a:custGeom>
            <a:avLst/>
            <a:gdLst/>
            <a:ahLst/>
            <a:cxnLst/>
            <a:rect l="l" t="t" r="r" b="b"/>
            <a:pathLst>
              <a:path w="9900285" h="54609">
                <a:moveTo>
                  <a:pt x="9900000" y="0"/>
                </a:moveTo>
                <a:lnTo>
                  <a:pt x="0" y="0"/>
                </a:lnTo>
                <a:lnTo>
                  <a:pt x="0" y="54000"/>
                </a:lnTo>
                <a:lnTo>
                  <a:pt x="9900000" y="54000"/>
                </a:lnTo>
                <a:lnTo>
                  <a:pt x="9900000" y="0"/>
                </a:lnTo>
                <a:close/>
              </a:path>
            </a:pathLst>
          </a:custGeom>
          <a:solidFill>
            <a:srgbClr val="BF382A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D7FC21B1-E798-25A5-5AB4-66672970D60A}"/>
              </a:ext>
            </a:extLst>
          </p:cNvPr>
          <p:cNvSpPr txBox="1"/>
          <p:nvPr/>
        </p:nvSpPr>
        <p:spPr>
          <a:xfrm>
            <a:off x="475097" y="145432"/>
            <a:ext cx="1397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DIFFERENTIATION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6" descr="$PPTXTitle">
            <a:extLst>
              <a:ext uri="{FF2B5EF4-FFF2-40B4-BE49-F238E27FC236}">
                <a16:creationId xmlns:a16="http://schemas.microsoft.com/office/drawing/2014/main" id="{A887A9D8-198F-1C09-62FC-41266F206CC3}"/>
              </a:ext>
            </a:extLst>
          </p:cNvPr>
          <p:cNvSpPr txBox="1">
            <a:spLocks noGrp="1"/>
          </p:cNvSpPr>
          <p:nvPr/>
        </p:nvSpPr>
        <p:spPr>
          <a:xfrm>
            <a:off x="655380" y="1148019"/>
            <a:ext cx="9710799" cy="580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>
              <a:defRPr sz="2600" b="1" i="0">
                <a:solidFill>
                  <a:srgbClr val="1A0A0A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70" dirty="0"/>
              <a:t> </a:t>
            </a:r>
            <a:r>
              <a:rPr dirty="0"/>
              <a:t>Makes</a:t>
            </a:r>
            <a:r>
              <a:rPr spc="-70" dirty="0"/>
              <a:t> </a:t>
            </a:r>
            <a:r>
              <a:rPr dirty="0"/>
              <a:t>BloodLink</a:t>
            </a:r>
            <a:r>
              <a:rPr spc="-70" dirty="0"/>
              <a:t> </a:t>
            </a:r>
            <a:r>
              <a:rPr spc="-10" dirty="0"/>
              <a:t>Different?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985B6DD-DECA-A132-A381-71BEAB1CBC6F}"/>
              </a:ext>
            </a:extLst>
          </p:cNvPr>
          <p:cNvGrpSpPr/>
          <p:nvPr/>
        </p:nvGrpSpPr>
        <p:grpSpPr>
          <a:xfrm>
            <a:off x="200428" y="2350119"/>
            <a:ext cx="9437498" cy="3898097"/>
            <a:chOff x="365760" y="1325880"/>
            <a:chExt cx="8412480" cy="3474720"/>
          </a:xfrm>
        </p:grpSpPr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8214BDE4-BC49-7223-1CDE-9ED94625E298}"/>
                </a:ext>
              </a:extLst>
            </p:cNvPr>
            <p:cNvSpPr/>
            <p:nvPr/>
          </p:nvSpPr>
          <p:spPr>
            <a:xfrm>
              <a:off x="365760" y="1325880"/>
              <a:ext cx="3977640" cy="3474720"/>
            </a:xfrm>
            <a:prstGeom prst="roundRect">
              <a:avLst>
                <a:gd name="adj" fmla="val 2632"/>
              </a:avLst>
            </a:prstGeom>
            <a:solidFill>
              <a:srgbClr val="FFF0F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Text 4">
              <a:extLst>
                <a:ext uri="{FF2B5EF4-FFF2-40B4-BE49-F238E27FC236}">
                  <a16:creationId xmlns:a16="http://schemas.microsoft.com/office/drawing/2014/main" id="{DC2D82FB-65A2-A70F-EDF6-101D4AE54848}"/>
                </a:ext>
              </a:extLst>
            </p:cNvPr>
            <p:cNvSpPr/>
            <p:nvPr/>
          </p:nvSpPr>
          <p:spPr>
            <a:xfrm>
              <a:off x="502920" y="1463040"/>
              <a:ext cx="3657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B71C1C"/>
                  </a:solidFill>
                </a:rPr>
                <a:t>❌  Typical Blood Management System</a:t>
              </a:r>
              <a:endParaRPr lang="en-US" sz="1300" dirty="0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ACA29C06-E18D-E5CF-0E84-CE7296D0B32E}"/>
                </a:ext>
              </a:extLst>
            </p:cNvPr>
            <p:cNvSpPr/>
            <p:nvPr/>
          </p:nvSpPr>
          <p:spPr>
            <a:xfrm>
              <a:off x="548640" y="1874520"/>
              <a:ext cx="3611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/>
                <a:t>✕ Search donors by blood group — returns a flat unranked list</a:t>
              </a:r>
            </a:p>
          </p:txBody>
        </p:sp>
        <p:sp>
          <p:nvSpPr>
            <p:cNvPr id="21" name="Text 6">
              <a:extLst>
                <a:ext uri="{FF2B5EF4-FFF2-40B4-BE49-F238E27FC236}">
                  <a16:creationId xmlns:a16="http://schemas.microsoft.com/office/drawing/2014/main" id="{432955C8-6548-C820-5FB7-BCE14EB1EC36}"/>
                </a:ext>
              </a:extLst>
            </p:cNvPr>
            <p:cNvSpPr/>
            <p:nvPr/>
          </p:nvSpPr>
          <p:spPr>
            <a:xfrm>
              <a:off x="548640" y="2331720"/>
              <a:ext cx="3611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/>
                <a:t>✕ No eligibility check — any donor appears regardless of health status</a:t>
              </a:r>
            </a:p>
          </p:txBody>
        </p:sp>
        <p:sp>
          <p:nvSpPr>
            <p:cNvPr id="22" name="Text 7">
              <a:extLst>
                <a:ext uri="{FF2B5EF4-FFF2-40B4-BE49-F238E27FC236}">
                  <a16:creationId xmlns:a16="http://schemas.microsoft.com/office/drawing/2014/main" id="{CD679098-EAD3-771C-828C-198D475545C2}"/>
                </a:ext>
              </a:extLst>
            </p:cNvPr>
            <p:cNvSpPr/>
            <p:nvPr/>
          </p:nvSpPr>
          <p:spPr>
            <a:xfrm>
              <a:off x="548640" y="2788920"/>
              <a:ext cx="3611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/>
                <a:t>✕ No request workflow — status unknown after submission</a:t>
              </a:r>
            </a:p>
          </p:txBody>
        </p:sp>
        <p:sp>
          <p:nvSpPr>
            <p:cNvPr id="23" name="Text 8">
              <a:extLst>
                <a:ext uri="{FF2B5EF4-FFF2-40B4-BE49-F238E27FC236}">
                  <a16:creationId xmlns:a16="http://schemas.microsoft.com/office/drawing/2014/main" id="{83E9D0BB-5B62-4483-3FAD-F7D40D56DF5A}"/>
                </a:ext>
              </a:extLst>
            </p:cNvPr>
            <p:cNvSpPr/>
            <p:nvPr/>
          </p:nvSpPr>
          <p:spPr>
            <a:xfrm>
              <a:off x="548640" y="3246120"/>
              <a:ext cx="3611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/>
                <a:t>✕ Donor availability assumed — no way to toggle or verify</a:t>
              </a:r>
            </a:p>
          </p:txBody>
        </p: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A5F394B5-DF69-7F7B-E277-D210A2CC345C}"/>
                </a:ext>
              </a:extLst>
            </p:cNvPr>
            <p:cNvSpPr/>
            <p:nvPr/>
          </p:nvSpPr>
          <p:spPr>
            <a:xfrm>
              <a:off x="548640" y="3703320"/>
              <a:ext cx="3611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/>
                <a:t>✕ No notification system — requester must follow up manually</a:t>
              </a:r>
            </a:p>
          </p:txBody>
        </p:sp>
        <p:sp>
          <p:nvSpPr>
            <p:cNvPr id="25" name="Text 10">
              <a:extLst>
                <a:ext uri="{FF2B5EF4-FFF2-40B4-BE49-F238E27FC236}">
                  <a16:creationId xmlns:a16="http://schemas.microsoft.com/office/drawing/2014/main" id="{0C1F093D-2014-B57E-ECDA-A1B4E93EA9C9}"/>
                </a:ext>
              </a:extLst>
            </p:cNvPr>
            <p:cNvSpPr/>
            <p:nvPr/>
          </p:nvSpPr>
          <p:spPr>
            <a:xfrm>
              <a:off x="548640" y="4160520"/>
              <a:ext cx="3611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/>
                <a:t>✕ No analytics — admin has zero visibility into demand or trends</a:t>
              </a:r>
            </a:p>
          </p:txBody>
        </p:sp>
        <p:sp>
          <p:nvSpPr>
            <p:cNvPr id="26" name="Shape 11">
              <a:extLst>
                <a:ext uri="{FF2B5EF4-FFF2-40B4-BE49-F238E27FC236}">
                  <a16:creationId xmlns:a16="http://schemas.microsoft.com/office/drawing/2014/main" id="{57713888-CF59-0D7D-736B-60D66DE916FB}"/>
                </a:ext>
              </a:extLst>
            </p:cNvPr>
            <p:cNvSpPr/>
            <p:nvPr/>
          </p:nvSpPr>
          <p:spPr>
            <a:xfrm>
              <a:off x="4800600" y="1325880"/>
              <a:ext cx="3977640" cy="3474720"/>
            </a:xfrm>
            <a:prstGeom prst="roundRect">
              <a:avLst>
                <a:gd name="adj" fmla="val 2632"/>
              </a:avLst>
            </a:prstGeom>
            <a:solidFill>
              <a:srgbClr val="E8F5E9"/>
            </a:solidFill>
            <a:ln/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 12">
              <a:extLst>
                <a:ext uri="{FF2B5EF4-FFF2-40B4-BE49-F238E27FC236}">
                  <a16:creationId xmlns:a16="http://schemas.microsoft.com/office/drawing/2014/main" id="{D2F42D62-0D51-E7AC-13B6-356E22B40328}"/>
                </a:ext>
              </a:extLst>
            </p:cNvPr>
            <p:cNvSpPr/>
            <p:nvPr/>
          </p:nvSpPr>
          <p:spPr>
            <a:xfrm>
              <a:off x="4937760" y="1463040"/>
              <a:ext cx="3657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E7D32"/>
                  </a:solidFill>
                </a:rPr>
                <a:t>✅  With BloodLink</a:t>
              </a:r>
              <a:endParaRPr lang="en-US" sz="1300" dirty="0"/>
            </a:p>
          </p:txBody>
        </p:sp>
        <p:sp>
          <p:nvSpPr>
            <p:cNvPr id="28" name="Text 13">
              <a:extLst>
                <a:ext uri="{FF2B5EF4-FFF2-40B4-BE49-F238E27FC236}">
                  <a16:creationId xmlns:a16="http://schemas.microsoft.com/office/drawing/2014/main" id="{588457B2-E228-5C4D-3F18-03854D57F37F}"/>
                </a:ext>
              </a:extLst>
            </p:cNvPr>
            <p:cNvSpPr/>
            <p:nvPr/>
          </p:nvSpPr>
          <p:spPr>
            <a:xfrm>
              <a:off x="4937760" y="1874520"/>
              <a:ext cx="3611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/>
                <a:t>✓ Smart Donor Matching — ranks by blood type, district, availability &amp; last donation date</a:t>
              </a:r>
            </a:p>
          </p:txBody>
        </p:sp>
        <p:sp>
          <p:nvSpPr>
            <p:cNvPr id="29" name="Text 14">
              <a:extLst>
                <a:ext uri="{FF2B5EF4-FFF2-40B4-BE49-F238E27FC236}">
                  <a16:creationId xmlns:a16="http://schemas.microsoft.com/office/drawing/2014/main" id="{1FB11577-DF80-2F74-1B0B-A323EBB80190}"/>
                </a:ext>
              </a:extLst>
            </p:cNvPr>
            <p:cNvSpPr/>
            <p:nvPr/>
          </p:nvSpPr>
          <p:spPr>
            <a:xfrm>
              <a:off x="4937760" y="2331720"/>
              <a:ext cx="3611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/>
                <a:t>✓ Eligibility Engine — enforces age ≥ 18, weight ≥ 50 kg, 56-day cooldown automatically</a:t>
              </a:r>
            </a:p>
          </p:txBody>
        </p:sp>
        <p:sp>
          <p:nvSpPr>
            <p:cNvPr id="30" name="Text 15">
              <a:extLst>
                <a:ext uri="{FF2B5EF4-FFF2-40B4-BE49-F238E27FC236}">
                  <a16:creationId xmlns:a16="http://schemas.microsoft.com/office/drawing/2014/main" id="{814E2987-2DAE-3A1F-9A04-48941151F14B}"/>
                </a:ext>
              </a:extLst>
            </p:cNvPr>
            <p:cNvSpPr/>
            <p:nvPr/>
          </p:nvSpPr>
          <p:spPr>
            <a:xfrm>
              <a:off x="4937760" y="2788920"/>
              <a:ext cx="3611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/>
                <a:t>✓ Full Request Lifecycle — PENDING → MATCHED → ACCEPTED → FULFILLED with audit trail</a:t>
              </a:r>
            </a:p>
          </p:txBody>
        </p:sp>
        <p:sp>
          <p:nvSpPr>
            <p:cNvPr id="31" name="Text 16">
              <a:extLst>
                <a:ext uri="{FF2B5EF4-FFF2-40B4-BE49-F238E27FC236}">
                  <a16:creationId xmlns:a16="http://schemas.microsoft.com/office/drawing/2014/main" id="{4F981FB6-D418-E5C0-B230-78AE873BA77D}"/>
                </a:ext>
              </a:extLst>
            </p:cNvPr>
            <p:cNvSpPr/>
            <p:nvPr/>
          </p:nvSpPr>
          <p:spPr>
            <a:xfrm>
              <a:off x="4937760" y="3246120"/>
              <a:ext cx="3611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/>
                <a:t>✓ Real-Time Status Toggle — donor sets Available / Busy / Out of Town / Medical Hold</a:t>
              </a:r>
            </a:p>
          </p:txBody>
        </p:sp>
        <p:sp>
          <p:nvSpPr>
            <p:cNvPr id="32" name="Text 17">
              <a:extLst>
                <a:ext uri="{FF2B5EF4-FFF2-40B4-BE49-F238E27FC236}">
                  <a16:creationId xmlns:a16="http://schemas.microsoft.com/office/drawing/2014/main" id="{6DAF1A93-D30C-BDEB-CB8B-684177240FEF}"/>
                </a:ext>
              </a:extLst>
            </p:cNvPr>
            <p:cNvSpPr/>
            <p:nvPr/>
          </p:nvSpPr>
          <p:spPr>
            <a:xfrm>
              <a:off x="4937760" y="3703320"/>
              <a:ext cx="3611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/>
                <a:t>✓ In-App Notifications — donor alerted on match; requester updated on acceptance</a:t>
              </a:r>
            </a:p>
          </p:txBody>
        </p:sp>
        <p:sp>
          <p:nvSpPr>
            <p:cNvPr id="33" name="Text 18">
              <a:extLst>
                <a:ext uri="{FF2B5EF4-FFF2-40B4-BE49-F238E27FC236}">
                  <a16:creationId xmlns:a16="http://schemas.microsoft.com/office/drawing/2014/main" id="{81AD5302-302C-0FD9-327F-8B13A4419F84}"/>
                </a:ext>
              </a:extLst>
            </p:cNvPr>
            <p:cNvSpPr/>
            <p:nvPr/>
          </p:nvSpPr>
          <p:spPr>
            <a:xfrm>
              <a:off x="4937760" y="4160520"/>
              <a:ext cx="3611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/>
                <a:t>✓ Admin Dashboard — </a:t>
              </a:r>
              <a:r>
                <a:rPr lang="en-US" sz="1100" dirty="0" err="1"/>
                <a:t>BarChart</a:t>
              </a:r>
              <a:r>
                <a:rPr lang="en-US" sz="1100" dirty="0"/>
                <a:t> &amp; </a:t>
              </a:r>
              <a:r>
                <a:rPr lang="en-US" sz="1100" dirty="0" err="1"/>
                <a:t>PieChart</a:t>
              </a:r>
              <a:r>
                <a:rPr lang="en-US" sz="1100" dirty="0"/>
                <a:t> of blood group demand from live DB data</a:t>
              </a:r>
            </a:p>
          </p:txBody>
        </p:sp>
        <p:sp>
          <p:nvSpPr>
            <p:cNvPr id="34" name="Shape 19">
              <a:extLst>
                <a:ext uri="{FF2B5EF4-FFF2-40B4-BE49-F238E27FC236}">
                  <a16:creationId xmlns:a16="http://schemas.microsoft.com/office/drawing/2014/main" id="{BA1FC205-15CB-04AF-37BD-1281DFAD4822}"/>
                </a:ext>
              </a:extLst>
            </p:cNvPr>
            <p:cNvSpPr/>
            <p:nvPr/>
          </p:nvSpPr>
          <p:spPr>
            <a:xfrm>
              <a:off x="4352544" y="2834640"/>
              <a:ext cx="438912" cy="0"/>
            </a:xfrm>
            <a:prstGeom prst="line">
              <a:avLst/>
            </a:prstGeom>
            <a:noFill/>
            <a:ln w="25400">
              <a:solidFill>
                <a:srgbClr val="8B000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Text 20">
              <a:extLst>
                <a:ext uri="{FF2B5EF4-FFF2-40B4-BE49-F238E27FC236}">
                  <a16:creationId xmlns:a16="http://schemas.microsoft.com/office/drawing/2014/main" id="{10C7A90D-9AEE-C094-1B45-FA5861FBC9E2}"/>
                </a:ext>
              </a:extLst>
            </p:cNvPr>
            <p:cNvSpPr/>
            <p:nvPr/>
          </p:nvSpPr>
          <p:spPr>
            <a:xfrm>
              <a:off x="4156980" y="2546236"/>
              <a:ext cx="689340" cy="5170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19566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26810" y="3640299"/>
            <a:ext cx="1384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900285" cy="467995"/>
          </a:xfrm>
          <a:custGeom>
            <a:avLst/>
            <a:gdLst/>
            <a:ahLst/>
            <a:cxnLst/>
            <a:rect l="l" t="t" r="r" b="b"/>
            <a:pathLst>
              <a:path w="9900285" h="467995">
                <a:moveTo>
                  <a:pt x="9900000" y="0"/>
                </a:moveTo>
                <a:lnTo>
                  <a:pt x="0" y="0"/>
                </a:lnTo>
                <a:lnTo>
                  <a:pt x="0" y="467999"/>
                </a:lnTo>
                <a:lnTo>
                  <a:pt x="9900000" y="467999"/>
                </a:lnTo>
                <a:lnTo>
                  <a:pt x="9900000" y="0"/>
                </a:lnTo>
                <a:close/>
              </a:path>
            </a:pathLst>
          </a:custGeom>
          <a:solidFill>
            <a:srgbClr val="8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253999"/>
            <a:ext cx="9900285" cy="54610"/>
          </a:xfrm>
          <a:custGeom>
            <a:avLst/>
            <a:gdLst/>
            <a:ahLst/>
            <a:cxnLst/>
            <a:rect l="l" t="t" r="r" b="b"/>
            <a:pathLst>
              <a:path w="9900285" h="54609">
                <a:moveTo>
                  <a:pt x="9900000" y="0"/>
                </a:moveTo>
                <a:lnTo>
                  <a:pt x="0" y="0"/>
                </a:lnTo>
                <a:lnTo>
                  <a:pt x="0" y="54000"/>
                </a:lnTo>
                <a:lnTo>
                  <a:pt x="9900000" y="54000"/>
                </a:lnTo>
                <a:lnTo>
                  <a:pt x="9900000" y="0"/>
                </a:lnTo>
                <a:close/>
              </a:path>
            </a:pathLst>
          </a:custGeom>
          <a:solidFill>
            <a:srgbClr val="BF38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300" y="140899"/>
            <a:ext cx="1651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PROJECT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OBJECTIVE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Goals</a:t>
            </a:r>
            <a:r>
              <a:rPr sz="2800" spc="-50" dirty="0"/>
              <a:t> </a:t>
            </a:r>
            <a:r>
              <a:rPr sz="2800" dirty="0"/>
              <a:t>&amp;</a:t>
            </a:r>
            <a:r>
              <a:rPr sz="2800" spc="-50" dirty="0"/>
              <a:t> </a:t>
            </a:r>
            <a:r>
              <a:rPr sz="2800" spc="-10" dirty="0"/>
              <a:t>Objectives</a:t>
            </a:r>
            <a:endParaRPr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635334" y="1859029"/>
            <a:ext cx="669256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600" dirty="0">
              <a:latin typeface="Arial MT"/>
              <a:cs typeface="Arial MT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B2FC1A1-F66F-13D3-2452-CF80CA098FA4}"/>
              </a:ext>
            </a:extLst>
          </p:cNvPr>
          <p:cNvSpPr/>
          <p:nvPr/>
        </p:nvSpPr>
        <p:spPr>
          <a:xfrm>
            <a:off x="5277373" y="-3052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3D3D"/>
                </a:solidFill>
              </a:rPr>
              <a:t>Primary Goal: Build a complete, role-based blood donor coordination desktop application in Java + JavaFX.</a:t>
            </a:r>
            <a:endParaRPr lang="en-US" sz="12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1FA6A9D-0590-2185-2424-CF44C9E9E883}"/>
              </a:ext>
            </a:extLst>
          </p:cNvPr>
          <p:cNvSpPr/>
          <p:nvPr/>
        </p:nvSpPr>
        <p:spPr>
          <a:xfrm>
            <a:off x="10242565" y="2342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5517FD12-DA59-723E-AB57-E9B75532EE9C}"/>
              </a:ext>
            </a:extLst>
          </p:cNvPr>
          <p:cNvSpPr/>
          <p:nvPr/>
        </p:nvSpPr>
        <p:spPr>
          <a:xfrm>
            <a:off x="10242565" y="5177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4CF58FDE-39EC-E19F-8A66-51105EB227CB}"/>
              </a:ext>
            </a:extLst>
          </p:cNvPr>
          <p:cNvSpPr/>
          <p:nvPr/>
        </p:nvSpPr>
        <p:spPr>
          <a:xfrm>
            <a:off x="10242565" y="12858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CC0CF3C3-76C4-2584-5317-7A437A5EB64B}"/>
              </a:ext>
            </a:extLst>
          </p:cNvPr>
          <p:cNvSpPr/>
          <p:nvPr/>
        </p:nvSpPr>
        <p:spPr>
          <a:xfrm>
            <a:off x="10242565" y="156931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7FFA1F9A-0A9D-9DB5-C91F-551647EFDEE3}"/>
              </a:ext>
            </a:extLst>
          </p:cNvPr>
          <p:cNvSpPr/>
          <p:nvPr/>
        </p:nvSpPr>
        <p:spPr>
          <a:xfrm>
            <a:off x="10242565" y="2337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2" name="Text 27">
            <a:extLst>
              <a:ext uri="{FF2B5EF4-FFF2-40B4-BE49-F238E27FC236}">
                <a16:creationId xmlns:a16="http://schemas.microsoft.com/office/drawing/2014/main" id="{D91AA5BF-5214-6499-38A6-306F6E2F50D9}"/>
              </a:ext>
            </a:extLst>
          </p:cNvPr>
          <p:cNvSpPr/>
          <p:nvPr/>
        </p:nvSpPr>
        <p:spPr>
          <a:xfrm>
            <a:off x="10242565" y="262087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CC4117A-21E4-ADB9-C2AE-B496598E86D9}"/>
              </a:ext>
            </a:extLst>
          </p:cNvPr>
          <p:cNvGrpSpPr/>
          <p:nvPr/>
        </p:nvGrpSpPr>
        <p:grpSpPr>
          <a:xfrm>
            <a:off x="192145" y="1413864"/>
            <a:ext cx="9515993" cy="3959757"/>
            <a:chOff x="598110" y="1788242"/>
            <a:chExt cx="8412480" cy="3493008"/>
          </a:xfrm>
        </p:grpSpPr>
        <p:sp>
          <p:nvSpPr>
            <p:cNvPr id="45" name="Text 3">
              <a:extLst>
                <a:ext uri="{FF2B5EF4-FFF2-40B4-BE49-F238E27FC236}">
                  <a16:creationId xmlns:a16="http://schemas.microsoft.com/office/drawing/2014/main" id="{230BE120-1656-F1AC-0733-6EB9ABA833D5}"/>
                </a:ext>
              </a:extLst>
            </p:cNvPr>
            <p:cNvSpPr/>
            <p:nvPr/>
          </p:nvSpPr>
          <p:spPr>
            <a:xfrm>
              <a:off x="598110" y="1788242"/>
              <a:ext cx="8412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46" name="Shape 4">
              <a:extLst>
                <a:ext uri="{FF2B5EF4-FFF2-40B4-BE49-F238E27FC236}">
                  <a16:creationId xmlns:a16="http://schemas.microsoft.com/office/drawing/2014/main" id="{5A2B7245-BB82-BCE5-C471-8BA72D39FFB1}"/>
                </a:ext>
              </a:extLst>
            </p:cNvPr>
            <p:cNvSpPr/>
            <p:nvPr/>
          </p:nvSpPr>
          <p:spPr>
            <a:xfrm>
              <a:off x="598110" y="2263730"/>
              <a:ext cx="4023360" cy="914400"/>
            </a:xfrm>
            <a:prstGeom prst="roundRect">
              <a:avLst>
                <a:gd name="adj" fmla="val 800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47" name="Text 5">
              <a:extLst>
                <a:ext uri="{FF2B5EF4-FFF2-40B4-BE49-F238E27FC236}">
                  <a16:creationId xmlns:a16="http://schemas.microsoft.com/office/drawing/2014/main" id="{284BA83A-473C-DE23-8513-7FDD12D2F5EF}"/>
                </a:ext>
              </a:extLst>
            </p:cNvPr>
            <p:cNvSpPr/>
            <p:nvPr/>
          </p:nvSpPr>
          <p:spPr>
            <a:xfrm>
              <a:off x="707838" y="2336882"/>
              <a:ext cx="411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8B0000"/>
                  </a:solidFill>
                </a:rPr>
                <a:t>01</a:t>
              </a:r>
              <a:endParaRPr lang="en-US" sz="1400" dirty="0"/>
            </a:p>
          </p:txBody>
        </p:sp>
        <p:pic>
          <p:nvPicPr>
            <p:cNvPr id="48" name="Image 0" descr="preencoded.png">
              <a:extLst>
                <a:ext uri="{FF2B5EF4-FFF2-40B4-BE49-F238E27FC236}">
                  <a16:creationId xmlns:a16="http://schemas.microsoft.com/office/drawing/2014/main" id="{39F083BE-B0FC-8DA0-5C93-411786D5F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6982" y="2675210"/>
              <a:ext cx="347472" cy="347472"/>
            </a:xfrm>
            <a:prstGeom prst="rect">
              <a:avLst/>
            </a:prstGeom>
          </p:spPr>
        </p:pic>
        <p:sp>
          <p:nvSpPr>
            <p:cNvPr id="49" name="Text 6">
              <a:extLst>
                <a:ext uri="{FF2B5EF4-FFF2-40B4-BE49-F238E27FC236}">
                  <a16:creationId xmlns:a16="http://schemas.microsoft.com/office/drawing/2014/main" id="{827CA8B1-6D55-CD6C-AE65-083C7344928A}"/>
                </a:ext>
              </a:extLst>
            </p:cNvPr>
            <p:cNvSpPr/>
            <p:nvPr/>
          </p:nvSpPr>
          <p:spPr>
            <a:xfrm>
              <a:off x="1219902" y="2327738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Smart Donor Search</a:t>
              </a:r>
              <a:endParaRPr lang="en-US" sz="12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0CAECB08-D108-99E8-248E-70C66CD87407}"/>
                </a:ext>
              </a:extLst>
            </p:cNvPr>
            <p:cNvSpPr/>
            <p:nvPr/>
          </p:nvSpPr>
          <p:spPr>
            <a:xfrm>
              <a:off x="1219902" y="261120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3D3D"/>
                  </a:solidFill>
                </a:rPr>
                <a:t>Filter donors by blood type, district, and availability — with eligibility check applied automatically.</a:t>
              </a:r>
              <a:endParaRPr lang="en-US" sz="1050" dirty="0"/>
            </a:p>
          </p:txBody>
        </p:sp>
        <p:sp>
          <p:nvSpPr>
            <p:cNvPr id="51" name="Shape 8">
              <a:extLst>
                <a:ext uri="{FF2B5EF4-FFF2-40B4-BE49-F238E27FC236}">
                  <a16:creationId xmlns:a16="http://schemas.microsoft.com/office/drawing/2014/main" id="{E9DF2D7E-F194-AD54-ED97-532F3BBA2D0C}"/>
                </a:ext>
              </a:extLst>
            </p:cNvPr>
            <p:cNvSpPr/>
            <p:nvPr/>
          </p:nvSpPr>
          <p:spPr>
            <a:xfrm>
              <a:off x="4941510" y="2263730"/>
              <a:ext cx="4023360" cy="914400"/>
            </a:xfrm>
            <a:prstGeom prst="roundRect">
              <a:avLst>
                <a:gd name="adj" fmla="val 800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435268D3-B2AA-B430-3B87-B7267C9435B2}"/>
                </a:ext>
              </a:extLst>
            </p:cNvPr>
            <p:cNvSpPr/>
            <p:nvPr/>
          </p:nvSpPr>
          <p:spPr>
            <a:xfrm>
              <a:off x="5051238" y="2336882"/>
              <a:ext cx="411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8B0000"/>
                  </a:solidFill>
                </a:rPr>
                <a:t>02</a:t>
              </a:r>
              <a:endParaRPr lang="en-US" sz="1400" dirty="0"/>
            </a:p>
          </p:txBody>
        </p:sp>
        <p:pic>
          <p:nvPicPr>
            <p:cNvPr id="53" name="Image 1" descr="preencoded.png">
              <a:extLst>
                <a:ext uri="{FF2B5EF4-FFF2-40B4-BE49-F238E27FC236}">
                  <a16:creationId xmlns:a16="http://schemas.microsoft.com/office/drawing/2014/main" id="{276E5F86-0A6E-F0B3-8635-537268212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60382" y="2675210"/>
              <a:ext cx="347472" cy="347472"/>
            </a:xfrm>
            <a:prstGeom prst="rect">
              <a:avLst/>
            </a:prstGeom>
          </p:spPr>
        </p:pic>
        <p:sp>
          <p:nvSpPr>
            <p:cNvPr id="54" name="Text 10">
              <a:extLst>
                <a:ext uri="{FF2B5EF4-FFF2-40B4-BE49-F238E27FC236}">
                  <a16:creationId xmlns:a16="http://schemas.microsoft.com/office/drawing/2014/main" id="{F2DD8099-367B-A34B-7C69-4A584D409B2F}"/>
                </a:ext>
              </a:extLst>
            </p:cNvPr>
            <p:cNvSpPr/>
            <p:nvPr/>
          </p:nvSpPr>
          <p:spPr>
            <a:xfrm>
              <a:off x="5563302" y="2327738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Secure Authentication</a:t>
              </a:r>
              <a:endParaRPr lang="en-US" sz="1200" dirty="0"/>
            </a:p>
          </p:txBody>
        </p:sp>
        <p:sp>
          <p:nvSpPr>
            <p:cNvPr id="55" name="Text 11">
              <a:extLst>
                <a:ext uri="{FF2B5EF4-FFF2-40B4-BE49-F238E27FC236}">
                  <a16:creationId xmlns:a16="http://schemas.microsoft.com/office/drawing/2014/main" id="{B5FB7A50-F22E-206C-21D8-4BC35A36C6A7}"/>
                </a:ext>
              </a:extLst>
            </p:cNvPr>
            <p:cNvSpPr/>
            <p:nvPr/>
          </p:nvSpPr>
          <p:spPr>
            <a:xfrm>
              <a:off x="5563302" y="261120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3D3D"/>
                  </a:solidFill>
                </a:rPr>
                <a:t>Role-based login for Donor, Requester, and Admin — each with a tailored JavaFX interface.</a:t>
              </a:r>
              <a:endParaRPr lang="en-US" sz="1050" dirty="0"/>
            </a:p>
          </p:txBody>
        </p:sp>
        <p:sp>
          <p:nvSpPr>
            <p:cNvPr id="56" name="Shape 12">
              <a:extLst>
                <a:ext uri="{FF2B5EF4-FFF2-40B4-BE49-F238E27FC236}">
                  <a16:creationId xmlns:a16="http://schemas.microsoft.com/office/drawing/2014/main" id="{558D7DD6-EF08-2004-A76F-8730AECDC8C6}"/>
                </a:ext>
              </a:extLst>
            </p:cNvPr>
            <p:cNvSpPr/>
            <p:nvPr/>
          </p:nvSpPr>
          <p:spPr>
            <a:xfrm>
              <a:off x="598110" y="3315290"/>
              <a:ext cx="4023360" cy="914400"/>
            </a:xfrm>
            <a:prstGeom prst="roundRect">
              <a:avLst>
                <a:gd name="adj" fmla="val 800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57" name="Text 13">
              <a:extLst>
                <a:ext uri="{FF2B5EF4-FFF2-40B4-BE49-F238E27FC236}">
                  <a16:creationId xmlns:a16="http://schemas.microsoft.com/office/drawing/2014/main" id="{15BC3B37-9D13-361F-CFAA-6EC34F386883}"/>
                </a:ext>
              </a:extLst>
            </p:cNvPr>
            <p:cNvSpPr/>
            <p:nvPr/>
          </p:nvSpPr>
          <p:spPr>
            <a:xfrm>
              <a:off x="707838" y="3388442"/>
              <a:ext cx="411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8B0000"/>
                  </a:solidFill>
                </a:rPr>
                <a:t>03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62A2D248-D853-46DE-E343-09CCEC281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6982" y="3726770"/>
              <a:ext cx="347472" cy="347472"/>
            </a:xfrm>
            <a:prstGeom prst="rect">
              <a:avLst/>
            </a:prstGeom>
          </p:spPr>
        </p:pic>
        <p:sp>
          <p:nvSpPr>
            <p:cNvPr id="59" name="Text 14">
              <a:extLst>
                <a:ext uri="{FF2B5EF4-FFF2-40B4-BE49-F238E27FC236}">
                  <a16:creationId xmlns:a16="http://schemas.microsoft.com/office/drawing/2014/main" id="{C72462F9-E0A3-A052-32B7-FCA63BFC1317}"/>
                </a:ext>
              </a:extLst>
            </p:cNvPr>
            <p:cNvSpPr/>
            <p:nvPr/>
          </p:nvSpPr>
          <p:spPr>
            <a:xfrm>
              <a:off x="1219902" y="3379298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Request Lifecycle</a:t>
              </a:r>
              <a:endParaRPr lang="en-US" sz="1200" dirty="0"/>
            </a:p>
          </p:txBody>
        </p:sp>
        <p:sp>
          <p:nvSpPr>
            <p:cNvPr id="60" name="Text 15">
              <a:extLst>
                <a:ext uri="{FF2B5EF4-FFF2-40B4-BE49-F238E27FC236}">
                  <a16:creationId xmlns:a16="http://schemas.microsoft.com/office/drawing/2014/main" id="{89401A1E-4120-4578-DB2F-239EB3103579}"/>
                </a:ext>
              </a:extLst>
            </p:cNvPr>
            <p:cNvSpPr/>
            <p:nvPr/>
          </p:nvSpPr>
          <p:spPr>
            <a:xfrm>
              <a:off x="1219902" y="366276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3D3D"/>
                  </a:solidFill>
                </a:rPr>
                <a:t>Full Create → Match → Accept/Decline → Fulfilled workflow for every blood request.</a:t>
              </a:r>
              <a:endParaRPr lang="en-US" sz="1050" dirty="0"/>
            </a:p>
          </p:txBody>
        </p:sp>
        <p:sp>
          <p:nvSpPr>
            <p:cNvPr id="61" name="Shape 16">
              <a:extLst>
                <a:ext uri="{FF2B5EF4-FFF2-40B4-BE49-F238E27FC236}">
                  <a16:creationId xmlns:a16="http://schemas.microsoft.com/office/drawing/2014/main" id="{B506F695-2C89-57A8-CF61-359A0758EDE2}"/>
                </a:ext>
              </a:extLst>
            </p:cNvPr>
            <p:cNvSpPr/>
            <p:nvPr/>
          </p:nvSpPr>
          <p:spPr>
            <a:xfrm>
              <a:off x="4941510" y="3315290"/>
              <a:ext cx="4023360" cy="914400"/>
            </a:xfrm>
            <a:prstGeom prst="roundRect">
              <a:avLst>
                <a:gd name="adj" fmla="val 800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62" name="Text 17">
              <a:extLst>
                <a:ext uri="{FF2B5EF4-FFF2-40B4-BE49-F238E27FC236}">
                  <a16:creationId xmlns:a16="http://schemas.microsoft.com/office/drawing/2014/main" id="{0CFD9246-C94C-0F69-50DF-5DB4580FE620}"/>
                </a:ext>
              </a:extLst>
            </p:cNvPr>
            <p:cNvSpPr/>
            <p:nvPr/>
          </p:nvSpPr>
          <p:spPr>
            <a:xfrm>
              <a:off x="5051238" y="3388442"/>
              <a:ext cx="411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8B0000"/>
                  </a:solidFill>
                </a:rPr>
                <a:t>04</a:t>
              </a:r>
              <a:endParaRPr lang="en-US" sz="1400" dirty="0"/>
            </a:p>
          </p:txBody>
        </p:sp>
        <p:pic>
          <p:nvPicPr>
            <p:cNvPr id="63" name="Image 3" descr="preencoded.png">
              <a:extLst>
                <a:ext uri="{FF2B5EF4-FFF2-40B4-BE49-F238E27FC236}">
                  <a16:creationId xmlns:a16="http://schemas.microsoft.com/office/drawing/2014/main" id="{E020C117-625B-1D37-C25B-55D833AE0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60382" y="3726770"/>
              <a:ext cx="347472" cy="347472"/>
            </a:xfrm>
            <a:prstGeom prst="rect">
              <a:avLst/>
            </a:prstGeom>
          </p:spPr>
        </p:pic>
        <p:sp>
          <p:nvSpPr>
            <p:cNvPr id="64" name="Text 18">
              <a:extLst>
                <a:ext uri="{FF2B5EF4-FFF2-40B4-BE49-F238E27FC236}">
                  <a16:creationId xmlns:a16="http://schemas.microsoft.com/office/drawing/2014/main" id="{38251B65-9F51-293A-76DF-709BB0569200}"/>
                </a:ext>
              </a:extLst>
            </p:cNvPr>
            <p:cNvSpPr/>
            <p:nvPr/>
          </p:nvSpPr>
          <p:spPr>
            <a:xfrm>
              <a:off x="5563302" y="3379298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Eligibility Engine</a:t>
              </a:r>
              <a:endParaRPr lang="en-US" sz="1200" dirty="0"/>
            </a:p>
          </p:txBody>
        </p:sp>
        <p:sp>
          <p:nvSpPr>
            <p:cNvPr id="65" name="Text 19">
              <a:extLst>
                <a:ext uri="{FF2B5EF4-FFF2-40B4-BE49-F238E27FC236}">
                  <a16:creationId xmlns:a16="http://schemas.microsoft.com/office/drawing/2014/main" id="{EF4CC520-CDA3-2543-9A4A-A0D710A1B29A}"/>
                </a:ext>
              </a:extLst>
            </p:cNvPr>
            <p:cNvSpPr/>
            <p:nvPr/>
          </p:nvSpPr>
          <p:spPr>
            <a:xfrm>
              <a:off x="5563302" y="366276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3D3D"/>
                  </a:solidFill>
                </a:rPr>
                <a:t>Rule-based engine validates age, weight, last donation date — outputs result with reason.</a:t>
              </a:r>
              <a:endParaRPr lang="en-US" sz="1050" dirty="0"/>
            </a:p>
          </p:txBody>
        </p:sp>
        <p:sp>
          <p:nvSpPr>
            <p:cNvPr id="66" name="Shape 20">
              <a:extLst>
                <a:ext uri="{FF2B5EF4-FFF2-40B4-BE49-F238E27FC236}">
                  <a16:creationId xmlns:a16="http://schemas.microsoft.com/office/drawing/2014/main" id="{F8A2890B-2627-C926-8071-9955BD3ACC71}"/>
                </a:ext>
              </a:extLst>
            </p:cNvPr>
            <p:cNvSpPr/>
            <p:nvPr/>
          </p:nvSpPr>
          <p:spPr>
            <a:xfrm>
              <a:off x="598110" y="4366850"/>
              <a:ext cx="4023360" cy="914400"/>
            </a:xfrm>
            <a:prstGeom prst="roundRect">
              <a:avLst>
                <a:gd name="adj" fmla="val 800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67" name="Text 21">
              <a:extLst>
                <a:ext uri="{FF2B5EF4-FFF2-40B4-BE49-F238E27FC236}">
                  <a16:creationId xmlns:a16="http://schemas.microsoft.com/office/drawing/2014/main" id="{59F7FE6E-AB9B-2BD2-FA26-1ABE9D47EE42}"/>
                </a:ext>
              </a:extLst>
            </p:cNvPr>
            <p:cNvSpPr/>
            <p:nvPr/>
          </p:nvSpPr>
          <p:spPr>
            <a:xfrm>
              <a:off x="707838" y="4440002"/>
              <a:ext cx="411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8B0000"/>
                  </a:solidFill>
                </a:rPr>
                <a:t>05</a:t>
              </a:r>
              <a:endParaRPr lang="en-US" sz="1400" dirty="0"/>
            </a:p>
          </p:txBody>
        </p:sp>
        <p:pic>
          <p:nvPicPr>
            <p:cNvPr id="68" name="Image 4" descr="preencoded.png">
              <a:extLst>
                <a:ext uri="{FF2B5EF4-FFF2-40B4-BE49-F238E27FC236}">
                  <a16:creationId xmlns:a16="http://schemas.microsoft.com/office/drawing/2014/main" id="{92039D9B-9FC6-D17C-57ED-C3CE49537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6982" y="4778330"/>
              <a:ext cx="347472" cy="347472"/>
            </a:xfrm>
            <a:prstGeom prst="rect">
              <a:avLst/>
            </a:prstGeom>
          </p:spPr>
        </p:pic>
        <p:sp>
          <p:nvSpPr>
            <p:cNvPr id="69" name="Text 22">
              <a:extLst>
                <a:ext uri="{FF2B5EF4-FFF2-40B4-BE49-F238E27FC236}">
                  <a16:creationId xmlns:a16="http://schemas.microsoft.com/office/drawing/2014/main" id="{07035D58-AA5F-4698-C4E6-6D34F3C7E9B0}"/>
                </a:ext>
              </a:extLst>
            </p:cNvPr>
            <p:cNvSpPr/>
            <p:nvPr/>
          </p:nvSpPr>
          <p:spPr>
            <a:xfrm>
              <a:off x="1219902" y="4430858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Admin Analytics</a:t>
              </a:r>
              <a:endParaRPr lang="en-US" sz="1200" dirty="0"/>
            </a:p>
          </p:txBody>
        </p:sp>
        <p:sp>
          <p:nvSpPr>
            <p:cNvPr id="70" name="Text 23">
              <a:extLst>
                <a:ext uri="{FF2B5EF4-FFF2-40B4-BE49-F238E27FC236}">
                  <a16:creationId xmlns:a16="http://schemas.microsoft.com/office/drawing/2014/main" id="{754C6DCE-F03B-3B42-1B1B-FA57215F5AD3}"/>
                </a:ext>
              </a:extLst>
            </p:cNvPr>
            <p:cNvSpPr/>
            <p:nvPr/>
          </p:nvSpPr>
          <p:spPr>
            <a:xfrm>
              <a:off x="1219902" y="471432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3D3D"/>
                  </a:solidFill>
                </a:rPr>
                <a:t>Statistics panel showing request trends, blood group demand, and donor activity — using stored DB data.</a:t>
              </a:r>
              <a:endParaRPr lang="en-US" sz="1050" dirty="0"/>
            </a:p>
          </p:txBody>
        </p:sp>
        <p:sp>
          <p:nvSpPr>
            <p:cNvPr id="71" name="Shape 24">
              <a:extLst>
                <a:ext uri="{FF2B5EF4-FFF2-40B4-BE49-F238E27FC236}">
                  <a16:creationId xmlns:a16="http://schemas.microsoft.com/office/drawing/2014/main" id="{3F4FB786-120F-DA78-9A71-5857909E6EBC}"/>
                </a:ext>
              </a:extLst>
            </p:cNvPr>
            <p:cNvSpPr/>
            <p:nvPr/>
          </p:nvSpPr>
          <p:spPr>
            <a:xfrm>
              <a:off x="4941510" y="4366850"/>
              <a:ext cx="4023360" cy="914400"/>
            </a:xfrm>
            <a:prstGeom prst="roundRect">
              <a:avLst>
                <a:gd name="adj" fmla="val 800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72" name="Text 25">
              <a:extLst>
                <a:ext uri="{FF2B5EF4-FFF2-40B4-BE49-F238E27FC236}">
                  <a16:creationId xmlns:a16="http://schemas.microsoft.com/office/drawing/2014/main" id="{7F47AFA7-B32B-F1E9-D56A-12D1375DA469}"/>
                </a:ext>
              </a:extLst>
            </p:cNvPr>
            <p:cNvSpPr/>
            <p:nvPr/>
          </p:nvSpPr>
          <p:spPr>
            <a:xfrm>
              <a:off x="5051238" y="4440002"/>
              <a:ext cx="411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8B0000"/>
                  </a:solidFill>
                </a:rPr>
                <a:t>06</a:t>
              </a:r>
              <a:endParaRPr lang="en-US" sz="1400" dirty="0"/>
            </a:p>
          </p:txBody>
        </p:sp>
        <p:pic>
          <p:nvPicPr>
            <p:cNvPr id="73" name="Image 5" descr="preencoded.png">
              <a:extLst>
                <a:ext uri="{FF2B5EF4-FFF2-40B4-BE49-F238E27FC236}">
                  <a16:creationId xmlns:a16="http://schemas.microsoft.com/office/drawing/2014/main" id="{F4571148-8C01-4946-4D36-1F11AA521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60382" y="4778330"/>
              <a:ext cx="347472" cy="347472"/>
            </a:xfrm>
            <a:prstGeom prst="rect">
              <a:avLst/>
            </a:prstGeom>
          </p:spPr>
        </p:pic>
        <p:sp>
          <p:nvSpPr>
            <p:cNvPr id="74" name="Text 26">
              <a:extLst>
                <a:ext uri="{FF2B5EF4-FFF2-40B4-BE49-F238E27FC236}">
                  <a16:creationId xmlns:a16="http://schemas.microsoft.com/office/drawing/2014/main" id="{9691AD07-A088-91F7-1777-D61D45920BAB}"/>
                </a:ext>
              </a:extLst>
            </p:cNvPr>
            <p:cNvSpPr/>
            <p:nvPr/>
          </p:nvSpPr>
          <p:spPr>
            <a:xfrm>
              <a:off x="5563302" y="4430858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In-App Notifications</a:t>
              </a:r>
              <a:endParaRPr lang="en-US" sz="1200" dirty="0"/>
            </a:p>
          </p:txBody>
        </p:sp>
        <p:sp>
          <p:nvSpPr>
            <p:cNvPr id="75" name="Text 27">
              <a:extLst>
                <a:ext uri="{FF2B5EF4-FFF2-40B4-BE49-F238E27FC236}">
                  <a16:creationId xmlns:a16="http://schemas.microsoft.com/office/drawing/2014/main" id="{E2428642-2D6E-DC9C-843D-809F28D25108}"/>
                </a:ext>
              </a:extLst>
            </p:cNvPr>
            <p:cNvSpPr/>
            <p:nvPr/>
          </p:nvSpPr>
          <p:spPr>
            <a:xfrm>
              <a:off x="5563302" y="471432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3D3D"/>
                  </a:solidFill>
                </a:rPr>
                <a:t>Notification panel for donors when matched; requesters informed of donor response in real time.</a:t>
              </a:r>
              <a:endParaRPr lang="en-US" sz="1050" dirty="0"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26810" y="3640299"/>
            <a:ext cx="1384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900285" cy="467995"/>
          </a:xfrm>
          <a:custGeom>
            <a:avLst/>
            <a:gdLst/>
            <a:ahLst/>
            <a:cxnLst/>
            <a:rect l="l" t="t" r="r" b="b"/>
            <a:pathLst>
              <a:path w="9900285" h="467995">
                <a:moveTo>
                  <a:pt x="9900000" y="0"/>
                </a:moveTo>
                <a:lnTo>
                  <a:pt x="0" y="0"/>
                </a:lnTo>
                <a:lnTo>
                  <a:pt x="0" y="467999"/>
                </a:lnTo>
                <a:lnTo>
                  <a:pt x="9900000" y="467999"/>
                </a:lnTo>
                <a:lnTo>
                  <a:pt x="9900000" y="0"/>
                </a:lnTo>
                <a:close/>
              </a:path>
            </a:pathLst>
          </a:custGeom>
          <a:solidFill>
            <a:srgbClr val="8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253999"/>
            <a:ext cx="9900285" cy="54610"/>
          </a:xfrm>
          <a:custGeom>
            <a:avLst/>
            <a:gdLst/>
            <a:ahLst/>
            <a:cxnLst/>
            <a:rect l="l" t="t" r="r" b="b"/>
            <a:pathLst>
              <a:path w="9900285" h="54609">
                <a:moveTo>
                  <a:pt x="9900000" y="0"/>
                </a:moveTo>
                <a:lnTo>
                  <a:pt x="0" y="0"/>
                </a:lnTo>
                <a:lnTo>
                  <a:pt x="0" y="54000"/>
                </a:lnTo>
                <a:lnTo>
                  <a:pt x="9900000" y="54000"/>
                </a:lnTo>
                <a:lnTo>
                  <a:pt x="9900000" y="0"/>
                </a:lnTo>
                <a:close/>
              </a:path>
            </a:pathLst>
          </a:custGeom>
          <a:solidFill>
            <a:srgbClr val="BF38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300" y="140899"/>
            <a:ext cx="847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Core</a:t>
            </a:r>
            <a:r>
              <a:rPr sz="2800" spc="-65" dirty="0"/>
              <a:t> </a:t>
            </a:r>
            <a:r>
              <a:rPr sz="2800" spc="-10" dirty="0"/>
              <a:t>Features</a:t>
            </a:r>
            <a:endParaRPr sz="28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B2FD8CF-B9AF-AF49-BEE9-16CC8CE80FAB}"/>
              </a:ext>
            </a:extLst>
          </p:cNvPr>
          <p:cNvGrpSpPr/>
          <p:nvPr/>
        </p:nvGrpSpPr>
        <p:grpSpPr>
          <a:xfrm>
            <a:off x="317500" y="2030508"/>
            <a:ext cx="9235521" cy="4118134"/>
            <a:chOff x="365760" y="1280160"/>
            <a:chExt cx="8366760" cy="3730752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23CF2A93-F894-6952-AE28-7DC350C65CA2}"/>
                </a:ext>
              </a:extLst>
            </p:cNvPr>
            <p:cNvSpPr/>
            <p:nvPr/>
          </p:nvSpPr>
          <p:spPr>
            <a:xfrm>
              <a:off x="365760" y="1280160"/>
              <a:ext cx="4023360" cy="1170432"/>
            </a:xfrm>
            <a:prstGeom prst="roundRect">
              <a:avLst>
                <a:gd name="adj" fmla="val 7813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9" name="Shape 4">
              <a:extLst>
                <a:ext uri="{FF2B5EF4-FFF2-40B4-BE49-F238E27FC236}">
                  <a16:creationId xmlns:a16="http://schemas.microsoft.com/office/drawing/2014/main" id="{A39477AE-DBD7-033E-2382-A1C91378AD55}"/>
                </a:ext>
              </a:extLst>
            </p:cNvPr>
            <p:cNvSpPr/>
            <p:nvPr/>
          </p:nvSpPr>
          <p:spPr>
            <a:xfrm>
              <a:off x="493776" y="1408176"/>
              <a:ext cx="530352" cy="530352"/>
            </a:xfrm>
            <a:prstGeom prst="roundRect">
              <a:avLst>
                <a:gd name="adj" fmla="val 13793"/>
              </a:avLst>
            </a:prstGeom>
            <a:solidFill>
              <a:srgbClr val="8B0000"/>
            </a:solidFill>
            <a:ln/>
          </p:spPr>
        </p:sp>
        <p:pic>
          <p:nvPicPr>
            <p:cNvPr id="10" name="Image 0" descr="preencoded.png">
              <a:extLst>
                <a:ext uri="{FF2B5EF4-FFF2-40B4-BE49-F238E27FC236}">
                  <a16:creationId xmlns:a16="http://schemas.microsoft.com/office/drawing/2014/main" id="{331094B7-A8C2-CD54-0427-E00849A093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0352" y="1444752"/>
              <a:ext cx="457200" cy="457200"/>
            </a:xfrm>
            <a:prstGeom prst="rect">
              <a:avLst/>
            </a:prstGeom>
          </p:spPr>
        </p:pic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19FFFCA5-C964-A965-6DF8-A1F7D1606115}"/>
                </a:ext>
              </a:extLst>
            </p:cNvPr>
            <p:cNvSpPr/>
            <p:nvPr/>
          </p:nvSpPr>
          <p:spPr>
            <a:xfrm>
              <a:off x="1161288" y="1371600"/>
              <a:ext cx="3090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Emergency Blood Request</a:t>
              </a:r>
              <a:endParaRPr lang="en-US" sz="1200" dirty="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D62C18CE-42AA-C904-D43E-B2D6731F37B6}"/>
                </a:ext>
              </a:extLst>
            </p:cNvPr>
            <p:cNvSpPr/>
            <p:nvPr/>
          </p:nvSpPr>
          <p:spPr>
            <a:xfrm>
              <a:off x="1161288" y="1682496"/>
              <a:ext cx="3090672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3D3D"/>
                  </a:solidFill>
                </a:rPr>
                <a:t>Requester submits: blood group, units needed, urgency, hospital, district. System timestamps and queues the request immediately.</a:t>
              </a:r>
              <a:endParaRPr lang="en-US" sz="1050" dirty="0"/>
            </a:p>
          </p:txBody>
        </p:sp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C44FDC9C-3A57-B904-28F6-60D1F4BC7566}"/>
                </a:ext>
              </a:extLst>
            </p:cNvPr>
            <p:cNvSpPr/>
            <p:nvPr/>
          </p:nvSpPr>
          <p:spPr>
            <a:xfrm>
              <a:off x="4709160" y="1280160"/>
              <a:ext cx="4023360" cy="1170432"/>
            </a:xfrm>
            <a:prstGeom prst="roundRect">
              <a:avLst>
                <a:gd name="adj" fmla="val 7813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6" name="Shape 8">
              <a:extLst>
                <a:ext uri="{FF2B5EF4-FFF2-40B4-BE49-F238E27FC236}">
                  <a16:creationId xmlns:a16="http://schemas.microsoft.com/office/drawing/2014/main" id="{7170F20F-3BB2-C6BE-11E8-1FA3DE954361}"/>
                </a:ext>
              </a:extLst>
            </p:cNvPr>
            <p:cNvSpPr/>
            <p:nvPr/>
          </p:nvSpPr>
          <p:spPr>
            <a:xfrm>
              <a:off x="4837176" y="1408176"/>
              <a:ext cx="530352" cy="530352"/>
            </a:xfrm>
            <a:prstGeom prst="roundRect">
              <a:avLst>
                <a:gd name="adj" fmla="val 13793"/>
              </a:avLst>
            </a:prstGeom>
            <a:solidFill>
              <a:srgbClr val="8B0000"/>
            </a:solidFill>
            <a:ln/>
          </p:spPr>
        </p:sp>
        <p:pic>
          <p:nvPicPr>
            <p:cNvPr id="17" name="Image 1" descr="preencoded.png">
              <a:extLst>
                <a:ext uri="{FF2B5EF4-FFF2-40B4-BE49-F238E27FC236}">
                  <a16:creationId xmlns:a16="http://schemas.microsoft.com/office/drawing/2014/main" id="{E89257A5-FA11-5EC5-180A-ABFA89943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3752" y="1444752"/>
              <a:ext cx="457200" cy="457200"/>
            </a:xfrm>
            <a:prstGeom prst="rect">
              <a:avLst/>
            </a:prstGeom>
          </p:spPr>
        </p:pic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400B9838-4CD1-DF5E-33D2-49769E396437}"/>
                </a:ext>
              </a:extLst>
            </p:cNvPr>
            <p:cNvSpPr/>
            <p:nvPr/>
          </p:nvSpPr>
          <p:spPr>
            <a:xfrm>
              <a:off x="5504688" y="1371600"/>
              <a:ext cx="3090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Smart Donor Matching</a:t>
              </a:r>
              <a:endParaRPr lang="en-US" sz="1200" dirty="0"/>
            </a:p>
          </p:txBody>
        </p:sp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B62D4894-948B-4923-FD16-3234763F3178}"/>
                </a:ext>
              </a:extLst>
            </p:cNvPr>
            <p:cNvSpPr/>
            <p:nvPr/>
          </p:nvSpPr>
          <p:spPr>
            <a:xfrm>
              <a:off x="5504688" y="1682496"/>
              <a:ext cx="3090672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3D3D"/>
                  </a:solidFill>
                </a:rPr>
                <a:t>Algorithm filters donors by blood compatibility + district + availability status + last donation date. Returns a ranked, eligible list.</a:t>
              </a:r>
              <a:endParaRPr lang="en-US" sz="1050" dirty="0"/>
            </a:p>
          </p:txBody>
        </p:sp>
        <p:sp>
          <p:nvSpPr>
            <p:cNvPr id="20" name="Shape 11">
              <a:extLst>
                <a:ext uri="{FF2B5EF4-FFF2-40B4-BE49-F238E27FC236}">
                  <a16:creationId xmlns:a16="http://schemas.microsoft.com/office/drawing/2014/main" id="{4122611F-39F8-735F-363B-7296AE677248}"/>
                </a:ext>
              </a:extLst>
            </p:cNvPr>
            <p:cNvSpPr/>
            <p:nvPr/>
          </p:nvSpPr>
          <p:spPr>
            <a:xfrm>
              <a:off x="365760" y="2560320"/>
              <a:ext cx="4023360" cy="1170432"/>
            </a:xfrm>
            <a:prstGeom prst="roundRect">
              <a:avLst>
                <a:gd name="adj" fmla="val 7813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1" name="Shape 12">
              <a:extLst>
                <a:ext uri="{FF2B5EF4-FFF2-40B4-BE49-F238E27FC236}">
                  <a16:creationId xmlns:a16="http://schemas.microsoft.com/office/drawing/2014/main" id="{5B5C09F3-3BD3-B529-8C1B-A12AE71EB3DE}"/>
                </a:ext>
              </a:extLst>
            </p:cNvPr>
            <p:cNvSpPr/>
            <p:nvPr/>
          </p:nvSpPr>
          <p:spPr>
            <a:xfrm>
              <a:off x="493776" y="2688336"/>
              <a:ext cx="530352" cy="530352"/>
            </a:xfrm>
            <a:prstGeom prst="roundRect">
              <a:avLst>
                <a:gd name="adj" fmla="val 13793"/>
              </a:avLst>
            </a:prstGeom>
            <a:solidFill>
              <a:srgbClr val="8B0000"/>
            </a:solidFill>
            <a:ln/>
          </p:spPr>
        </p:sp>
        <p:pic>
          <p:nvPicPr>
            <p:cNvPr id="22" name="Image 2" descr="preencoded.png">
              <a:extLst>
                <a:ext uri="{FF2B5EF4-FFF2-40B4-BE49-F238E27FC236}">
                  <a16:creationId xmlns:a16="http://schemas.microsoft.com/office/drawing/2014/main" id="{E1FE57FB-B808-4F6E-A810-EBD75E3C9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0352" y="2724912"/>
              <a:ext cx="457200" cy="457200"/>
            </a:xfrm>
            <a:prstGeom prst="rect">
              <a:avLst/>
            </a:prstGeom>
          </p:spPr>
        </p:pic>
        <p:sp>
          <p:nvSpPr>
            <p:cNvPr id="23" name="Text 13">
              <a:extLst>
                <a:ext uri="{FF2B5EF4-FFF2-40B4-BE49-F238E27FC236}">
                  <a16:creationId xmlns:a16="http://schemas.microsoft.com/office/drawing/2014/main" id="{E62627EE-5A99-E3AF-7413-2179D92D3830}"/>
                </a:ext>
              </a:extLst>
            </p:cNvPr>
            <p:cNvSpPr/>
            <p:nvPr/>
          </p:nvSpPr>
          <p:spPr>
            <a:xfrm>
              <a:off x="1161288" y="2651760"/>
              <a:ext cx="3090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Eligibility Checker</a:t>
              </a:r>
              <a:endParaRPr lang="en-US" sz="1200" dirty="0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C01F18AA-1212-9DC8-A8FB-079F593883B6}"/>
                </a:ext>
              </a:extLst>
            </p:cNvPr>
            <p:cNvSpPr/>
            <p:nvPr/>
          </p:nvSpPr>
          <p:spPr>
            <a:xfrm>
              <a:off x="1161288" y="2962656"/>
              <a:ext cx="3090672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3D3D"/>
                  </a:solidFill>
                </a:rPr>
                <a:t>Rule engine checks: age ≥ 18, weight ≥ 50 kg, 56-day cooldown since last donation. Returns Eligible / Not Eligible with reason text.</a:t>
              </a:r>
              <a:endParaRPr lang="en-US" sz="1050" dirty="0"/>
            </a:p>
          </p:txBody>
        </p:sp>
        <p:sp>
          <p:nvSpPr>
            <p:cNvPr id="25" name="Shape 15">
              <a:extLst>
                <a:ext uri="{FF2B5EF4-FFF2-40B4-BE49-F238E27FC236}">
                  <a16:creationId xmlns:a16="http://schemas.microsoft.com/office/drawing/2014/main" id="{8FE13EFD-3415-87F6-16B7-529055A86333}"/>
                </a:ext>
              </a:extLst>
            </p:cNvPr>
            <p:cNvSpPr/>
            <p:nvPr/>
          </p:nvSpPr>
          <p:spPr>
            <a:xfrm>
              <a:off x="4709160" y="2560320"/>
              <a:ext cx="4023360" cy="1170432"/>
            </a:xfrm>
            <a:prstGeom prst="roundRect">
              <a:avLst>
                <a:gd name="adj" fmla="val 7813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863DEF38-6CCE-0F11-24B9-7A0358E51BDB}"/>
                </a:ext>
              </a:extLst>
            </p:cNvPr>
            <p:cNvSpPr/>
            <p:nvPr/>
          </p:nvSpPr>
          <p:spPr>
            <a:xfrm>
              <a:off x="4837176" y="2688336"/>
              <a:ext cx="530352" cy="530352"/>
            </a:xfrm>
            <a:prstGeom prst="roundRect">
              <a:avLst>
                <a:gd name="adj" fmla="val 13793"/>
              </a:avLst>
            </a:prstGeom>
            <a:solidFill>
              <a:srgbClr val="8B0000"/>
            </a:solidFill>
            <a:ln/>
          </p:spPr>
        </p:sp>
        <p:pic>
          <p:nvPicPr>
            <p:cNvPr id="27" name="Image 3" descr="preencoded.png">
              <a:extLst>
                <a:ext uri="{FF2B5EF4-FFF2-40B4-BE49-F238E27FC236}">
                  <a16:creationId xmlns:a16="http://schemas.microsoft.com/office/drawing/2014/main" id="{1BFB1287-AE65-0DEB-F52E-3FD659F20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73752" y="2724912"/>
              <a:ext cx="457200" cy="457200"/>
            </a:xfrm>
            <a:prstGeom prst="rect">
              <a:avLst/>
            </a:prstGeom>
          </p:spPr>
        </p:pic>
        <p:sp>
          <p:nvSpPr>
            <p:cNvPr id="28" name="Text 17">
              <a:extLst>
                <a:ext uri="{FF2B5EF4-FFF2-40B4-BE49-F238E27FC236}">
                  <a16:creationId xmlns:a16="http://schemas.microsoft.com/office/drawing/2014/main" id="{BC9B61EC-79FF-56B7-2D3D-9637F422AEEB}"/>
                </a:ext>
              </a:extLst>
            </p:cNvPr>
            <p:cNvSpPr/>
            <p:nvPr/>
          </p:nvSpPr>
          <p:spPr>
            <a:xfrm>
              <a:off x="5504688" y="2651760"/>
              <a:ext cx="3090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Donor Status Toggle</a:t>
              </a:r>
              <a:endParaRPr lang="en-US" sz="1200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3C191CDB-17F9-6CE7-D064-1415F93422AB}"/>
                </a:ext>
              </a:extLst>
            </p:cNvPr>
            <p:cNvSpPr/>
            <p:nvPr/>
          </p:nvSpPr>
          <p:spPr>
            <a:xfrm>
              <a:off x="5504688" y="2962656"/>
              <a:ext cx="3090672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3D3D"/>
                  </a:solidFill>
                </a:rPr>
                <a:t>Donors update status: Available / Busy / Out of Town / Medical Hold. Only Available donors appear in search results.</a:t>
              </a:r>
              <a:endParaRPr lang="en-US" sz="1050" dirty="0"/>
            </a:p>
          </p:txBody>
        </p:sp>
        <p:sp>
          <p:nvSpPr>
            <p:cNvPr id="30" name="Shape 19">
              <a:extLst>
                <a:ext uri="{FF2B5EF4-FFF2-40B4-BE49-F238E27FC236}">
                  <a16:creationId xmlns:a16="http://schemas.microsoft.com/office/drawing/2014/main" id="{7499505F-2626-E611-3670-D6CA42F25799}"/>
                </a:ext>
              </a:extLst>
            </p:cNvPr>
            <p:cNvSpPr/>
            <p:nvPr/>
          </p:nvSpPr>
          <p:spPr>
            <a:xfrm>
              <a:off x="365760" y="3840480"/>
              <a:ext cx="4023360" cy="1170432"/>
            </a:xfrm>
            <a:prstGeom prst="roundRect">
              <a:avLst>
                <a:gd name="adj" fmla="val 7813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1" name="Shape 20">
              <a:extLst>
                <a:ext uri="{FF2B5EF4-FFF2-40B4-BE49-F238E27FC236}">
                  <a16:creationId xmlns:a16="http://schemas.microsoft.com/office/drawing/2014/main" id="{95C87E57-C705-6D56-95C5-A94DCF1B0E25}"/>
                </a:ext>
              </a:extLst>
            </p:cNvPr>
            <p:cNvSpPr/>
            <p:nvPr/>
          </p:nvSpPr>
          <p:spPr>
            <a:xfrm>
              <a:off x="493776" y="3968496"/>
              <a:ext cx="530352" cy="530352"/>
            </a:xfrm>
            <a:prstGeom prst="roundRect">
              <a:avLst>
                <a:gd name="adj" fmla="val 13793"/>
              </a:avLst>
            </a:prstGeom>
            <a:solidFill>
              <a:srgbClr val="8B0000"/>
            </a:solidFill>
            <a:ln/>
          </p:spPr>
        </p:sp>
        <p:pic>
          <p:nvPicPr>
            <p:cNvPr id="32" name="Image 4" descr="preencoded.png">
              <a:extLst>
                <a:ext uri="{FF2B5EF4-FFF2-40B4-BE49-F238E27FC236}">
                  <a16:creationId xmlns:a16="http://schemas.microsoft.com/office/drawing/2014/main" id="{A0F5A6D9-3982-F15E-39B6-D0351CA0D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0352" y="4005072"/>
              <a:ext cx="457200" cy="457200"/>
            </a:xfrm>
            <a:prstGeom prst="rect">
              <a:avLst/>
            </a:prstGeom>
          </p:spPr>
        </p:pic>
        <p:sp>
          <p:nvSpPr>
            <p:cNvPr id="33" name="Text 21">
              <a:extLst>
                <a:ext uri="{FF2B5EF4-FFF2-40B4-BE49-F238E27FC236}">
                  <a16:creationId xmlns:a16="http://schemas.microsoft.com/office/drawing/2014/main" id="{2FA1869B-BDC8-5D67-FB73-742A3B47766C}"/>
                </a:ext>
              </a:extLst>
            </p:cNvPr>
            <p:cNvSpPr/>
            <p:nvPr/>
          </p:nvSpPr>
          <p:spPr>
            <a:xfrm>
              <a:off x="1161288" y="3931920"/>
              <a:ext cx="3090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Request Lifecycle Tracker</a:t>
              </a:r>
              <a:endParaRPr lang="en-US" sz="1200" dirty="0"/>
            </a:p>
          </p:txBody>
        </p:sp>
        <p:sp>
          <p:nvSpPr>
            <p:cNvPr id="34" name="Text 22">
              <a:extLst>
                <a:ext uri="{FF2B5EF4-FFF2-40B4-BE49-F238E27FC236}">
                  <a16:creationId xmlns:a16="http://schemas.microsoft.com/office/drawing/2014/main" id="{209025A6-754C-A669-6FC8-9409EED631E1}"/>
                </a:ext>
              </a:extLst>
            </p:cNvPr>
            <p:cNvSpPr/>
            <p:nvPr/>
          </p:nvSpPr>
          <p:spPr>
            <a:xfrm>
              <a:off x="1161288" y="4242816"/>
              <a:ext cx="3090672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3D3D"/>
                  </a:solidFill>
                </a:rPr>
                <a:t>Every request moves through: PENDING → MATCHED → ACCEPTED / DECLINED → FULFILLED / CANCELLED. Full audit trail in DB.</a:t>
              </a:r>
              <a:endParaRPr lang="en-US" sz="1050" dirty="0"/>
            </a:p>
          </p:txBody>
        </p:sp>
        <p:sp>
          <p:nvSpPr>
            <p:cNvPr id="35" name="Shape 23">
              <a:extLst>
                <a:ext uri="{FF2B5EF4-FFF2-40B4-BE49-F238E27FC236}">
                  <a16:creationId xmlns:a16="http://schemas.microsoft.com/office/drawing/2014/main" id="{31B7FD85-D9EE-8B77-D72B-622A07765A77}"/>
                </a:ext>
              </a:extLst>
            </p:cNvPr>
            <p:cNvSpPr/>
            <p:nvPr/>
          </p:nvSpPr>
          <p:spPr>
            <a:xfrm>
              <a:off x="4709160" y="3840480"/>
              <a:ext cx="4023360" cy="1170432"/>
            </a:xfrm>
            <a:prstGeom prst="roundRect">
              <a:avLst>
                <a:gd name="adj" fmla="val 7813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86056DAB-7777-9D8C-7BEC-60D1B799EA1C}"/>
                </a:ext>
              </a:extLst>
            </p:cNvPr>
            <p:cNvSpPr/>
            <p:nvPr/>
          </p:nvSpPr>
          <p:spPr>
            <a:xfrm>
              <a:off x="4837176" y="3968496"/>
              <a:ext cx="530352" cy="530352"/>
            </a:xfrm>
            <a:prstGeom prst="roundRect">
              <a:avLst>
                <a:gd name="adj" fmla="val 13793"/>
              </a:avLst>
            </a:prstGeom>
            <a:solidFill>
              <a:srgbClr val="8B0000"/>
            </a:solidFill>
            <a:ln/>
          </p:spPr>
        </p:sp>
        <p:pic>
          <p:nvPicPr>
            <p:cNvPr id="37" name="Image 5" descr="preencoded.png">
              <a:extLst>
                <a:ext uri="{FF2B5EF4-FFF2-40B4-BE49-F238E27FC236}">
                  <a16:creationId xmlns:a16="http://schemas.microsoft.com/office/drawing/2014/main" id="{BD0DABE4-0EEF-F8F6-8AA0-EE2B4FAF3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73752" y="4005072"/>
              <a:ext cx="457200" cy="457200"/>
            </a:xfrm>
            <a:prstGeom prst="rect">
              <a:avLst/>
            </a:prstGeom>
          </p:spPr>
        </p:pic>
        <p:sp>
          <p:nvSpPr>
            <p:cNvPr id="38" name="Text 25">
              <a:extLst>
                <a:ext uri="{FF2B5EF4-FFF2-40B4-BE49-F238E27FC236}">
                  <a16:creationId xmlns:a16="http://schemas.microsoft.com/office/drawing/2014/main" id="{2D732C3E-32AA-C86D-8214-CD69627551AF}"/>
                </a:ext>
              </a:extLst>
            </p:cNvPr>
            <p:cNvSpPr/>
            <p:nvPr/>
          </p:nvSpPr>
          <p:spPr>
            <a:xfrm>
              <a:off x="5504688" y="3931920"/>
              <a:ext cx="3090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In-App Notification Panel</a:t>
              </a:r>
              <a:endParaRPr lang="en-US" sz="1200" dirty="0"/>
            </a:p>
          </p:txBody>
        </p:sp>
        <p:sp>
          <p:nvSpPr>
            <p:cNvPr id="39" name="Text 26">
              <a:extLst>
                <a:ext uri="{FF2B5EF4-FFF2-40B4-BE49-F238E27FC236}">
                  <a16:creationId xmlns:a16="http://schemas.microsoft.com/office/drawing/2014/main" id="{A14C935D-C591-6304-5456-5C61AAB47E2A}"/>
                </a:ext>
              </a:extLst>
            </p:cNvPr>
            <p:cNvSpPr/>
            <p:nvPr/>
          </p:nvSpPr>
          <p:spPr>
            <a:xfrm>
              <a:off x="5504688" y="4242816"/>
              <a:ext cx="3090672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3D3D"/>
                  </a:solidFill>
                </a:rPr>
                <a:t>When a donor is matched, they see an in-app notification. Requester is updated when donor accepts or declines. No email API needed.</a:t>
              </a:r>
              <a:endParaRPr lang="en-US" sz="1050" dirty="0"/>
            </a:p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26810" y="3640299"/>
            <a:ext cx="1384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5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900285" cy="467995"/>
          </a:xfrm>
          <a:custGeom>
            <a:avLst/>
            <a:gdLst/>
            <a:ahLst/>
            <a:cxnLst/>
            <a:rect l="l" t="t" r="r" b="b"/>
            <a:pathLst>
              <a:path w="9900285" h="467995">
                <a:moveTo>
                  <a:pt x="9900000" y="0"/>
                </a:moveTo>
                <a:lnTo>
                  <a:pt x="0" y="0"/>
                </a:lnTo>
                <a:lnTo>
                  <a:pt x="0" y="467999"/>
                </a:lnTo>
                <a:lnTo>
                  <a:pt x="9900000" y="467999"/>
                </a:lnTo>
                <a:lnTo>
                  <a:pt x="9900000" y="0"/>
                </a:lnTo>
                <a:close/>
              </a:path>
            </a:pathLst>
          </a:custGeom>
          <a:solidFill>
            <a:srgbClr val="8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253999"/>
            <a:ext cx="9900285" cy="54610"/>
          </a:xfrm>
          <a:custGeom>
            <a:avLst/>
            <a:gdLst/>
            <a:ahLst/>
            <a:cxnLst/>
            <a:rect l="l" t="t" r="r" b="b"/>
            <a:pathLst>
              <a:path w="9900285" h="54609">
                <a:moveTo>
                  <a:pt x="9900000" y="0"/>
                </a:moveTo>
                <a:lnTo>
                  <a:pt x="0" y="0"/>
                </a:lnTo>
                <a:lnTo>
                  <a:pt x="0" y="54000"/>
                </a:lnTo>
                <a:lnTo>
                  <a:pt x="9900000" y="54000"/>
                </a:lnTo>
                <a:lnTo>
                  <a:pt x="9900000" y="0"/>
                </a:lnTo>
                <a:close/>
              </a:path>
            </a:pathLst>
          </a:custGeom>
          <a:solidFill>
            <a:srgbClr val="BF38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300" y="140899"/>
            <a:ext cx="847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91300" y="1020899"/>
            <a:ext cx="9710799" cy="49500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125" dirty="0"/>
              <a:t>Advanced</a:t>
            </a:r>
            <a:r>
              <a:rPr sz="2800" spc="-125" dirty="0"/>
              <a:t> </a:t>
            </a:r>
            <a:r>
              <a:rPr sz="2800" spc="-10" dirty="0"/>
              <a:t>Features</a:t>
            </a:r>
            <a:endParaRPr sz="28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BD274CE-132B-ADEE-082B-2BF66FA94857}"/>
              </a:ext>
            </a:extLst>
          </p:cNvPr>
          <p:cNvGrpSpPr/>
          <p:nvPr/>
        </p:nvGrpSpPr>
        <p:grpSpPr>
          <a:xfrm>
            <a:off x="431993" y="2059945"/>
            <a:ext cx="9262850" cy="4027326"/>
            <a:chOff x="365760" y="1261872"/>
            <a:chExt cx="8412480" cy="3657600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59C20330-33C4-3A47-96A5-077DB5A6FE6D}"/>
                </a:ext>
              </a:extLst>
            </p:cNvPr>
            <p:cNvSpPr/>
            <p:nvPr/>
          </p:nvSpPr>
          <p:spPr>
            <a:xfrm>
              <a:off x="365760" y="1261872"/>
              <a:ext cx="6858000" cy="658368"/>
            </a:xfrm>
            <a:prstGeom prst="roundRect">
              <a:avLst>
                <a:gd name="adj" fmla="val 11111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BB766916-DD0D-9C42-70ED-5C4ED20525C9}"/>
                </a:ext>
              </a:extLst>
            </p:cNvPr>
            <p:cNvSpPr/>
            <p:nvPr/>
          </p:nvSpPr>
          <p:spPr>
            <a:xfrm>
              <a:off x="475488" y="1353312"/>
              <a:ext cx="475488" cy="475488"/>
            </a:xfrm>
            <a:prstGeom prst="roundRect">
              <a:avLst>
                <a:gd name="adj" fmla="val 13462"/>
              </a:avLst>
            </a:prstGeom>
            <a:solidFill>
              <a:srgbClr val="8B0000"/>
            </a:solidFill>
            <a:ln/>
          </p:spPr>
        </p:sp>
        <p:pic>
          <p:nvPicPr>
            <p:cNvPr id="12" name="Image 0" descr="preencoded.png">
              <a:extLst>
                <a:ext uri="{FF2B5EF4-FFF2-40B4-BE49-F238E27FC236}">
                  <a16:creationId xmlns:a16="http://schemas.microsoft.com/office/drawing/2014/main" id="{542FEDB5-1352-DB9B-99EE-D5131DE9B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2064" y="1389888"/>
              <a:ext cx="402336" cy="402336"/>
            </a:xfrm>
            <a:prstGeom prst="rect">
              <a:avLst/>
            </a:prstGeom>
          </p:spPr>
        </p:pic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34A4E1B1-D992-CE48-CAC2-989519CFBC9A}"/>
                </a:ext>
              </a:extLst>
            </p:cNvPr>
            <p:cNvSpPr/>
            <p:nvPr/>
          </p:nvSpPr>
          <p:spPr>
            <a:xfrm>
              <a:off x="1051560" y="1316736"/>
              <a:ext cx="50292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Donor Achievement Badges</a:t>
              </a:r>
              <a:endParaRPr lang="en-US" sz="1200" dirty="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5E95AD2A-FDFC-5934-561A-79B0145287F4}"/>
                </a:ext>
              </a:extLst>
            </p:cNvPr>
            <p:cNvSpPr/>
            <p:nvPr/>
          </p:nvSpPr>
          <p:spPr>
            <a:xfrm>
              <a:off x="1051560" y="1581912"/>
              <a:ext cx="6035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Bronze → Silver → Gold → Platinum badges based on verified donation count. Stored in DB, shown on donor profile. Motivates repeat donors.</a:t>
              </a:r>
              <a:endParaRPr lang="en-US" sz="1000" dirty="0"/>
            </a:p>
          </p:txBody>
        </p:sp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ABEF3DD9-AB71-5DC2-9DF6-44A07A062F3D}"/>
                </a:ext>
              </a:extLst>
            </p:cNvPr>
            <p:cNvSpPr/>
            <p:nvPr/>
          </p:nvSpPr>
          <p:spPr>
            <a:xfrm>
              <a:off x="7360920" y="1389888"/>
              <a:ext cx="1417320" cy="411480"/>
            </a:xfrm>
            <a:prstGeom prst="roundRect">
              <a:avLst>
                <a:gd name="adj" fmla="val 15556"/>
              </a:avLst>
            </a:prstGeom>
            <a:solidFill>
              <a:srgbClr val="FDEAEA"/>
            </a:solidFill>
            <a:ln/>
          </p:spPr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EB93CB2F-6B36-BA7D-4E38-0B504B369334}"/>
                </a:ext>
              </a:extLst>
            </p:cNvPr>
            <p:cNvSpPr/>
            <p:nvPr/>
          </p:nvSpPr>
          <p:spPr>
            <a:xfrm>
              <a:off x="7360920" y="1389888"/>
              <a:ext cx="1417320" cy="411480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B0000"/>
                  </a:solidFill>
                </a:rPr>
                <a:t>OOP: Badge hierarchy with Strategy pattern</a:t>
              </a:r>
              <a:endParaRPr lang="en-US" sz="800" dirty="0"/>
            </a:p>
          </p:txBody>
        </p:sp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90B9E507-41E9-D0C9-11E7-0DBC2135A2CB}"/>
                </a:ext>
              </a:extLst>
            </p:cNvPr>
            <p:cNvSpPr/>
            <p:nvPr/>
          </p:nvSpPr>
          <p:spPr>
            <a:xfrm>
              <a:off x="365760" y="2011680"/>
              <a:ext cx="6858000" cy="658368"/>
            </a:xfrm>
            <a:prstGeom prst="roundRect">
              <a:avLst>
                <a:gd name="adj" fmla="val 11111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18" name="Shape 10">
              <a:extLst>
                <a:ext uri="{FF2B5EF4-FFF2-40B4-BE49-F238E27FC236}">
                  <a16:creationId xmlns:a16="http://schemas.microsoft.com/office/drawing/2014/main" id="{BCCAFB6A-BF56-149B-49BA-D124D903FF39}"/>
                </a:ext>
              </a:extLst>
            </p:cNvPr>
            <p:cNvSpPr/>
            <p:nvPr/>
          </p:nvSpPr>
          <p:spPr>
            <a:xfrm>
              <a:off x="475488" y="2103120"/>
              <a:ext cx="475488" cy="475488"/>
            </a:xfrm>
            <a:prstGeom prst="roundRect">
              <a:avLst>
                <a:gd name="adj" fmla="val 13462"/>
              </a:avLst>
            </a:prstGeom>
            <a:solidFill>
              <a:srgbClr val="8B0000"/>
            </a:solidFill>
            <a:ln/>
          </p:spPr>
        </p:sp>
        <p:pic>
          <p:nvPicPr>
            <p:cNvPr id="19" name="Image 1" descr="preencoded.png">
              <a:extLst>
                <a:ext uri="{FF2B5EF4-FFF2-40B4-BE49-F238E27FC236}">
                  <a16:creationId xmlns:a16="http://schemas.microsoft.com/office/drawing/2014/main" id="{D40195BF-0F7C-A9B6-A4CE-8930BBF05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064" y="2139696"/>
              <a:ext cx="402336" cy="402336"/>
            </a:xfrm>
            <a:prstGeom prst="rect">
              <a:avLst/>
            </a:prstGeom>
          </p:spPr>
        </p:pic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B0245A0D-7A6A-B013-34D0-05333E06ED8F}"/>
                </a:ext>
              </a:extLst>
            </p:cNvPr>
            <p:cNvSpPr/>
            <p:nvPr/>
          </p:nvSpPr>
          <p:spPr>
            <a:xfrm>
              <a:off x="1051560" y="2066544"/>
              <a:ext cx="50292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Admin Statistics Dashboard</a:t>
              </a:r>
              <a:endParaRPr lang="en-US" sz="1200" dirty="0"/>
            </a:p>
          </p:txBody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E5AF4413-2023-2305-9982-F04FA346E9A2}"/>
                </a:ext>
              </a:extLst>
            </p:cNvPr>
            <p:cNvSpPr/>
            <p:nvPr/>
          </p:nvSpPr>
          <p:spPr>
            <a:xfrm>
              <a:off x="1051560" y="2331720"/>
              <a:ext cx="6035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Charts showing most-requested blood groups, monthly request volume, fulfillment rate — all computed from existing DB records via SQL aggregates.</a:t>
              </a:r>
              <a:endParaRPr lang="en-US" sz="1000" dirty="0"/>
            </a:p>
          </p:txBody>
        </p:sp>
        <p:sp>
          <p:nvSpPr>
            <p:cNvPr id="22" name="Shape 13">
              <a:extLst>
                <a:ext uri="{FF2B5EF4-FFF2-40B4-BE49-F238E27FC236}">
                  <a16:creationId xmlns:a16="http://schemas.microsoft.com/office/drawing/2014/main" id="{E4B885F5-B271-137C-BA24-12714ED00EF8}"/>
                </a:ext>
              </a:extLst>
            </p:cNvPr>
            <p:cNvSpPr/>
            <p:nvPr/>
          </p:nvSpPr>
          <p:spPr>
            <a:xfrm>
              <a:off x="7360920" y="2139696"/>
              <a:ext cx="1417320" cy="411480"/>
            </a:xfrm>
            <a:prstGeom prst="roundRect">
              <a:avLst>
                <a:gd name="adj" fmla="val 15556"/>
              </a:avLst>
            </a:prstGeom>
            <a:solidFill>
              <a:srgbClr val="FDEAEA"/>
            </a:solidFill>
            <a:ln/>
          </p:spPr>
        </p:sp>
        <p:sp>
          <p:nvSpPr>
            <p:cNvPr id="23" name="Text 14">
              <a:extLst>
                <a:ext uri="{FF2B5EF4-FFF2-40B4-BE49-F238E27FC236}">
                  <a16:creationId xmlns:a16="http://schemas.microsoft.com/office/drawing/2014/main" id="{0B0DBDA9-4F0A-61A5-508D-DE5F5ACA8757}"/>
                </a:ext>
              </a:extLst>
            </p:cNvPr>
            <p:cNvSpPr/>
            <p:nvPr/>
          </p:nvSpPr>
          <p:spPr>
            <a:xfrm>
              <a:off x="7360920" y="2139696"/>
              <a:ext cx="1417320" cy="411480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B0000"/>
                  </a:solidFill>
                </a:rPr>
                <a:t>JavaFX: BarChart + PieChart components</a:t>
              </a:r>
              <a:endParaRPr lang="en-US" sz="800" dirty="0"/>
            </a:p>
          </p:txBody>
        </p:sp>
        <p:sp>
          <p:nvSpPr>
            <p:cNvPr id="24" name="Shape 15">
              <a:extLst>
                <a:ext uri="{FF2B5EF4-FFF2-40B4-BE49-F238E27FC236}">
                  <a16:creationId xmlns:a16="http://schemas.microsoft.com/office/drawing/2014/main" id="{4D272DAA-E8BA-3440-5C2C-C8CAFFE940B1}"/>
                </a:ext>
              </a:extLst>
            </p:cNvPr>
            <p:cNvSpPr/>
            <p:nvPr/>
          </p:nvSpPr>
          <p:spPr>
            <a:xfrm>
              <a:off x="365760" y="2761488"/>
              <a:ext cx="6858000" cy="658368"/>
            </a:xfrm>
            <a:prstGeom prst="roundRect">
              <a:avLst>
                <a:gd name="adj" fmla="val 11111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25" name="Shape 16">
              <a:extLst>
                <a:ext uri="{FF2B5EF4-FFF2-40B4-BE49-F238E27FC236}">
                  <a16:creationId xmlns:a16="http://schemas.microsoft.com/office/drawing/2014/main" id="{04F7AB9E-19E5-8F15-DC3C-A512F9A38BE5}"/>
                </a:ext>
              </a:extLst>
            </p:cNvPr>
            <p:cNvSpPr/>
            <p:nvPr/>
          </p:nvSpPr>
          <p:spPr>
            <a:xfrm>
              <a:off x="475488" y="2852928"/>
              <a:ext cx="475488" cy="475488"/>
            </a:xfrm>
            <a:prstGeom prst="roundRect">
              <a:avLst>
                <a:gd name="adj" fmla="val 13462"/>
              </a:avLst>
            </a:prstGeom>
            <a:solidFill>
              <a:srgbClr val="8B0000"/>
            </a:solidFill>
            <a:ln/>
          </p:spPr>
        </p:sp>
        <p:pic>
          <p:nvPicPr>
            <p:cNvPr id="26" name="Image 2" descr="preencoded.png">
              <a:extLst>
                <a:ext uri="{FF2B5EF4-FFF2-40B4-BE49-F238E27FC236}">
                  <a16:creationId xmlns:a16="http://schemas.microsoft.com/office/drawing/2014/main" id="{F0EC711E-F5E0-C378-6288-8B64C9F48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2064" y="2889504"/>
              <a:ext cx="402336" cy="402336"/>
            </a:xfrm>
            <a:prstGeom prst="rect">
              <a:avLst/>
            </a:prstGeom>
          </p:spPr>
        </p:pic>
        <p:sp>
          <p:nvSpPr>
            <p:cNvPr id="27" name="Text 17">
              <a:extLst>
                <a:ext uri="{FF2B5EF4-FFF2-40B4-BE49-F238E27FC236}">
                  <a16:creationId xmlns:a16="http://schemas.microsoft.com/office/drawing/2014/main" id="{1BACAEA1-1281-4672-E966-B14937FB9C6E}"/>
                </a:ext>
              </a:extLst>
            </p:cNvPr>
            <p:cNvSpPr/>
            <p:nvPr/>
          </p:nvSpPr>
          <p:spPr>
            <a:xfrm>
              <a:off x="1051560" y="2816352"/>
              <a:ext cx="50292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Blood Group Demand View</a:t>
              </a:r>
              <a:endParaRPr lang="en-US" sz="1200" dirty="0"/>
            </a:p>
          </p:txBody>
        </p:sp>
        <p:sp>
          <p:nvSpPr>
            <p:cNvPr id="28" name="Text 18">
              <a:extLst>
                <a:ext uri="{FF2B5EF4-FFF2-40B4-BE49-F238E27FC236}">
                  <a16:creationId xmlns:a16="http://schemas.microsoft.com/office/drawing/2014/main" id="{1A69418B-B040-81BB-CFD5-11B990512D8C}"/>
                </a:ext>
              </a:extLst>
            </p:cNvPr>
            <p:cNvSpPr/>
            <p:nvPr/>
          </p:nvSpPr>
          <p:spPr>
            <a:xfrm>
              <a:off x="1051560" y="3081528"/>
              <a:ext cx="6035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Admin sees a table: for each blood group, count of pending requests vs available donors — a simple SQL JOIN rendered as a sortable TableView.</a:t>
              </a:r>
              <a:endParaRPr lang="en-US" sz="1000" dirty="0"/>
            </a:p>
          </p:txBody>
        </p:sp>
        <p:sp>
          <p:nvSpPr>
            <p:cNvPr id="29" name="Shape 19">
              <a:extLst>
                <a:ext uri="{FF2B5EF4-FFF2-40B4-BE49-F238E27FC236}">
                  <a16:creationId xmlns:a16="http://schemas.microsoft.com/office/drawing/2014/main" id="{5D6A173B-BB25-F859-C20D-D170792590C7}"/>
                </a:ext>
              </a:extLst>
            </p:cNvPr>
            <p:cNvSpPr/>
            <p:nvPr/>
          </p:nvSpPr>
          <p:spPr>
            <a:xfrm>
              <a:off x="7360920" y="2889504"/>
              <a:ext cx="1417320" cy="411480"/>
            </a:xfrm>
            <a:prstGeom prst="roundRect">
              <a:avLst>
                <a:gd name="adj" fmla="val 15556"/>
              </a:avLst>
            </a:prstGeom>
            <a:solidFill>
              <a:srgbClr val="FDEAEA"/>
            </a:solidFill>
            <a:ln/>
          </p:spPr>
        </p:sp>
        <p:sp>
          <p:nvSpPr>
            <p:cNvPr id="30" name="Text 20">
              <a:extLst>
                <a:ext uri="{FF2B5EF4-FFF2-40B4-BE49-F238E27FC236}">
                  <a16:creationId xmlns:a16="http://schemas.microsoft.com/office/drawing/2014/main" id="{1AF1F1E9-6B75-7357-1AEF-3D176DC0BAFF}"/>
                </a:ext>
              </a:extLst>
            </p:cNvPr>
            <p:cNvSpPr/>
            <p:nvPr/>
          </p:nvSpPr>
          <p:spPr>
            <a:xfrm>
              <a:off x="7360920" y="2889504"/>
              <a:ext cx="1417320" cy="411480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B0000"/>
                  </a:solidFill>
                </a:rPr>
                <a:t>JavaFX: TableView with ObservableList</a:t>
              </a:r>
              <a:endParaRPr lang="en-US" sz="800" dirty="0"/>
            </a:p>
          </p:txBody>
        </p:sp>
        <p:sp>
          <p:nvSpPr>
            <p:cNvPr id="31" name="Shape 21">
              <a:extLst>
                <a:ext uri="{FF2B5EF4-FFF2-40B4-BE49-F238E27FC236}">
                  <a16:creationId xmlns:a16="http://schemas.microsoft.com/office/drawing/2014/main" id="{543C78C2-3C84-8353-1C2D-C1DD47844EA6}"/>
                </a:ext>
              </a:extLst>
            </p:cNvPr>
            <p:cNvSpPr/>
            <p:nvPr/>
          </p:nvSpPr>
          <p:spPr>
            <a:xfrm>
              <a:off x="365760" y="3511296"/>
              <a:ext cx="6858000" cy="658368"/>
            </a:xfrm>
            <a:prstGeom prst="roundRect">
              <a:avLst>
                <a:gd name="adj" fmla="val 11111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32" name="Shape 22">
              <a:extLst>
                <a:ext uri="{FF2B5EF4-FFF2-40B4-BE49-F238E27FC236}">
                  <a16:creationId xmlns:a16="http://schemas.microsoft.com/office/drawing/2014/main" id="{CDA6BEB9-E6BE-6E25-422D-F1255DAC7E33}"/>
                </a:ext>
              </a:extLst>
            </p:cNvPr>
            <p:cNvSpPr/>
            <p:nvPr/>
          </p:nvSpPr>
          <p:spPr>
            <a:xfrm>
              <a:off x="475488" y="3602736"/>
              <a:ext cx="475488" cy="475488"/>
            </a:xfrm>
            <a:prstGeom prst="roundRect">
              <a:avLst>
                <a:gd name="adj" fmla="val 13462"/>
              </a:avLst>
            </a:prstGeom>
            <a:solidFill>
              <a:srgbClr val="8B0000"/>
            </a:solidFill>
            <a:ln/>
          </p:spPr>
        </p:sp>
        <p:pic>
          <p:nvPicPr>
            <p:cNvPr id="33" name="Image 3" descr="preencoded.png">
              <a:extLst>
                <a:ext uri="{FF2B5EF4-FFF2-40B4-BE49-F238E27FC236}">
                  <a16:creationId xmlns:a16="http://schemas.microsoft.com/office/drawing/2014/main" id="{D5B70443-F5DF-D469-914A-86C735A89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2064" y="3639312"/>
              <a:ext cx="402336" cy="402336"/>
            </a:xfrm>
            <a:prstGeom prst="rect">
              <a:avLst/>
            </a:prstGeom>
          </p:spPr>
        </p:pic>
        <p:sp>
          <p:nvSpPr>
            <p:cNvPr id="34" name="Text 23">
              <a:extLst>
                <a:ext uri="{FF2B5EF4-FFF2-40B4-BE49-F238E27FC236}">
                  <a16:creationId xmlns:a16="http://schemas.microsoft.com/office/drawing/2014/main" id="{F6C7249C-F55E-E827-8B3B-6C98ACA0BB88}"/>
                </a:ext>
              </a:extLst>
            </p:cNvPr>
            <p:cNvSpPr/>
            <p:nvPr/>
          </p:nvSpPr>
          <p:spPr>
            <a:xfrm>
              <a:off x="1051560" y="3566160"/>
              <a:ext cx="50292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Donation Cooldown Tracker</a:t>
              </a:r>
              <a:endParaRPr lang="en-US" sz="1200" dirty="0"/>
            </a:p>
          </p:txBody>
        </p:sp>
        <p:sp>
          <p:nvSpPr>
            <p:cNvPr id="35" name="Text 24">
              <a:extLst>
                <a:ext uri="{FF2B5EF4-FFF2-40B4-BE49-F238E27FC236}">
                  <a16:creationId xmlns:a16="http://schemas.microsoft.com/office/drawing/2014/main" id="{5068500C-E1BF-0ED3-D4D1-9A309A0A91D9}"/>
                </a:ext>
              </a:extLst>
            </p:cNvPr>
            <p:cNvSpPr/>
            <p:nvPr/>
          </p:nvSpPr>
          <p:spPr>
            <a:xfrm>
              <a:off x="1051560" y="3831336"/>
              <a:ext cx="6035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System calculates days since last donation and shows colour-coded status: Ready (green), Cooling Down (amber), Blocked (red) on donor profile.</a:t>
              </a:r>
              <a:endParaRPr lang="en-US" sz="1000" dirty="0"/>
            </a:p>
          </p:txBody>
        </p:sp>
        <p:sp>
          <p:nvSpPr>
            <p:cNvPr id="36" name="Shape 25">
              <a:extLst>
                <a:ext uri="{FF2B5EF4-FFF2-40B4-BE49-F238E27FC236}">
                  <a16:creationId xmlns:a16="http://schemas.microsoft.com/office/drawing/2014/main" id="{08E513AF-762F-B599-0633-49D253FCD2C2}"/>
                </a:ext>
              </a:extLst>
            </p:cNvPr>
            <p:cNvSpPr/>
            <p:nvPr/>
          </p:nvSpPr>
          <p:spPr>
            <a:xfrm>
              <a:off x="7360920" y="3639312"/>
              <a:ext cx="1417320" cy="411480"/>
            </a:xfrm>
            <a:prstGeom prst="roundRect">
              <a:avLst>
                <a:gd name="adj" fmla="val 15556"/>
              </a:avLst>
            </a:prstGeom>
            <a:solidFill>
              <a:srgbClr val="FDEAEA"/>
            </a:solidFill>
            <a:ln/>
          </p:spPr>
        </p:sp>
        <p:sp>
          <p:nvSpPr>
            <p:cNvPr id="37" name="Text 26">
              <a:extLst>
                <a:ext uri="{FF2B5EF4-FFF2-40B4-BE49-F238E27FC236}">
                  <a16:creationId xmlns:a16="http://schemas.microsoft.com/office/drawing/2014/main" id="{9B4EA0FF-C586-D0B9-D61C-25C4EDB133CD}"/>
                </a:ext>
              </a:extLst>
            </p:cNvPr>
            <p:cNvSpPr/>
            <p:nvPr/>
          </p:nvSpPr>
          <p:spPr>
            <a:xfrm>
              <a:off x="7360920" y="3639312"/>
              <a:ext cx="1417320" cy="411480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B0000"/>
                  </a:solidFill>
                </a:rPr>
                <a:t>Business Logic: date arithmetic + UI binding</a:t>
              </a:r>
              <a:endParaRPr lang="en-US" sz="800" dirty="0"/>
            </a:p>
          </p:txBody>
        </p:sp>
        <p:sp>
          <p:nvSpPr>
            <p:cNvPr id="38" name="Shape 27">
              <a:extLst>
                <a:ext uri="{FF2B5EF4-FFF2-40B4-BE49-F238E27FC236}">
                  <a16:creationId xmlns:a16="http://schemas.microsoft.com/office/drawing/2014/main" id="{365DD5C3-5E8B-E9ED-FE0D-069C79F292F1}"/>
                </a:ext>
              </a:extLst>
            </p:cNvPr>
            <p:cNvSpPr/>
            <p:nvPr/>
          </p:nvSpPr>
          <p:spPr>
            <a:xfrm>
              <a:off x="365760" y="4261104"/>
              <a:ext cx="6858000" cy="658368"/>
            </a:xfrm>
            <a:prstGeom prst="roundRect">
              <a:avLst>
                <a:gd name="adj" fmla="val 11111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39" name="Shape 28">
              <a:extLst>
                <a:ext uri="{FF2B5EF4-FFF2-40B4-BE49-F238E27FC236}">
                  <a16:creationId xmlns:a16="http://schemas.microsoft.com/office/drawing/2014/main" id="{D0E79529-D868-C081-763A-F1B7E26C5ED9}"/>
                </a:ext>
              </a:extLst>
            </p:cNvPr>
            <p:cNvSpPr/>
            <p:nvPr/>
          </p:nvSpPr>
          <p:spPr>
            <a:xfrm>
              <a:off x="475488" y="4352544"/>
              <a:ext cx="475488" cy="475488"/>
            </a:xfrm>
            <a:prstGeom prst="roundRect">
              <a:avLst>
                <a:gd name="adj" fmla="val 13462"/>
              </a:avLst>
            </a:prstGeom>
            <a:solidFill>
              <a:srgbClr val="8B0000"/>
            </a:solidFill>
            <a:ln/>
          </p:spPr>
        </p:sp>
        <p:pic>
          <p:nvPicPr>
            <p:cNvPr id="40" name="Image 4" descr="preencoded.png">
              <a:extLst>
                <a:ext uri="{FF2B5EF4-FFF2-40B4-BE49-F238E27FC236}">
                  <a16:creationId xmlns:a16="http://schemas.microsoft.com/office/drawing/2014/main" id="{D741166F-6DA3-3144-7FD2-730863B7C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2064" y="4389120"/>
              <a:ext cx="402336" cy="402336"/>
            </a:xfrm>
            <a:prstGeom prst="rect">
              <a:avLst/>
            </a:prstGeom>
          </p:spPr>
        </p:pic>
        <p:sp>
          <p:nvSpPr>
            <p:cNvPr id="41" name="Text 29">
              <a:extLst>
                <a:ext uri="{FF2B5EF4-FFF2-40B4-BE49-F238E27FC236}">
                  <a16:creationId xmlns:a16="http://schemas.microsoft.com/office/drawing/2014/main" id="{24E2681B-77F6-6A24-4044-17119035F5C4}"/>
                </a:ext>
              </a:extLst>
            </p:cNvPr>
            <p:cNvSpPr/>
            <p:nvPr/>
          </p:nvSpPr>
          <p:spPr>
            <a:xfrm>
              <a:off x="1051560" y="4315968"/>
              <a:ext cx="50292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Password Reset &amp; Profile Edit</a:t>
              </a:r>
              <a:endParaRPr lang="en-US" sz="1200" dirty="0"/>
            </a:p>
          </p:txBody>
        </p:sp>
        <p:sp>
          <p:nvSpPr>
            <p:cNvPr id="42" name="Text 30">
              <a:extLst>
                <a:ext uri="{FF2B5EF4-FFF2-40B4-BE49-F238E27FC236}">
                  <a16:creationId xmlns:a16="http://schemas.microsoft.com/office/drawing/2014/main" id="{332F2FA8-985B-2B3F-EC14-258F269ACF53}"/>
                </a:ext>
              </a:extLst>
            </p:cNvPr>
            <p:cNvSpPr/>
            <p:nvPr/>
          </p:nvSpPr>
          <p:spPr>
            <a:xfrm>
              <a:off x="1051560" y="4581144"/>
              <a:ext cx="6035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Donors and requesters can update contact info, address, and password securely through a validated form with confirmation dialogs.</a:t>
              </a:r>
              <a:endParaRPr lang="en-US" sz="1000" dirty="0"/>
            </a:p>
          </p:txBody>
        </p:sp>
        <p:sp>
          <p:nvSpPr>
            <p:cNvPr id="43" name="Shape 31">
              <a:extLst>
                <a:ext uri="{FF2B5EF4-FFF2-40B4-BE49-F238E27FC236}">
                  <a16:creationId xmlns:a16="http://schemas.microsoft.com/office/drawing/2014/main" id="{8C9C8AC1-4D1C-6631-99B5-5260250D0D9A}"/>
                </a:ext>
              </a:extLst>
            </p:cNvPr>
            <p:cNvSpPr/>
            <p:nvPr/>
          </p:nvSpPr>
          <p:spPr>
            <a:xfrm>
              <a:off x="7360920" y="4389120"/>
              <a:ext cx="1417320" cy="411480"/>
            </a:xfrm>
            <a:prstGeom prst="roundRect">
              <a:avLst>
                <a:gd name="adj" fmla="val 15556"/>
              </a:avLst>
            </a:prstGeom>
            <a:solidFill>
              <a:srgbClr val="FDEAEA"/>
            </a:solidFill>
            <a:ln/>
          </p:spPr>
        </p:sp>
        <p:sp>
          <p:nvSpPr>
            <p:cNvPr id="44" name="Text 32">
              <a:extLst>
                <a:ext uri="{FF2B5EF4-FFF2-40B4-BE49-F238E27FC236}">
                  <a16:creationId xmlns:a16="http://schemas.microsoft.com/office/drawing/2014/main" id="{8DF99E7C-1D27-CC75-C199-B5FC6AFFABD3}"/>
                </a:ext>
              </a:extLst>
            </p:cNvPr>
            <p:cNvSpPr/>
            <p:nvPr/>
          </p:nvSpPr>
          <p:spPr>
            <a:xfrm>
              <a:off x="7360920" y="4389120"/>
              <a:ext cx="1417320" cy="411480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B0000"/>
                  </a:solidFill>
                </a:rPr>
                <a:t>JavaFX: Form validation + event handlers</a:t>
              </a:r>
              <a:endParaRPr lang="en-US" sz="800" dirty="0"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26810" y="3640299"/>
            <a:ext cx="1384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5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900285" cy="467995"/>
          </a:xfrm>
          <a:custGeom>
            <a:avLst/>
            <a:gdLst/>
            <a:ahLst/>
            <a:cxnLst/>
            <a:rect l="l" t="t" r="r" b="b"/>
            <a:pathLst>
              <a:path w="9900285" h="467995">
                <a:moveTo>
                  <a:pt x="9900000" y="0"/>
                </a:moveTo>
                <a:lnTo>
                  <a:pt x="0" y="0"/>
                </a:lnTo>
                <a:lnTo>
                  <a:pt x="0" y="467999"/>
                </a:lnTo>
                <a:lnTo>
                  <a:pt x="9900000" y="467999"/>
                </a:lnTo>
                <a:lnTo>
                  <a:pt x="9900000" y="0"/>
                </a:lnTo>
                <a:close/>
              </a:path>
            </a:pathLst>
          </a:custGeom>
          <a:solidFill>
            <a:srgbClr val="8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253999"/>
            <a:ext cx="9900285" cy="54610"/>
          </a:xfrm>
          <a:custGeom>
            <a:avLst/>
            <a:gdLst/>
            <a:ahLst/>
            <a:cxnLst/>
            <a:rect l="l" t="t" r="r" b="b"/>
            <a:pathLst>
              <a:path w="9900285" h="54609">
                <a:moveTo>
                  <a:pt x="9900000" y="0"/>
                </a:moveTo>
                <a:lnTo>
                  <a:pt x="0" y="0"/>
                </a:lnTo>
                <a:lnTo>
                  <a:pt x="0" y="54000"/>
                </a:lnTo>
                <a:lnTo>
                  <a:pt x="9900000" y="54000"/>
                </a:lnTo>
                <a:lnTo>
                  <a:pt x="9900000" y="0"/>
                </a:lnTo>
                <a:close/>
              </a:path>
            </a:pathLst>
          </a:custGeom>
          <a:solidFill>
            <a:srgbClr val="BF38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300" y="140899"/>
            <a:ext cx="847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59253" y="1200068"/>
            <a:ext cx="9710799" cy="49500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User Roles</a:t>
            </a:r>
            <a:endParaRPr sz="28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95C8D2D-B04B-901D-6B74-41A8CC4490FC}"/>
              </a:ext>
            </a:extLst>
          </p:cNvPr>
          <p:cNvGrpSpPr/>
          <p:nvPr/>
        </p:nvGrpSpPr>
        <p:grpSpPr>
          <a:xfrm>
            <a:off x="359253" y="2276475"/>
            <a:ext cx="9137081" cy="3995043"/>
            <a:chOff x="274320" y="1325880"/>
            <a:chExt cx="8595360" cy="3758184"/>
          </a:xfrm>
        </p:grpSpPr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A8ADDCE0-F113-19FA-7DB5-0319D0017BFC}"/>
                </a:ext>
              </a:extLst>
            </p:cNvPr>
            <p:cNvSpPr/>
            <p:nvPr/>
          </p:nvSpPr>
          <p:spPr>
            <a:xfrm>
              <a:off x="274320" y="1325880"/>
              <a:ext cx="2697480" cy="3566160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7" name="Shape 4">
              <a:extLst>
                <a:ext uri="{FF2B5EF4-FFF2-40B4-BE49-F238E27FC236}">
                  <a16:creationId xmlns:a16="http://schemas.microsoft.com/office/drawing/2014/main" id="{733CB0B5-8DC2-2321-87AF-694D29ABC5DC}"/>
                </a:ext>
              </a:extLst>
            </p:cNvPr>
            <p:cNvSpPr/>
            <p:nvPr/>
          </p:nvSpPr>
          <p:spPr>
            <a:xfrm>
              <a:off x="1051560" y="1463040"/>
              <a:ext cx="1143000" cy="1143000"/>
            </a:xfrm>
            <a:prstGeom prst="roundRect">
              <a:avLst>
                <a:gd name="adj" fmla="val 9600"/>
              </a:avLst>
            </a:prstGeom>
            <a:solidFill>
              <a:srgbClr val="8B0000"/>
            </a:solidFill>
            <a:ln/>
          </p:spPr>
        </p:sp>
        <p:pic>
          <p:nvPicPr>
            <p:cNvPr id="28" name="Image 0" descr="preencoded.png">
              <a:extLst>
                <a:ext uri="{FF2B5EF4-FFF2-40B4-BE49-F238E27FC236}">
                  <a16:creationId xmlns:a16="http://schemas.microsoft.com/office/drawing/2014/main" id="{EE5B4F67-8B38-A801-2091-1BFE08F09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3000" y="1554480"/>
              <a:ext cx="960120" cy="960120"/>
            </a:xfrm>
            <a:prstGeom prst="rect">
              <a:avLst/>
            </a:prstGeom>
          </p:spPr>
        </p:pic>
        <p:sp>
          <p:nvSpPr>
            <p:cNvPr id="29" name="Text 5">
              <a:extLst>
                <a:ext uri="{FF2B5EF4-FFF2-40B4-BE49-F238E27FC236}">
                  <a16:creationId xmlns:a16="http://schemas.microsoft.com/office/drawing/2014/main" id="{2D27EEB1-DCF3-23F8-9E34-6080EDD3DA7B}"/>
                </a:ext>
              </a:extLst>
            </p:cNvPr>
            <p:cNvSpPr/>
            <p:nvPr/>
          </p:nvSpPr>
          <p:spPr>
            <a:xfrm>
              <a:off x="365760" y="2743200"/>
              <a:ext cx="2514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kern="0" spc="200" dirty="0">
                  <a:solidFill>
                    <a:srgbClr val="8B0000"/>
                  </a:solidFill>
                </a:rPr>
                <a:t>DONOR</a:t>
              </a:r>
              <a:endParaRPr lang="en-US" sz="1400" dirty="0"/>
            </a:p>
          </p:txBody>
        </p:sp>
        <p:sp>
          <p:nvSpPr>
            <p:cNvPr id="30" name="Text 6">
              <a:extLst>
                <a:ext uri="{FF2B5EF4-FFF2-40B4-BE49-F238E27FC236}">
                  <a16:creationId xmlns:a16="http://schemas.microsoft.com/office/drawing/2014/main" id="{5AAC9458-6CB4-A05A-C04A-0735B0598AF9}"/>
                </a:ext>
              </a:extLst>
            </p:cNvPr>
            <p:cNvSpPr/>
            <p:nvPr/>
          </p:nvSpPr>
          <p:spPr>
            <a:xfrm>
              <a:off x="457200" y="3154680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Register with blood group, district, health info</a:t>
              </a:r>
              <a:endParaRPr lang="en-US" sz="1000" dirty="0"/>
            </a:p>
          </p:txBody>
        </p:sp>
        <p:sp>
          <p:nvSpPr>
            <p:cNvPr id="31" name="Text 7">
              <a:extLst>
                <a:ext uri="{FF2B5EF4-FFF2-40B4-BE49-F238E27FC236}">
                  <a16:creationId xmlns:a16="http://schemas.microsoft.com/office/drawing/2014/main" id="{1EBDACA8-2A9A-AF89-410D-5D6825C16B14}"/>
                </a:ext>
              </a:extLst>
            </p:cNvPr>
            <p:cNvSpPr/>
            <p:nvPr/>
          </p:nvSpPr>
          <p:spPr>
            <a:xfrm>
              <a:off x="457200" y="3502152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Toggle availability status anytime</a:t>
              </a:r>
              <a:endParaRPr lang="en-US" sz="1000" dirty="0"/>
            </a:p>
          </p:txBody>
        </p:sp>
        <p:sp>
          <p:nvSpPr>
            <p:cNvPr id="32" name="Text 8">
              <a:extLst>
                <a:ext uri="{FF2B5EF4-FFF2-40B4-BE49-F238E27FC236}">
                  <a16:creationId xmlns:a16="http://schemas.microsoft.com/office/drawing/2014/main" id="{3532FC1F-6369-D13A-A9CB-E89615EA6597}"/>
                </a:ext>
              </a:extLst>
            </p:cNvPr>
            <p:cNvSpPr/>
            <p:nvPr/>
          </p:nvSpPr>
          <p:spPr>
            <a:xfrm>
              <a:off x="457200" y="3849624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View and respond to match notifications</a:t>
              </a:r>
              <a:endParaRPr lang="en-US" sz="1000" dirty="0"/>
            </a:p>
          </p:txBody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F0B69FD7-71C0-469D-7F87-49BF199EEE57}"/>
                </a:ext>
              </a:extLst>
            </p:cNvPr>
            <p:cNvSpPr/>
            <p:nvPr/>
          </p:nvSpPr>
          <p:spPr>
            <a:xfrm>
              <a:off x="457200" y="4197096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Track donation history &amp; cooldown status</a:t>
              </a:r>
              <a:endParaRPr lang="en-US" sz="1000" dirty="0"/>
            </a:p>
          </p:txBody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E572E325-D735-375E-C1B9-1CBA6AEF2036}"/>
                </a:ext>
              </a:extLst>
            </p:cNvPr>
            <p:cNvSpPr/>
            <p:nvPr/>
          </p:nvSpPr>
          <p:spPr>
            <a:xfrm>
              <a:off x="457200" y="4544568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View earned achievement badges on profile</a:t>
              </a:r>
              <a:endParaRPr lang="en-US" sz="1000" dirty="0"/>
            </a:p>
          </p:txBody>
        </p:sp>
        <p:sp>
          <p:nvSpPr>
            <p:cNvPr id="35" name="Shape 11">
              <a:extLst>
                <a:ext uri="{FF2B5EF4-FFF2-40B4-BE49-F238E27FC236}">
                  <a16:creationId xmlns:a16="http://schemas.microsoft.com/office/drawing/2014/main" id="{41862B20-59C8-E75E-03B3-4BF94CFFD999}"/>
                </a:ext>
              </a:extLst>
            </p:cNvPr>
            <p:cNvSpPr/>
            <p:nvPr/>
          </p:nvSpPr>
          <p:spPr>
            <a:xfrm>
              <a:off x="3182112" y="1325880"/>
              <a:ext cx="2697480" cy="3566160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6" name="Shape 12">
              <a:extLst>
                <a:ext uri="{FF2B5EF4-FFF2-40B4-BE49-F238E27FC236}">
                  <a16:creationId xmlns:a16="http://schemas.microsoft.com/office/drawing/2014/main" id="{DC9104CE-8A9D-10E8-A1E9-FBAC521C1CBC}"/>
                </a:ext>
              </a:extLst>
            </p:cNvPr>
            <p:cNvSpPr/>
            <p:nvPr/>
          </p:nvSpPr>
          <p:spPr>
            <a:xfrm>
              <a:off x="3959352" y="1463040"/>
              <a:ext cx="1143000" cy="1143000"/>
            </a:xfrm>
            <a:prstGeom prst="roundRect">
              <a:avLst>
                <a:gd name="adj" fmla="val 9600"/>
              </a:avLst>
            </a:prstGeom>
            <a:solidFill>
              <a:srgbClr val="1565C0"/>
            </a:solidFill>
            <a:ln/>
          </p:spPr>
        </p:sp>
        <p:pic>
          <p:nvPicPr>
            <p:cNvPr id="37" name="Image 1" descr="preencoded.png">
              <a:extLst>
                <a:ext uri="{FF2B5EF4-FFF2-40B4-BE49-F238E27FC236}">
                  <a16:creationId xmlns:a16="http://schemas.microsoft.com/office/drawing/2014/main" id="{9DA0AEB3-EBFF-3A57-5C1C-96A093BB6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50792" y="1554480"/>
              <a:ext cx="960120" cy="960120"/>
            </a:xfrm>
            <a:prstGeom prst="rect">
              <a:avLst/>
            </a:prstGeom>
          </p:spPr>
        </p:pic>
        <p:sp>
          <p:nvSpPr>
            <p:cNvPr id="38" name="Text 13">
              <a:extLst>
                <a:ext uri="{FF2B5EF4-FFF2-40B4-BE49-F238E27FC236}">
                  <a16:creationId xmlns:a16="http://schemas.microsoft.com/office/drawing/2014/main" id="{FEC257EE-D4A0-95A4-C3AF-D9C9AE1872C2}"/>
                </a:ext>
              </a:extLst>
            </p:cNvPr>
            <p:cNvSpPr/>
            <p:nvPr/>
          </p:nvSpPr>
          <p:spPr>
            <a:xfrm>
              <a:off x="3273552" y="2743200"/>
              <a:ext cx="2514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kern="0" spc="200" dirty="0">
                  <a:solidFill>
                    <a:srgbClr val="1565C0"/>
                  </a:solidFill>
                </a:rPr>
                <a:t>REQUESTER</a:t>
              </a:r>
              <a:endParaRPr lang="en-US" sz="1400" dirty="0"/>
            </a:p>
          </p:txBody>
        </p:sp>
        <p:sp>
          <p:nvSpPr>
            <p:cNvPr id="39" name="Text 14">
              <a:extLst>
                <a:ext uri="{FF2B5EF4-FFF2-40B4-BE49-F238E27FC236}">
                  <a16:creationId xmlns:a16="http://schemas.microsoft.com/office/drawing/2014/main" id="{0632655E-FF7F-28D0-EF9D-96EF2ACE9E8A}"/>
                </a:ext>
              </a:extLst>
            </p:cNvPr>
            <p:cNvSpPr/>
            <p:nvPr/>
          </p:nvSpPr>
          <p:spPr>
            <a:xfrm>
              <a:off x="3364992" y="3154680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Submit emergency blood request with urgency</a:t>
              </a:r>
              <a:endParaRPr lang="en-US" sz="1000" dirty="0"/>
            </a:p>
          </p:txBody>
        </p:sp>
        <p:sp>
          <p:nvSpPr>
            <p:cNvPr id="40" name="Text 15">
              <a:extLst>
                <a:ext uri="{FF2B5EF4-FFF2-40B4-BE49-F238E27FC236}">
                  <a16:creationId xmlns:a16="http://schemas.microsoft.com/office/drawing/2014/main" id="{12EB7E8D-B2A0-DC6B-0156-2EAE31EC7E8D}"/>
                </a:ext>
              </a:extLst>
            </p:cNvPr>
            <p:cNvSpPr/>
            <p:nvPr/>
          </p:nvSpPr>
          <p:spPr>
            <a:xfrm>
              <a:off x="3364992" y="3502152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View ranked list of matched eligible donors</a:t>
              </a:r>
              <a:endParaRPr lang="en-US" sz="1000" dirty="0"/>
            </a:p>
          </p:txBody>
        </p:sp>
        <p:sp>
          <p:nvSpPr>
            <p:cNvPr id="41" name="Text 16">
              <a:extLst>
                <a:ext uri="{FF2B5EF4-FFF2-40B4-BE49-F238E27FC236}">
                  <a16:creationId xmlns:a16="http://schemas.microsoft.com/office/drawing/2014/main" id="{CAD29D88-F8E7-1C1D-9823-89DA70CC5BC3}"/>
                </a:ext>
              </a:extLst>
            </p:cNvPr>
            <p:cNvSpPr/>
            <p:nvPr/>
          </p:nvSpPr>
          <p:spPr>
            <a:xfrm>
              <a:off x="3364992" y="3849624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Track request status in real time</a:t>
              </a:r>
              <a:endParaRPr lang="en-US" sz="1000" dirty="0"/>
            </a:p>
          </p:txBody>
        </p:sp>
        <p:sp>
          <p:nvSpPr>
            <p:cNvPr id="42" name="Text 17">
              <a:extLst>
                <a:ext uri="{FF2B5EF4-FFF2-40B4-BE49-F238E27FC236}">
                  <a16:creationId xmlns:a16="http://schemas.microsoft.com/office/drawing/2014/main" id="{B61103F2-ED75-B420-2C6A-D8C669E5DC1B}"/>
                </a:ext>
              </a:extLst>
            </p:cNvPr>
            <p:cNvSpPr/>
            <p:nvPr/>
          </p:nvSpPr>
          <p:spPr>
            <a:xfrm>
              <a:off x="3364992" y="4197096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Mark request as Fulfilled when complete</a:t>
              </a:r>
              <a:endParaRPr lang="en-US" sz="1000" dirty="0"/>
            </a:p>
          </p:txBody>
        </p:sp>
        <p:sp>
          <p:nvSpPr>
            <p:cNvPr id="43" name="Text 18">
              <a:extLst>
                <a:ext uri="{FF2B5EF4-FFF2-40B4-BE49-F238E27FC236}">
                  <a16:creationId xmlns:a16="http://schemas.microsoft.com/office/drawing/2014/main" id="{E411B1CF-34FB-BE5B-FC8F-AF342E1772A2}"/>
                </a:ext>
              </a:extLst>
            </p:cNvPr>
            <p:cNvSpPr/>
            <p:nvPr/>
          </p:nvSpPr>
          <p:spPr>
            <a:xfrm>
              <a:off x="3364992" y="4544568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View history of all past requests</a:t>
              </a:r>
              <a:endParaRPr lang="en-US" sz="1000" dirty="0"/>
            </a:p>
          </p:txBody>
        </p:sp>
        <p:sp>
          <p:nvSpPr>
            <p:cNvPr id="44" name="Shape 19">
              <a:extLst>
                <a:ext uri="{FF2B5EF4-FFF2-40B4-BE49-F238E27FC236}">
                  <a16:creationId xmlns:a16="http://schemas.microsoft.com/office/drawing/2014/main" id="{D1A375ED-2711-0CA1-563D-131A4B434606}"/>
                </a:ext>
              </a:extLst>
            </p:cNvPr>
            <p:cNvSpPr/>
            <p:nvPr/>
          </p:nvSpPr>
          <p:spPr>
            <a:xfrm>
              <a:off x="6089904" y="1325880"/>
              <a:ext cx="2697480" cy="3566160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5" name="Shape 20">
              <a:extLst>
                <a:ext uri="{FF2B5EF4-FFF2-40B4-BE49-F238E27FC236}">
                  <a16:creationId xmlns:a16="http://schemas.microsoft.com/office/drawing/2014/main" id="{DC31CBFA-C236-A636-5F77-29A05E3EADFC}"/>
                </a:ext>
              </a:extLst>
            </p:cNvPr>
            <p:cNvSpPr/>
            <p:nvPr/>
          </p:nvSpPr>
          <p:spPr>
            <a:xfrm>
              <a:off x="6867144" y="1463040"/>
              <a:ext cx="1143000" cy="1143000"/>
            </a:xfrm>
            <a:prstGeom prst="roundRect">
              <a:avLst>
                <a:gd name="adj" fmla="val 9600"/>
              </a:avLst>
            </a:prstGeom>
            <a:solidFill>
              <a:srgbClr val="2E7D32"/>
            </a:solidFill>
            <a:ln/>
          </p:spPr>
        </p:sp>
        <p:pic>
          <p:nvPicPr>
            <p:cNvPr id="46" name="Image 2" descr="preencoded.png">
              <a:extLst>
                <a:ext uri="{FF2B5EF4-FFF2-40B4-BE49-F238E27FC236}">
                  <a16:creationId xmlns:a16="http://schemas.microsoft.com/office/drawing/2014/main" id="{F7C10E50-ED26-DD0C-FB73-E6F2257BE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58584" y="1554480"/>
              <a:ext cx="960120" cy="960120"/>
            </a:xfrm>
            <a:prstGeom prst="rect">
              <a:avLst/>
            </a:prstGeom>
          </p:spPr>
        </p:pic>
        <p:sp>
          <p:nvSpPr>
            <p:cNvPr id="47" name="Text 21">
              <a:extLst>
                <a:ext uri="{FF2B5EF4-FFF2-40B4-BE49-F238E27FC236}">
                  <a16:creationId xmlns:a16="http://schemas.microsoft.com/office/drawing/2014/main" id="{CF4CC9CE-1C05-9515-C9E8-67CBDA23A261}"/>
                </a:ext>
              </a:extLst>
            </p:cNvPr>
            <p:cNvSpPr/>
            <p:nvPr/>
          </p:nvSpPr>
          <p:spPr>
            <a:xfrm>
              <a:off x="6181344" y="2743200"/>
              <a:ext cx="2514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kern="0" spc="200" dirty="0">
                  <a:solidFill>
                    <a:srgbClr val="2E7D32"/>
                  </a:solidFill>
                </a:rPr>
                <a:t>ADMIN</a:t>
              </a:r>
              <a:endParaRPr lang="en-US" sz="1400" dirty="0"/>
            </a:p>
          </p:txBody>
        </p:sp>
        <p:sp>
          <p:nvSpPr>
            <p:cNvPr id="48" name="Text 22">
              <a:extLst>
                <a:ext uri="{FF2B5EF4-FFF2-40B4-BE49-F238E27FC236}">
                  <a16:creationId xmlns:a16="http://schemas.microsoft.com/office/drawing/2014/main" id="{FBAD7A22-D2EF-6F69-F584-705B2EE52586}"/>
                </a:ext>
              </a:extLst>
            </p:cNvPr>
            <p:cNvSpPr/>
            <p:nvPr/>
          </p:nvSpPr>
          <p:spPr>
            <a:xfrm>
              <a:off x="6272784" y="3154680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View all requests and donor registry</a:t>
              </a:r>
              <a:endParaRPr lang="en-US" sz="1000" dirty="0"/>
            </a:p>
          </p:txBody>
        </p:sp>
        <p:sp>
          <p:nvSpPr>
            <p:cNvPr id="49" name="Text 23">
              <a:extLst>
                <a:ext uri="{FF2B5EF4-FFF2-40B4-BE49-F238E27FC236}">
                  <a16:creationId xmlns:a16="http://schemas.microsoft.com/office/drawing/2014/main" id="{DAE12D14-9505-3F72-CA71-6A5373FCFAFC}"/>
                </a:ext>
              </a:extLst>
            </p:cNvPr>
            <p:cNvSpPr/>
            <p:nvPr/>
          </p:nvSpPr>
          <p:spPr>
            <a:xfrm>
              <a:off x="6272784" y="3502152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Manage users: approve, suspend, reset</a:t>
              </a:r>
              <a:endParaRPr lang="en-US" sz="1000" dirty="0"/>
            </a:p>
          </p:txBody>
        </p:sp>
        <p:sp>
          <p:nvSpPr>
            <p:cNvPr id="50" name="Text 24">
              <a:extLst>
                <a:ext uri="{FF2B5EF4-FFF2-40B4-BE49-F238E27FC236}">
                  <a16:creationId xmlns:a16="http://schemas.microsoft.com/office/drawing/2014/main" id="{CA350520-6E10-157E-DF1A-4971F734B951}"/>
                </a:ext>
              </a:extLst>
            </p:cNvPr>
            <p:cNvSpPr/>
            <p:nvPr/>
          </p:nvSpPr>
          <p:spPr>
            <a:xfrm>
              <a:off x="6272784" y="3849624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View analytics: demand charts, statistics</a:t>
              </a:r>
              <a:endParaRPr lang="en-US" sz="1000" dirty="0"/>
            </a:p>
          </p:txBody>
        </p:sp>
        <p:sp>
          <p:nvSpPr>
            <p:cNvPr id="51" name="Text 25">
              <a:extLst>
                <a:ext uri="{FF2B5EF4-FFF2-40B4-BE49-F238E27FC236}">
                  <a16:creationId xmlns:a16="http://schemas.microsoft.com/office/drawing/2014/main" id="{6455796B-F61F-5D89-A0C7-955BA1F8F62C}"/>
                </a:ext>
              </a:extLst>
            </p:cNvPr>
            <p:cNvSpPr/>
            <p:nvPr/>
          </p:nvSpPr>
          <p:spPr>
            <a:xfrm>
              <a:off x="6272784" y="4197096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Manually escalate or close requests</a:t>
              </a:r>
              <a:endParaRPr lang="en-US" sz="1000" dirty="0"/>
            </a:p>
          </p:txBody>
        </p:sp>
        <p:sp>
          <p:nvSpPr>
            <p:cNvPr id="52" name="Text 26">
              <a:extLst>
                <a:ext uri="{FF2B5EF4-FFF2-40B4-BE49-F238E27FC236}">
                  <a16:creationId xmlns:a16="http://schemas.microsoft.com/office/drawing/2014/main" id="{65380F2E-5E18-B0D0-6FEF-4A193D1E6F23}"/>
                </a:ext>
              </a:extLst>
            </p:cNvPr>
            <p:cNvSpPr/>
            <p:nvPr/>
          </p:nvSpPr>
          <p:spPr>
            <a:xfrm>
              <a:off x="6272784" y="4544568"/>
              <a:ext cx="2377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›  Access full system audit log</a:t>
              </a:r>
              <a:endParaRPr lang="en-US" sz="1000" dirty="0"/>
            </a:p>
          </p:txBody>
        </p:sp>
        <p:sp>
          <p:nvSpPr>
            <p:cNvPr id="53" name="Text 27">
              <a:extLst>
                <a:ext uri="{FF2B5EF4-FFF2-40B4-BE49-F238E27FC236}">
                  <a16:creationId xmlns:a16="http://schemas.microsoft.com/office/drawing/2014/main" id="{BEDBB4CF-0BD8-907C-317C-BAA22E255305}"/>
                </a:ext>
              </a:extLst>
            </p:cNvPr>
            <p:cNvSpPr/>
            <p:nvPr/>
          </p:nvSpPr>
          <p:spPr>
            <a:xfrm>
              <a:off x="274320" y="4828032"/>
              <a:ext cx="8595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00" dirty="0"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11">
            <a:extLst>
              <a:ext uri="{FF2B5EF4-FFF2-40B4-BE49-F238E27FC236}">
                <a16:creationId xmlns:a16="http://schemas.microsoft.com/office/drawing/2014/main" id="{509CA751-32F1-5D59-ABF0-CDE316DC6BD3}"/>
              </a:ext>
            </a:extLst>
          </p:cNvPr>
          <p:cNvSpPr/>
          <p:nvPr/>
        </p:nvSpPr>
        <p:spPr>
          <a:xfrm>
            <a:off x="6584814" y="4314100"/>
            <a:ext cx="2959310" cy="1795315"/>
          </a:xfrm>
          <a:prstGeom prst="roundRect">
            <a:avLst>
              <a:gd name="adj" fmla="val 4396"/>
            </a:avLst>
          </a:prstGeom>
          <a:solidFill>
            <a:srgbClr val="F8F4F4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Shape 11">
            <a:extLst>
              <a:ext uri="{FF2B5EF4-FFF2-40B4-BE49-F238E27FC236}">
                <a16:creationId xmlns:a16="http://schemas.microsoft.com/office/drawing/2014/main" id="{50C2A085-3BDF-E79F-9378-DCCB5260F31C}"/>
              </a:ext>
            </a:extLst>
          </p:cNvPr>
          <p:cNvSpPr/>
          <p:nvPr/>
        </p:nvSpPr>
        <p:spPr>
          <a:xfrm>
            <a:off x="6584814" y="2263128"/>
            <a:ext cx="2959310" cy="1795315"/>
          </a:xfrm>
          <a:prstGeom prst="roundRect">
            <a:avLst>
              <a:gd name="adj" fmla="val 4396"/>
            </a:avLst>
          </a:prstGeom>
          <a:solidFill>
            <a:srgbClr val="F8F4F4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object 2"/>
          <p:cNvSpPr txBox="1"/>
          <p:nvPr/>
        </p:nvSpPr>
        <p:spPr>
          <a:xfrm>
            <a:off x="10170321" y="3640299"/>
            <a:ext cx="2514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25" dirty="0">
                <a:solidFill>
                  <a:srgbClr val="FFFFFF"/>
                </a:solidFill>
                <a:latin typeface="Arial"/>
                <a:cs typeface="Arial"/>
              </a:rPr>
              <a:t> 10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900285" cy="467995"/>
          </a:xfrm>
          <a:custGeom>
            <a:avLst/>
            <a:gdLst/>
            <a:ahLst/>
            <a:cxnLst/>
            <a:rect l="l" t="t" r="r" b="b"/>
            <a:pathLst>
              <a:path w="9900285" h="467995">
                <a:moveTo>
                  <a:pt x="9900000" y="0"/>
                </a:moveTo>
                <a:lnTo>
                  <a:pt x="0" y="0"/>
                </a:lnTo>
                <a:lnTo>
                  <a:pt x="0" y="467999"/>
                </a:lnTo>
                <a:lnTo>
                  <a:pt x="9900000" y="467999"/>
                </a:lnTo>
                <a:lnTo>
                  <a:pt x="9900000" y="0"/>
                </a:lnTo>
                <a:close/>
              </a:path>
            </a:pathLst>
          </a:custGeom>
          <a:solidFill>
            <a:srgbClr val="8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253999"/>
            <a:ext cx="9900285" cy="54610"/>
          </a:xfrm>
          <a:custGeom>
            <a:avLst/>
            <a:gdLst/>
            <a:ahLst/>
            <a:cxnLst/>
            <a:rect l="l" t="t" r="r" b="b"/>
            <a:pathLst>
              <a:path w="9900285" h="54609">
                <a:moveTo>
                  <a:pt x="9900000" y="0"/>
                </a:moveTo>
                <a:lnTo>
                  <a:pt x="0" y="0"/>
                </a:lnTo>
                <a:lnTo>
                  <a:pt x="0" y="54000"/>
                </a:lnTo>
                <a:lnTo>
                  <a:pt x="9900000" y="54000"/>
                </a:lnTo>
                <a:lnTo>
                  <a:pt x="9900000" y="0"/>
                </a:lnTo>
                <a:close/>
              </a:path>
            </a:pathLst>
          </a:custGeom>
          <a:solidFill>
            <a:srgbClr val="BF38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300" y="140899"/>
            <a:ext cx="1228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ARCHITECTURE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91300" y="1020899"/>
            <a:ext cx="9710799" cy="49500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Module Breakdown</a:t>
            </a:r>
            <a:endParaRPr sz="28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853D7E-E665-9647-58E0-69CD48023173}"/>
              </a:ext>
            </a:extLst>
          </p:cNvPr>
          <p:cNvGrpSpPr/>
          <p:nvPr/>
        </p:nvGrpSpPr>
        <p:grpSpPr>
          <a:xfrm>
            <a:off x="271619" y="2247556"/>
            <a:ext cx="9144268" cy="3768188"/>
            <a:chOff x="320040" y="1298448"/>
            <a:chExt cx="8476488" cy="3493008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6D88C2F6-9B9A-CBDC-8CA7-B9D9909B5F6E}"/>
                </a:ext>
              </a:extLst>
            </p:cNvPr>
            <p:cNvSpPr/>
            <p:nvPr/>
          </p:nvSpPr>
          <p:spPr>
            <a:xfrm>
              <a:off x="320040" y="1298448"/>
              <a:ext cx="2743200" cy="1664208"/>
            </a:xfrm>
            <a:prstGeom prst="roundRect">
              <a:avLst>
                <a:gd name="adj" fmla="val 4396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078B34FF-938F-CF3E-1A79-F5B0869ADE11}"/>
                </a:ext>
              </a:extLst>
            </p:cNvPr>
            <p:cNvSpPr/>
            <p:nvPr/>
          </p:nvSpPr>
          <p:spPr>
            <a:xfrm>
              <a:off x="429768" y="1408176"/>
              <a:ext cx="411480" cy="411480"/>
            </a:xfrm>
            <a:prstGeom prst="roundRect">
              <a:avLst>
                <a:gd name="adj" fmla="val 13333"/>
              </a:avLst>
            </a:prstGeom>
            <a:solidFill>
              <a:srgbClr val="8B0000"/>
            </a:solidFill>
            <a:ln/>
          </p:spPr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1AD837D1-DDD3-87F1-17A5-728451BBA950}"/>
                </a:ext>
              </a:extLst>
            </p:cNvPr>
            <p:cNvSpPr/>
            <p:nvPr/>
          </p:nvSpPr>
          <p:spPr>
            <a:xfrm>
              <a:off x="429768" y="1408176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M1</a:t>
              </a:r>
              <a:endParaRPr lang="en-US" sz="1100" dirty="0"/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C4443EDD-211A-01C3-E51A-D07254211779}"/>
                </a:ext>
              </a:extLst>
            </p:cNvPr>
            <p:cNvSpPr/>
            <p:nvPr/>
          </p:nvSpPr>
          <p:spPr>
            <a:xfrm>
              <a:off x="914400" y="1426464"/>
              <a:ext cx="202996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8B0000"/>
                  </a:solidFill>
                </a:rPr>
                <a:t>Authentication Module</a:t>
              </a:r>
              <a:endParaRPr lang="en-US" sz="1100" dirty="0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D6A9A034-9235-1614-5DC1-187A842256B1}"/>
                </a:ext>
              </a:extLst>
            </p:cNvPr>
            <p:cNvSpPr/>
            <p:nvPr/>
          </p:nvSpPr>
          <p:spPr>
            <a:xfrm>
              <a:off x="448056" y="1892808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Login screen with role detection</a:t>
              </a:r>
              <a:endParaRPr lang="en-US" sz="950" dirty="0"/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95F7EF0B-6853-9C95-E962-D86D3CF7DDDE}"/>
                </a:ext>
              </a:extLst>
            </p:cNvPr>
            <p:cNvSpPr/>
            <p:nvPr/>
          </p:nvSpPr>
          <p:spPr>
            <a:xfrm>
              <a:off x="448056" y="2157984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BCrypt password verification</a:t>
              </a:r>
              <a:endParaRPr lang="en-US" sz="950" dirty="0"/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169E7321-53C3-096C-9C7A-21275C930256}"/>
                </a:ext>
              </a:extLst>
            </p:cNvPr>
            <p:cNvSpPr/>
            <p:nvPr/>
          </p:nvSpPr>
          <p:spPr>
            <a:xfrm>
              <a:off x="448056" y="2423160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Session management (Singleton)</a:t>
              </a:r>
              <a:endParaRPr lang="en-US" sz="950" dirty="0"/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883C0442-2AD5-29E0-6417-942A7DD30E10}"/>
                </a:ext>
              </a:extLst>
            </p:cNvPr>
            <p:cNvSpPr/>
            <p:nvPr/>
          </p:nvSpPr>
          <p:spPr>
            <a:xfrm>
              <a:off x="448056" y="2688336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Registration with validation</a:t>
              </a:r>
              <a:endParaRPr lang="en-US" sz="950" dirty="0"/>
            </a:p>
          </p:txBody>
        </p:sp>
        <p:sp>
          <p:nvSpPr>
            <p:cNvPr id="18" name="Shape 11">
              <a:extLst>
                <a:ext uri="{FF2B5EF4-FFF2-40B4-BE49-F238E27FC236}">
                  <a16:creationId xmlns:a16="http://schemas.microsoft.com/office/drawing/2014/main" id="{7DA3CF76-80F3-D823-F471-961DF980900A}"/>
                </a:ext>
              </a:extLst>
            </p:cNvPr>
            <p:cNvSpPr/>
            <p:nvPr/>
          </p:nvSpPr>
          <p:spPr>
            <a:xfrm>
              <a:off x="3246120" y="1298448"/>
              <a:ext cx="2743200" cy="1664208"/>
            </a:xfrm>
            <a:prstGeom prst="roundRect">
              <a:avLst>
                <a:gd name="adj" fmla="val 4396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9" name="Shape 12">
              <a:extLst>
                <a:ext uri="{FF2B5EF4-FFF2-40B4-BE49-F238E27FC236}">
                  <a16:creationId xmlns:a16="http://schemas.microsoft.com/office/drawing/2014/main" id="{4CCC6F82-4C74-B466-7EA9-E285CE2410DD}"/>
                </a:ext>
              </a:extLst>
            </p:cNvPr>
            <p:cNvSpPr/>
            <p:nvPr/>
          </p:nvSpPr>
          <p:spPr>
            <a:xfrm>
              <a:off x="3355848" y="1408176"/>
              <a:ext cx="411480" cy="411480"/>
            </a:xfrm>
            <a:prstGeom prst="roundRect">
              <a:avLst>
                <a:gd name="adj" fmla="val 13333"/>
              </a:avLst>
            </a:prstGeom>
            <a:solidFill>
              <a:srgbClr val="1565C0"/>
            </a:solidFill>
            <a:ln/>
          </p:spPr>
        </p:sp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04B23298-058E-82CD-B3A1-84C6AFA1BB6D}"/>
                </a:ext>
              </a:extLst>
            </p:cNvPr>
            <p:cNvSpPr/>
            <p:nvPr/>
          </p:nvSpPr>
          <p:spPr>
            <a:xfrm>
              <a:off x="3355848" y="1408176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M2</a:t>
              </a:r>
              <a:endParaRPr lang="en-US" sz="1100" dirty="0"/>
            </a:p>
          </p:txBody>
        </p:sp>
        <p:sp>
          <p:nvSpPr>
            <p:cNvPr id="21" name="Text 14">
              <a:extLst>
                <a:ext uri="{FF2B5EF4-FFF2-40B4-BE49-F238E27FC236}">
                  <a16:creationId xmlns:a16="http://schemas.microsoft.com/office/drawing/2014/main" id="{61507301-A6D4-864A-8F18-62AC27C256EF}"/>
                </a:ext>
              </a:extLst>
            </p:cNvPr>
            <p:cNvSpPr/>
            <p:nvPr/>
          </p:nvSpPr>
          <p:spPr>
            <a:xfrm>
              <a:off x="3840480" y="1426464"/>
              <a:ext cx="202996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565C0"/>
                  </a:solidFill>
                </a:rPr>
                <a:t>Donor Management Module</a:t>
              </a:r>
              <a:endParaRPr lang="en-US" sz="1100" dirty="0"/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E417F941-5860-31DB-681A-72DCB81AFBE6}"/>
                </a:ext>
              </a:extLst>
            </p:cNvPr>
            <p:cNvSpPr/>
            <p:nvPr/>
          </p:nvSpPr>
          <p:spPr>
            <a:xfrm>
              <a:off x="3374136" y="1892808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Donor profile: CRUD operations</a:t>
              </a:r>
              <a:endParaRPr lang="en-US" sz="950" dirty="0"/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B7819CE8-B2E6-0FB9-4249-DDA61E2AA8FC}"/>
                </a:ext>
              </a:extLst>
            </p:cNvPr>
            <p:cNvSpPr/>
            <p:nvPr/>
          </p:nvSpPr>
          <p:spPr>
            <a:xfrm>
              <a:off x="3374136" y="2157984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Status toggle with DB update</a:t>
              </a:r>
              <a:endParaRPr lang="en-US" sz="950" dirty="0"/>
            </a:p>
          </p:txBody>
        </p:sp>
        <p:sp>
          <p:nvSpPr>
            <p:cNvPr id="24" name="Text 17">
              <a:extLst>
                <a:ext uri="{FF2B5EF4-FFF2-40B4-BE49-F238E27FC236}">
                  <a16:creationId xmlns:a16="http://schemas.microsoft.com/office/drawing/2014/main" id="{C4FB939B-C866-6DB6-4AE5-6CCD8B3DE931}"/>
                </a:ext>
              </a:extLst>
            </p:cNvPr>
            <p:cNvSpPr/>
            <p:nvPr/>
          </p:nvSpPr>
          <p:spPr>
            <a:xfrm>
              <a:off x="3374136" y="2423160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Donation history viewer</a:t>
              </a:r>
              <a:endParaRPr lang="en-US" sz="950" dirty="0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3D9531A9-B416-8D8C-8C6B-2B3DD4712778}"/>
                </a:ext>
              </a:extLst>
            </p:cNvPr>
            <p:cNvSpPr/>
            <p:nvPr/>
          </p:nvSpPr>
          <p:spPr>
            <a:xfrm>
              <a:off x="3374136" y="2688336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Cooldown date calculator</a:t>
              </a:r>
              <a:endParaRPr lang="en-US" sz="950" dirty="0"/>
            </a:p>
          </p:txBody>
        </p:sp>
        <p:sp>
          <p:nvSpPr>
            <p:cNvPr id="26" name="Shape 20">
              <a:extLst>
                <a:ext uri="{FF2B5EF4-FFF2-40B4-BE49-F238E27FC236}">
                  <a16:creationId xmlns:a16="http://schemas.microsoft.com/office/drawing/2014/main" id="{8EEE3761-15A4-26D0-F770-B536ECC74418}"/>
                </a:ext>
              </a:extLst>
            </p:cNvPr>
            <p:cNvSpPr/>
            <p:nvPr/>
          </p:nvSpPr>
          <p:spPr>
            <a:xfrm>
              <a:off x="6281928" y="1408176"/>
              <a:ext cx="411480" cy="411480"/>
            </a:xfrm>
            <a:prstGeom prst="roundRect">
              <a:avLst>
                <a:gd name="adj" fmla="val 13333"/>
              </a:avLst>
            </a:prstGeom>
            <a:solidFill>
              <a:srgbClr val="2E7D32"/>
            </a:solidFill>
            <a:ln/>
          </p:spPr>
        </p:sp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E63A4888-860B-88FB-C9B1-8AB51B5F0201}"/>
                </a:ext>
              </a:extLst>
            </p:cNvPr>
            <p:cNvSpPr/>
            <p:nvPr/>
          </p:nvSpPr>
          <p:spPr>
            <a:xfrm>
              <a:off x="6281928" y="1408176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M3</a:t>
              </a:r>
              <a:endParaRPr lang="en-US" sz="1100" dirty="0"/>
            </a:p>
          </p:txBody>
        </p:sp>
        <p:sp>
          <p:nvSpPr>
            <p:cNvPr id="28" name="Text 22">
              <a:extLst>
                <a:ext uri="{FF2B5EF4-FFF2-40B4-BE49-F238E27FC236}">
                  <a16:creationId xmlns:a16="http://schemas.microsoft.com/office/drawing/2014/main" id="{65167BF1-1A38-A583-58BB-83D11EA184C1}"/>
                </a:ext>
              </a:extLst>
            </p:cNvPr>
            <p:cNvSpPr/>
            <p:nvPr/>
          </p:nvSpPr>
          <p:spPr>
            <a:xfrm>
              <a:off x="6766560" y="1426464"/>
              <a:ext cx="202996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2E7D32"/>
                  </a:solidFill>
                </a:rPr>
                <a:t>Request &amp; Matching Module</a:t>
              </a:r>
              <a:endParaRPr lang="en-US" sz="1100" dirty="0"/>
            </a:p>
          </p:txBody>
        </p:sp>
        <p:sp>
          <p:nvSpPr>
            <p:cNvPr id="29" name="Text 23">
              <a:extLst>
                <a:ext uri="{FF2B5EF4-FFF2-40B4-BE49-F238E27FC236}">
                  <a16:creationId xmlns:a16="http://schemas.microsoft.com/office/drawing/2014/main" id="{2DD6ED92-DE2E-45E6-769C-8F3410276B2B}"/>
                </a:ext>
              </a:extLst>
            </p:cNvPr>
            <p:cNvSpPr/>
            <p:nvPr/>
          </p:nvSpPr>
          <p:spPr>
            <a:xfrm>
              <a:off x="6300216" y="1892808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Emergency request form</a:t>
              </a:r>
              <a:endParaRPr lang="en-US" sz="950" dirty="0"/>
            </a:p>
          </p:txBody>
        </p:sp>
        <p:sp>
          <p:nvSpPr>
            <p:cNvPr id="30" name="Text 24">
              <a:extLst>
                <a:ext uri="{FF2B5EF4-FFF2-40B4-BE49-F238E27FC236}">
                  <a16:creationId xmlns:a16="http://schemas.microsoft.com/office/drawing/2014/main" id="{924951C3-D207-62BF-EF13-AFF776FA4CDC}"/>
                </a:ext>
              </a:extLst>
            </p:cNvPr>
            <p:cNvSpPr/>
            <p:nvPr/>
          </p:nvSpPr>
          <p:spPr>
            <a:xfrm>
              <a:off x="6300216" y="2157984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Eligibility engine (Strategy pattern)</a:t>
              </a:r>
              <a:endParaRPr lang="en-US" sz="950" dirty="0"/>
            </a:p>
          </p:txBody>
        </p:sp>
        <p:sp>
          <p:nvSpPr>
            <p:cNvPr id="31" name="Text 25">
              <a:extLst>
                <a:ext uri="{FF2B5EF4-FFF2-40B4-BE49-F238E27FC236}">
                  <a16:creationId xmlns:a16="http://schemas.microsoft.com/office/drawing/2014/main" id="{D9313549-23D8-745A-59A3-C4F657DDC2C8}"/>
                </a:ext>
              </a:extLst>
            </p:cNvPr>
            <p:cNvSpPr/>
            <p:nvPr/>
          </p:nvSpPr>
          <p:spPr>
            <a:xfrm>
              <a:off x="6300216" y="2423160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Donor ranking algorithm</a:t>
              </a:r>
              <a:endParaRPr lang="en-US" sz="950" dirty="0"/>
            </a:p>
          </p:txBody>
        </p:sp>
        <p:sp>
          <p:nvSpPr>
            <p:cNvPr id="32" name="Text 26">
              <a:extLst>
                <a:ext uri="{FF2B5EF4-FFF2-40B4-BE49-F238E27FC236}">
                  <a16:creationId xmlns:a16="http://schemas.microsoft.com/office/drawing/2014/main" id="{3620AABA-F660-4E1A-5D3C-34B51516AA56}"/>
                </a:ext>
              </a:extLst>
            </p:cNvPr>
            <p:cNvSpPr/>
            <p:nvPr/>
          </p:nvSpPr>
          <p:spPr>
            <a:xfrm>
              <a:off x="6300216" y="2688336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Match notification trigger</a:t>
              </a:r>
              <a:endParaRPr lang="en-US" sz="950" dirty="0"/>
            </a:p>
          </p:txBody>
        </p:sp>
        <p:sp>
          <p:nvSpPr>
            <p:cNvPr id="33" name="Shape 27">
              <a:extLst>
                <a:ext uri="{FF2B5EF4-FFF2-40B4-BE49-F238E27FC236}">
                  <a16:creationId xmlns:a16="http://schemas.microsoft.com/office/drawing/2014/main" id="{E914E0AD-41FE-4EA0-3708-82849D30D06B}"/>
                </a:ext>
              </a:extLst>
            </p:cNvPr>
            <p:cNvSpPr/>
            <p:nvPr/>
          </p:nvSpPr>
          <p:spPr>
            <a:xfrm>
              <a:off x="320040" y="3127248"/>
              <a:ext cx="2743200" cy="1664208"/>
            </a:xfrm>
            <a:prstGeom prst="roundRect">
              <a:avLst>
                <a:gd name="adj" fmla="val 4396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4" name="Shape 28">
              <a:extLst>
                <a:ext uri="{FF2B5EF4-FFF2-40B4-BE49-F238E27FC236}">
                  <a16:creationId xmlns:a16="http://schemas.microsoft.com/office/drawing/2014/main" id="{301CC6E7-80E3-B24A-8773-D22DE2DA2E75}"/>
                </a:ext>
              </a:extLst>
            </p:cNvPr>
            <p:cNvSpPr/>
            <p:nvPr/>
          </p:nvSpPr>
          <p:spPr>
            <a:xfrm>
              <a:off x="429768" y="3236976"/>
              <a:ext cx="411480" cy="411480"/>
            </a:xfrm>
            <a:prstGeom prst="roundRect">
              <a:avLst>
                <a:gd name="adj" fmla="val 13333"/>
              </a:avLst>
            </a:prstGeom>
            <a:solidFill>
              <a:srgbClr val="E65100"/>
            </a:solidFill>
            <a:ln/>
          </p:spPr>
        </p:sp>
        <p:sp>
          <p:nvSpPr>
            <p:cNvPr id="35" name="Text 29">
              <a:extLst>
                <a:ext uri="{FF2B5EF4-FFF2-40B4-BE49-F238E27FC236}">
                  <a16:creationId xmlns:a16="http://schemas.microsoft.com/office/drawing/2014/main" id="{0839584F-437C-53BC-9A55-31D0DB7B0F53}"/>
                </a:ext>
              </a:extLst>
            </p:cNvPr>
            <p:cNvSpPr/>
            <p:nvPr/>
          </p:nvSpPr>
          <p:spPr>
            <a:xfrm>
              <a:off x="429768" y="3236976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M4</a:t>
              </a:r>
              <a:endParaRPr lang="en-US" sz="1100" dirty="0"/>
            </a:p>
          </p:txBody>
        </p:sp>
        <p:sp>
          <p:nvSpPr>
            <p:cNvPr id="36" name="Text 30">
              <a:extLst>
                <a:ext uri="{FF2B5EF4-FFF2-40B4-BE49-F238E27FC236}">
                  <a16:creationId xmlns:a16="http://schemas.microsoft.com/office/drawing/2014/main" id="{15837300-09D5-1ADC-894B-4BE8D5051E98}"/>
                </a:ext>
              </a:extLst>
            </p:cNvPr>
            <p:cNvSpPr/>
            <p:nvPr/>
          </p:nvSpPr>
          <p:spPr>
            <a:xfrm>
              <a:off x="914400" y="3255264"/>
              <a:ext cx="202996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65100"/>
                  </a:solidFill>
                </a:rPr>
                <a:t>Request Lifecycle Module</a:t>
              </a:r>
              <a:endParaRPr lang="en-US" sz="1100" dirty="0"/>
            </a:p>
          </p:txBody>
        </p:sp>
        <p:sp>
          <p:nvSpPr>
            <p:cNvPr id="37" name="Text 31">
              <a:extLst>
                <a:ext uri="{FF2B5EF4-FFF2-40B4-BE49-F238E27FC236}">
                  <a16:creationId xmlns:a16="http://schemas.microsoft.com/office/drawing/2014/main" id="{5397E9F7-0C19-C2EE-428E-A330151A0D10}"/>
                </a:ext>
              </a:extLst>
            </p:cNvPr>
            <p:cNvSpPr/>
            <p:nvPr/>
          </p:nvSpPr>
          <p:spPr>
            <a:xfrm>
              <a:off x="448056" y="3721608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Status transitions: PENDING → FULFILLED</a:t>
              </a:r>
              <a:endParaRPr lang="en-US" sz="950" dirty="0"/>
            </a:p>
          </p:txBody>
        </p:sp>
        <p:sp>
          <p:nvSpPr>
            <p:cNvPr id="38" name="Text 32">
              <a:extLst>
                <a:ext uri="{FF2B5EF4-FFF2-40B4-BE49-F238E27FC236}">
                  <a16:creationId xmlns:a16="http://schemas.microsoft.com/office/drawing/2014/main" id="{A3EE3BFE-775F-D2D4-1747-054B4E980759}"/>
                </a:ext>
              </a:extLst>
            </p:cNvPr>
            <p:cNvSpPr/>
            <p:nvPr/>
          </p:nvSpPr>
          <p:spPr>
            <a:xfrm>
              <a:off x="448056" y="3986784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Donor accept/decline response</a:t>
              </a:r>
              <a:endParaRPr lang="en-US" sz="950" dirty="0"/>
            </a:p>
          </p:txBody>
        </p:sp>
        <p:sp>
          <p:nvSpPr>
            <p:cNvPr id="39" name="Text 33">
              <a:extLst>
                <a:ext uri="{FF2B5EF4-FFF2-40B4-BE49-F238E27FC236}">
                  <a16:creationId xmlns:a16="http://schemas.microsoft.com/office/drawing/2014/main" id="{1EE117E4-4BB0-22CE-B170-FCBA2904E415}"/>
                </a:ext>
              </a:extLst>
            </p:cNvPr>
            <p:cNvSpPr/>
            <p:nvPr/>
          </p:nvSpPr>
          <p:spPr>
            <a:xfrm>
              <a:off x="448056" y="4251960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Requester fulfillment confirmation</a:t>
              </a:r>
              <a:endParaRPr lang="en-US" sz="950" dirty="0"/>
            </a:p>
          </p:txBody>
        </p:sp>
        <p:sp>
          <p:nvSpPr>
            <p:cNvPr id="40" name="Text 34">
              <a:extLst>
                <a:ext uri="{FF2B5EF4-FFF2-40B4-BE49-F238E27FC236}">
                  <a16:creationId xmlns:a16="http://schemas.microsoft.com/office/drawing/2014/main" id="{F90CB557-7A6F-C21B-D411-0853A3AD54FF}"/>
                </a:ext>
              </a:extLst>
            </p:cNvPr>
            <p:cNvSpPr/>
            <p:nvPr/>
          </p:nvSpPr>
          <p:spPr>
            <a:xfrm>
              <a:off x="448056" y="4517136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Full status audit trail</a:t>
              </a:r>
              <a:endParaRPr lang="en-US" sz="950" dirty="0"/>
            </a:p>
          </p:txBody>
        </p:sp>
        <p:sp>
          <p:nvSpPr>
            <p:cNvPr id="41" name="Shape 35">
              <a:extLst>
                <a:ext uri="{FF2B5EF4-FFF2-40B4-BE49-F238E27FC236}">
                  <a16:creationId xmlns:a16="http://schemas.microsoft.com/office/drawing/2014/main" id="{6E3AC61B-4869-5209-67D9-AD6CEF9AB6B3}"/>
                </a:ext>
              </a:extLst>
            </p:cNvPr>
            <p:cNvSpPr/>
            <p:nvPr/>
          </p:nvSpPr>
          <p:spPr>
            <a:xfrm>
              <a:off x="3246120" y="3127248"/>
              <a:ext cx="2743200" cy="1664208"/>
            </a:xfrm>
            <a:prstGeom prst="roundRect">
              <a:avLst>
                <a:gd name="adj" fmla="val 4396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2" name="Shape 36">
              <a:extLst>
                <a:ext uri="{FF2B5EF4-FFF2-40B4-BE49-F238E27FC236}">
                  <a16:creationId xmlns:a16="http://schemas.microsoft.com/office/drawing/2014/main" id="{4611CBE3-3FC3-BF1C-5CD5-EE16A2E30D4D}"/>
                </a:ext>
              </a:extLst>
            </p:cNvPr>
            <p:cNvSpPr/>
            <p:nvPr/>
          </p:nvSpPr>
          <p:spPr>
            <a:xfrm>
              <a:off x="3355848" y="3236976"/>
              <a:ext cx="411480" cy="411480"/>
            </a:xfrm>
            <a:prstGeom prst="roundRect">
              <a:avLst>
                <a:gd name="adj" fmla="val 13333"/>
              </a:avLst>
            </a:prstGeom>
            <a:solidFill>
              <a:srgbClr val="6A1B9A"/>
            </a:solidFill>
            <a:ln/>
          </p:spPr>
        </p:sp>
        <p:sp>
          <p:nvSpPr>
            <p:cNvPr id="43" name="Text 37">
              <a:extLst>
                <a:ext uri="{FF2B5EF4-FFF2-40B4-BE49-F238E27FC236}">
                  <a16:creationId xmlns:a16="http://schemas.microsoft.com/office/drawing/2014/main" id="{B4C56C54-0D58-3A3B-9C82-2595F5C7BB4D}"/>
                </a:ext>
              </a:extLst>
            </p:cNvPr>
            <p:cNvSpPr/>
            <p:nvPr/>
          </p:nvSpPr>
          <p:spPr>
            <a:xfrm>
              <a:off x="3355848" y="3236976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M5</a:t>
              </a:r>
              <a:endParaRPr lang="en-US" sz="1100" dirty="0"/>
            </a:p>
          </p:txBody>
        </p:sp>
        <p:sp>
          <p:nvSpPr>
            <p:cNvPr id="44" name="Text 38">
              <a:extLst>
                <a:ext uri="{FF2B5EF4-FFF2-40B4-BE49-F238E27FC236}">
                  <a16:creationId xmlns:a16="http://schemas.microsoft.com/office/drawing/2014/main" id="{F4D3E29C-0573-5784-D632-7BFB9FFD0D20}"/>
                </a:ext>
              </a:extLst>
            </p:cNvPr>
            <p:cNvSpPr/>
            <p:nvPr/>
          </p:nvSpPr>
          <p:spPr>
            <a:xfrm>
              <a:off x="3840480" y="3255264"/>
              <a:ext cx="202996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6A1B9A"/>
                  </a:solidFill>
                </a:rPr>
                <a:t>Notification Module</a:t>
              </a:r>
              <a:endParaRPr lang="en-US" sz="1100" dirty="0"/>
            </a:p>
          </p:txBody>
        </p:sp>
        <p:sp>
          <p:nvSpPr>
            <p:cNvPr id="45" name="Text 39">
              <a:extLst>
                <a:ext uri="{FF2B5EF4-FFF2-40B4-BE49-F238E27FC236}">
                  <a16:creationId xmlns:a16="http://schemas.microsoft.com/office/drawing/2014/main" id="{D3CD790C-B113-ADBB-3FD4-B9D67DB66C39}"/>
                </a:ext>
              </a:extLst>
            </p:cNvPr>
            <p:cNvSpPr/>
            <p:nvPr/>
          </p:nvSpPr>
          <p:spPr>
            <a:xfrm>
              <a:off x="3374136" y="3721608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In-app notification on match</a:t>
              </a:r>
              <a:endParaRPr lang="en-US" sz="950" dirty="0"/>
            </a:p>
          </p:txBody>
        </p:sp>
        <p:sp>
          <p:nvSpPr>
            <p:cNvPr id="46" name="Text 40">
              <a:extLst>
                <a:ext uri="{FF2B5EF4-FFF2-40B4-BE49-F238E27FC236}">
                  <a16:creationId xmlns:a16="http://schemas.microsoft.com/office/drawing/2014/main" id="{9C88E45E-74CC-B512-6714-12AEADEB0138}"/>
                </a:ext>
              </a:extLst>
            </p:cNvPr>
            <p:cNvSpPr/>
            <p:nvPr/>
          </p:nvSpPr>
          <p:spPr>
            <a:xfrm>
              <a:off x="3374136" y="3986784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Unread badge counter on nav bar</a:t>
              </a:r>
              <a:endParaRPr lang="en-US" sz="950" dirty="0"/>
            </a:p>
          </p:txBody>
        </p:sp>
        <p:sp>
          <p:nvSpPr>
            <p:cNvPr id="47" name="Text 41">
              <a:extLst>
                <a:ext uri="{FF2B5EF4-FFF2-40B4-BE49-F238E27FC236}">
                  <a16:creationId xmlns:a16="http://schemas.microsoft.com/office/drawing/2014/main" id="{F31AF60A-DD03-71DB-6772-940ACDC30816}"/>
                </a:ext>
              </a:extLst>
            </p:cNvPr>
            <p:cNvSpPr/>
            <p:nvPr/>
          </p:nvSpPr>
          <p:spPr>
            <a:xfrm>
              <a:off x="3374136" y="4251960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Mark as read on open</a:t>
              </a:r>
              <a:endParaRPr lang="en-US" sz="950" dirty="0"/>
            </a:p>
          </p:txBody>
        </p:sp>
        <p:sp>
          <p:nvSpPr>
            <p:cNvPr id="48" name="Text 42">
              <a:extLst>
                <a:ext uri="{FF2B5EF4-FFF2-40B4-BE49-F238E27FC236}">
                  <a16:creationId xmlns:a16="http://schemas.microsoft.com/office/drawing/2014/main" id="{45B90D91-FD44-96A2-96A8-4E5B6A36B112}"/>
                </a:ext>
              </a:extLst>
            </p:cNvPr>
            <p:cNvSpPr/>
            <p:nvPr/>
          </p:nvSpPr>
          <p:spPr>
            <a:xfrm>
              <a:off x="3374136" y="4517136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Notification history panel</a:t>
              </a:r>
              <a:endParaRPr lang="en-US" sz="950" dirty="0"/>
            </a:p>
          </p:txBody>
        </p:sp>
        <p:sp>
          <p:nvSpPr>
            <p:cNvPr id="49" name="Shape 44">
              <a:extLst>
                <a:ext uri="{FF2B5EF4-FFF2-40B4-BE49-F238E27FC236}">
                  <a16:creationId xmlns:a16="http://schemas.microsoft.com/office/drawing/2014/main" id="{DBAB66B0-AA93-4F9A-4BF3-21592D7C71D3}"/>
                </a:ext>
              </a:extLst>
            </p:cNvPr>
            <p:cNvSpPr/>
            <p:nvPr/>
          </p:nvSpPr>
          <p:spPr>
            <a:xfrm>
              <a:off x="6281928" y="3236976"/>
              <a:ext cx="411480" cy="411480"/>
            </a:xfrm>
            <a:prstGeom prst="roundRect">
              <a:avLst>
                <a:gd name="adj" fmla="val 13333"/>
              </a:avLst>
            </a:prstGeom>
            <a:solidFill>
              <a:srgbClr val="37474F"/>
            </a:solidFill>
            <a:ln/>
          </p:spPr>
        </p:sp>
        <p:sp>
          <p:nvSpPr>
            <p:cNvPr id="50" name="Text 45">
              <a:extLst>
                <a:ext uri="{FF2B5EF4-FFF2-40B4-BE49-F238E27FC236}">
                  <a16:creationId xmlns:a16="http://schemas.microsoft.com/office/drawing/2014/main" id="{D017ED21-B41D-C2B0-BDE2-AC9E0C8F5550}"/>
                </a:ext>
              </a:extLst>
            </p:cNvPr>
            <p:cNvSpPr/>
            <p:nvPr/>
          </p:nvSpPr>
          <p:spPr>
            <a:xfrm>
              <a:off x="6281928" y="3236976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M6</a:t>
              </a:r>
              <a:endParaRPr lang="en-US" sz="1100" dirty="0"/>
            </a:p>
          </p:txBody>
        </p:sp>
        <p:sp>
          <p:nvSpPr>
            <p:cNvPr id="51" name="Text 46">
              <a:extLst>
                <a:ext uri="{FF2B5EF4-FFF2-40B4-BE49-F238E27FC236}">
                  <a16:creationId xmlns:a16="http://schemas.microsoft.com/office/drawing/2014/main" id="{DE11C0D8-1721-310C-892C-79048BC4CE2A}"/>
                </a:ext>
              </a:extLst>
            </p:cNvPr>
            <p:cNvSpPr/>
            <p:nvPr/>
          </p:nvSpPr>
          <p:spPr>
            <a:xfrm>
              <a:off x="6766560" y="3255264"/>
              <a:ext cx="202996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7474F"/>
                  </a:solidFill>
                </a:rPr>
                <a:t>Admin &amp; Analytics Module</a:t>
              </a:r>
              <a:endParaRPr lang="en-US" sz="1100" dirty="0"/>
            </a:p>
          </p:txBody>
        </p:sp>
        <p:sp>
          <p:nvSpPr>
            <p:cNvPr id="52" name="Text 47">
              <a:extLst>
                <a:ext uri="{FF2B5EF4-FFF2-40B4-BE49-F238E27FC236}">
                  <a16:creationId xmlns:a16="http://schemas.microsoft.com/office/drawing/2014/main" id="{8C24EF6F-B73F-9964-4CFF-6071EC44566A}"/>
                </a:ext>
              </a:extLst>
            </p:cNvPr>
            <p:cNvSpPr/>
            <p:nvPr/>
          </p:nvSpPr>
          <p:spPr>
            <a:xfrm>
              <a:off x="6300216" y="3721608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User management dashboard</a:t>
              </a:r>
              <a:endParaRPr lang="en-US" sz="950" dirty="0"/>
            </a:p>
          </p:txBody>
        </p:sp>
        <p:sp>
          <p:nvSpPr>
            <p:cNvPr id="53" name="Text 48">
              <a:extLst>
                <a:ext uri="{FF2B5EF4-FFF2-40B4-BE49-F238E27FC236}">
                  <a16:creationId xmlns:a16="http://schemas.microsoft.com/office/drawing/2014/main" id="{E0E79B70-BEA2-9B44-0AD6-5E818BA0DB93}"/>
                </a:ext>
              </a:extLst>
            </p:cNvPr>
            <p:cNvSpPr/>
            <p:nvPr/>
          </p:nvSpPr>
          <p:spPr>
            <a:xfrm>
              <a:off x="6300216" y="3986784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Blood group demand BarChart</a:t>
              </a:r>
              <a:endParaRPr lang="en-US" sz="950" dirty="0"/>
            </a:p>
          </p:txBody>
        </p:sp>
        <p:sp>
          <p:nvSpPr>
            <p:cNvPr id="54" name="Text 49">
              <a:extLst>
                <a:ext uri="{FF2B5EF4-FFF2-40B4-BE49-F238E27FC236}">
                  <a16:creationId xmlns:a16="http://schemas.microsoft.com/office/drawing/2014/main" id="{F5D9FA11-5C1E-E811-75D3-44167F2F8C7D}"/>
                </a:ext>
              </a:extLst>
            </p:cNvPr>
            <p:cNvSpPr/>
            <p:nvPr/>
          </p:nvSpPr>
          <p:spPr>
            <a:xfrm>
              <a:off x="6300216" y="4251960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Monthly requests LineChart</a:t>
              </a:r>
              <a:endParaRPr lang="en-US" sz="950" dirty="0"/>
            </a:p>
          </p:txBody>
        </p:sp>
        <p:sp>
          <p:nvSpPr>
            <p:cNvPr id="55" name="Text 50">
              <a:extLst>
                <a:ext uri="{FF2B5EF4-FFF2-40B4-BE49-F238E27FC236}">
                  <a16:creationId xmlns:a16="http://schemas.microsoft.com/office/drawing/2014/main" id="{A95250DF-3A9B-0751-B062-3B1E4B62D08F}"/>
                </a:ext>
              </a:extLst>
            </p:cNvPr>
            <p:cNvSpPr/>
            <p:nvPr/>
          </p:nvSpPr>
          <p:spPr>
            <a:xfrm>
              <a:off x="6300216" y="4517136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•  Fulfillment rate statistics</a:t>
              </a:r>
              <a:endParaRPr lang="en-US" sz="950" dirty="0"/>
            </a:p>
          </p:txBody>
        </p:sp>
      </p:grp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70321" y="3640299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lang="en-US" sz="16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900285" cy="467995"/>
          </a:xfrm>
          <a:custGeom>
            <a:avLst/>
            <a:gdLst/>
            <a:ahLst/>
            <a:cxnLst/>
            <a:rect l="l" t="t" r="r" b="b"/>
            <a:pathLst>
              <a:path w="9900285" h="467995">
                <a:moveTo>
                  <a:pt x="9900000" y="0"/>
                </a:moveTo>
                <a:lnTo>
                  <a:pt x="0" y="0"/>
                </a:lnTo>
                <a:lnTo>
                  <a:pt x="0" y="467999"/>
                </a:lnTo>
                <a:lnTo>
                  <a:pt x="9900000" y="467999"/>
                </a:lnTo>
                <a:lnTo>
                  <a:pt x="9900000" y="0"/>
                </a:lnTo>
                <a:close/>
              </a:path>
            </a:pathLst>
          </a:custGeom>
          <a:solidFill>
            <a:srgbClr val="8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253999"/>
            <a:ext cx="9900285" cy="54610"/>
          </a:xfrm>
          <a:custGeom>
            <a:avLst/>
            <a:gdLst/>
            <a:ahLst/>
            <a:cxnLst/>
            <a:rect l="l" t="t" r="r" b="b"/>
            <a:pathLst>
              <a:path w="9900285" h="54609">
                <a:moveTo>
                  <a:pt x="9900000" y="0"/>
                </a:moveTo>
                <a:lnTo>
                  <a:pt x="0" y="0"/>
                </a:lnTo>
                <a:lnTo>
                  <a:pt x="0" y="54000"/>
                </a:lnTo>
                <a:lnTo>
                  <a:pt x="9900000" y="54000"/>
                </a:lnTo>
                <a:lnTo>
                  <a:pt x="9900000" y="0"/>
                </a:lnTo>
                <a:close/>
              </a:path>
            </a:pathLst>
          </a:custGeom>
          <a:solidFill>
            <a:srgbClr val="BF38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300" y="140899"/>
            <a:ext cx="16681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UI / UX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91300" y="1020899"/>
            <a:ext cx="9710799" cy="49500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Screen Design Concepts</a:t>
            </a:r>
            <a:endParaRPr sz="2800" dirty="0"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491300" y="1670899"/>
            <a:ext cx="81146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400" dirty="0">
              <a:latin typeface="Arial"/>
              <a:cs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8C4A6-238D-8B65-A880-E5602E7A2803}"/>
              </a:ext>
            </a:extLst>
          </p:cNvPr>
          <p:cNvGrpSpPr/>
          <p:nvPr/>
        </p:nvGrpSpPr>
        <p:grpSpPr>
          <a:xfrm>
            <a:off x="307974" y="2286817"/>
            <a:ext cx="9322960" cy="3829431"/>
            <a:chOff x="320040" y="1298448"/>
            <a:chExt cx="8503920" cy="3493008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5A262A93-567D-FDDD-8D45-BCB379A6C03A}"/>
                </a:ext>
              </a:extLst>
            </p:cNvPr>
            <p:cNvSpPr/>
            <p:nvPr/>
          </p:nvSpPr>
          <p:spPr>
            <a:xfrm>
              <a:off x="320040" y="1298448"/>
              <a:ext cx="4114800" cy="1664208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9" name="Shape 4">
              <a:extLst>
                <a:ext uri="{FF2B5EF4-FFF2-40B4-BE49-F238E27FC236}">
                  <a16:creationId xmlns:a16="http://schemas.microsoft.com/office/drawing/2014/main" id="{F4B23E9E-E520-61DC-4463-F8C3DDA28D1A}"/>
                </a:ext>
              </a:extLst>
            </p:cNvPr>
            <p:cNvSpPr/>
            <p:nvPr/>
          </p:nvSpPr>
          <p:spPr>
            <a:xfrm>
              <a:off x="320040" y="1298448"/>
              <a:ext cx="4114800" cy="310896"/>
            </a:xfrm>
            <a:prstGeom prst="roundRect">
              <a:avLst>
                <a:gd name="adj" fmla="val 23529"/>
              </a:avLst>
            </a:prstGeom>
            <a:solidFill>
              <a:srgbClr val="8B0000"/>
            </a:solidFill>
            <a:ln/>
          </p:spPr>
        </p:sp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9F1AE98E-5D11-2910-A059-FE65B6CC0AD2}"/>
                </a:ext>
              </a:extLst>
            </p:cNvPr>
            <p:cNvSpPr/>
            <p:nvPr/>
          </p:nvSpPr>
          <p:spPr>
            <a:xfrm>
              <a:off x="320040" y="1481328"/>
              <a:ext cx="4114800" cy="128016"/>
            </a:xfrm>
            <a:prstGeom prst="rect">
              <a:avLst/>
            </a:prstGeom>
            <a:solidFill>
              <a:srgbClr val="8B0000"/>
            </a:solidFill>
            <a:ln/>
          </p:spPr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72213CFB-BAD4-789D-B17D-893269354EFF}"/>
                </a:ext>
              </a:extLst>
            </p:cNvPr>
            <p:cNvSpPr/>
            <p:nvPr/>
          </p:nvSpPr>
          <p:spPr>
            <a:xfrm>
              <a:off x="429768" y="1325880"/>
              <a:ext cx="389534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⬤ ⬤ ⬤  Login Screen</a:t>
              </a:r>
              <a:endParaRPr lang="en-US" sz="1000" dirty="0"/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7FCEC0D8-A2E0-91CD-D285-6A475E8BD347}"/>
                </a:ext>
              </a:extLst>
            </p:cNvPr>
            <p:cNvSpPr/>
            <p:nvPr/>
          </p:nvSpPr>
          <p:spPr>
            <a:xfrm>
              <a:off x="484632" y="1709928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F97BDFEC-9450-75DE-90D5-DE88DE6EF10E}"/>
                </a:ext>
              </a:extLst>
            </p:cNvPr>
            <p:cNvSpPr/>
            <p:nvPr/>
          </p:nvSpPr>
          <p:spPr>
            <a:xfrm>
              <a:off x="576072" y="1728216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Role selector: Donor / Requester / Admin</a:t>
              </a:r>
              <a:endParaRPr lang="en-US" sz="950" dirty="0"/>
            </a:p>
          </p:txBody>
        </p:sp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8BD0DE6A-82ED-B64D-FE10-C412CEFD6E77}"/>
                </a:ext>
              </a:extLst>
            </p:cNvPr>
            <p:cNvSpPr/>
            <p:nvPr/>
          </p:nvSpPr>
          <p:spPr>
            <a:xfrm>
              <a:off x="484632" y="2011680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18" name="Text 10">
              <a:extLst>
                <a:ext uri="{FF2B5EF4-FFF2-40B4-BE49-F238E27FC236}">
                  <a16:creationId xmlns:a16="http://schemas.microsoft.com/office/drawing/2014/main" id="{478D8A1C-2C23-8CFA-59D5-93B67945F520}"/>
                </a:ext>
              </a:extLst>
            </p:cNvPr>
            <p:cNvSpPr/>
            <p:nvPr/>
          </p:nvSpPr>
          <p:spPr>
            <a:xfrm>
              <a:off x="576072" y="2029968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Email + password fields with validation</a:t>
              </a:r>
              <a:endParaRPr lang="en-US" sz="950" dirty="0"/>
            </a:p>
          </p:txBody>
        </p:sp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1DADEB50-8F03-0777-455A-9555844FD719}"/>
                </a:ext>
              </a:extLst>
            </p:cNvPr>
            <p:cNvSpPr/>
            <p:nvPr/>
          </p:nvSpPr>
          <p:spPr>
            <a:xfrm>
              <a:off x="484632" y="2313432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77A178AD-AFCE-3079-8C94-4F599ED30FFA}"/>
                </a:ext>
              </a:extLst>
            </p:cNvPr>
            <p:cNvSpPr/>
            <p:nvPr/>
          </p:nvSpPr>
          <p:spPr>
            <a:xfrm>
              <a:off x="576072" y="2331720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Animated error label on wrong credentials</a:t>
              </a:r>
              <a:endParaRPr lang="en-US" sz="950" dirty="0"/>
            </a:p>
          </p:txBody>
        </p:sp>
        <p:sp>
          <p:nvSpPr>
            <p:cNvPr id="21" name="Shape 13">
              <a:extLst>
                <a:ext uri="{FF2B5EF4-FFF2-40B4-BE49-F238E27FC236}">
                  <a16:creationId xmlns:a16="http://schemas.microsoft.com/office/drawing/2014/main" id="{F591DF02-F2F1-B337-73D4-15CAA5304A93}"/>
                </a:ext>
              </a:extLst>
            </p:cNvPr>
            <p:cNvSpPr/>
            <p:nvPr/>
          </p:nvSpPr>
          <p:spPr>
            <a:xfrm>
              <a:off x="484632" y="2615184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51A2E52B-269F-884C-ED57-71B39B4BB0E5}"/>
                </a:ext>
              </a:extLst>
            </p:cNvPr>
            <p:cNvSpPr/>
            <p:nvPr/>
          </p:nvSpPr>
          <p:spPr>
            <a:xfrm>
              <a:off x="576072" y="2633472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Link to registration form</a:t>
              </a:r>
              <a:endParaRPr lang="en-US" sz="950" dirty="0"/>
            </a:p>
          </p:txBody>
        </p:sp>
        <p:sp>
          <p:nvSpPr>
            <p:cNvPr id="23" name="Shape 15">
              <a:extLst>
                <a:ext uri="{FF2B5EF4-FFF2-40B4-BE49-F238E27FC236}">
                  <a16:creationId xmlns:a16="http://schemas.microsoft.com/office/drawing/2014/main" id="{8D000510-D4F5-8BCD-3B01-D05263AE5AE2}"/>
                </a:ext>
              </a:extLst>
            </p:cNvPr>
            <p:cNvSpPr/>
            <p:nvPr/>
          </p:nvSpPr>
          <p:spPr>
            <a:xfrm>
              <a:off x="4709160" y="1298448"/>
              <a:ext cx="4114800" cy="1664208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4" name="Shape 16">
              <a:extLst>
                <a:ext uri="{FF2B5EF4-FFF2-40B4-BE49-F238E27FC236}">
                  <a16:creationId xmlns:a16="http://schemas.microsoft.com/office/drawing/2014/main" id="{325E3B1A-5B57-3D64-825A-D26B271B7EB8}"/>
                </a:ext>
              </a:extLst>
            </p:cNvPr>
            <p:cNvSpPr/>
            <p:nvPr/>
          </p:nvSpPr>
          <p:spPr>
            <a:xfrm>
              <a:off x="4709160" y="1298448"/>
              <a:ext cx="4114800" cy="310896"/>
            </a:xfrm>
            <a:prstGeom prst="roundRect">
              <a:avLst>
                <a:gd name="adj" fmla="val 23529"/>
              </a:avLst>
            </a:prstGeom>
            <a:solidFill>
              <a:srgbClr val="1565C0"/>
            </a:solidFill>
            <a:ln/>
          </p:spPr>
        </p:sp>
        <p:sp>
          <p:nvSpPr>
            <p:cNvPr id="25" name="Shape 17">
              <a:extLst>
                <a:ext uri="{FF2B5EF4-FFF2-40B4-BE49-F238E27FC236}">
                  <a16:creationId xmlns:a16="http://schemas.microsoft.com/office/drawing/2014/main" id="{F1C5FD71-6DE8-2560-3DAA-DA1837BB3B16}"/>
                </a:ext>
              </a:extLst>
            </p:cNvPr>
            <p:cNvSpPr/>
            <p:nvPr/>
          </p:nvSpPr>
          <p:spPr>
            <a:xfrm>
              <a:off x="4709160" y="1481328"/>
              <a:ext cx="4114800" cy="128016"/>
            </a:xfrm>
            <a:prstGeom prst="rect">
              <a:avLst/>
            </a:prstGeom>
            <a:solidFill>
              <a:srgbClr val="1565C0"/>
            </a:solidFill>
            <a:ln/>
          </p:spPr>
        </p:sp>
        <p:sp>
          <p:nvSpPr>
            <p:cNvPr id="26" name="Text 18">
              <a:extLst>
                <a:ext uri="{FF2B5EF4-FFF2-40B4-BE49-F238E27FC236}">
                  <a16:creationId xmlns:a16="http://schemas.microsoft.com/office/drawing/2014/main" id="{A8B684B1-96AE-B021-0156-4E9EE7AA4FA2}"/>
                </a:ext>
              </a:extLst>
            </p:cNvPr>
            <p:cNvSpPr/>
            <p:nvPr/>
          </p:nvSpPr>
          <p:spPr>
            <a:xfrm>
              <a:off x="4818888" y="1325880"/>
              <a:ext cx="389534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⬤ ⬤ ⬤  Donor Dashboard</a:t>
              </a:r>
              <a:endParaRPr lang="en-US" sz="1000" dirty="0"/>
            </a:p>
          </p:txBody>
        </p:sp>
        <p:sp>
          <p:nvSpPr>
            <p:cNvPr id="27" name="Shape 19">
              <a:extLst>
                <a:ext uri="{FF2B5EF4-FFF2-40B4-BE49-F238E27FC236}">
                  <a16:creationId xmlns:a16="http://schemas.microsoft.com/office/drawing/2014/main" id="{28783A73-AA7B-1644-DEA4-43362BF2E5FA}"/>
                </a:ext>
              </a:extLst>
            </p:cNvPr>
            <p:cNvSpPr/>
            <p:nvPr/>
          </p:nvSpPr>
          <p:spPr>
            <a:xfrm>
              <a:off x="4873752" y="1709928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DED9E035-23B4-DD2F-F89F-F5710BD856AE}"/>
                </a:ext>
              </a:extLst>
            </p:cNvPr>
            <p:cNvSpPr/>
            <p:nvPr/>
          </p:nvSpPr>
          <p:spPr>
            <a:xfrm>
              <a:off x="4965192" y="1728216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Profile card: name, blood group, badge tier</a:t>
              </a:r>
              <a:endParaRPr lang="en-US" sz="950" dirty="0"/>
            </a:p>
          </p:txBody>
        </p:sp>
        <p:sp>
          <p:nvSpPr>
            <p:cNvPr id="29" name="Shape 21">
              <a:extLst>
                <a:ext uri="{FF2B5EF4-FFF2-40B4-BE49-F238E27FC236}">
                  <a16:creationId xmlns:a16="http://schemas.microsoft.com/office/drawing/2014/main" id="{6494B7D3-9364-275C-1FB1-9EE06D822F54}"/>
                </a:ext>
              </a:extLst>
            </p:cNvPr>
            <p:cNvSpPr/>
            <p:nvPr/>
          </p:nvSpPr>
          <p:spPr>
            <a:xfrm>
              <a:off x="4873752" y="2011680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30" name="Text 22">
              <a:extLst>
                <a:ext uri="{FF2B5EF4-FFF2-40B4-BE49-F238E27FC236}">
                  <a16:creationId xmlns:a16="http://schemas.microsoft.com/office/drawing/2014/main" id="{419799D5-4808-8833-5860-665C68C9AB45}"/>
                </a:ext>
              </a:extLst>
            </p:cNvPr>
            <p:cNvSpPr/>
            <p:nvPr/>
          </p:nvSpPr>
          <p:spPr>
            <a:xfrm>
              <a:off x="4965192" y="2029968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Status toggle: Available / Busy / Hold</a:t>
              </a:r>
              <a:endParaRPr lang="en-US" sz="950" dirty="0"/>
            </a:p>
          </p:txBody>
        </p:sp>
        <p:sp>
          <p:nvSpPr>
            <p:cNvPr id="31" name="Shape 23">
              <a:extLst>
                <a:ext uri="{FF2B5EF4-FFF2-40B4-BE49-F238E27FC236}">
                  <a16:creationId xmlns:a16="http://schemas.microsoft.com/office/drawing/2014/main" id="{6591E9E3-D77B-E5FC-3F5C-8AAF5F7034F2}"/>
                </a:ext>
              </a:extLst>
            </p:cNvPr>
            <p:cNvSpPr/>
            <p:nvPr/>
          </p:nvSpPr>
          <p:spPr>
            <a:xfrm>
              <a:off x="4873752" y="2313432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32" name="Text 24">
              <a:extLst>
                <a:ext uri="{FF2B5EF4-FFF2-40B4-BE49-F238E27FC236}">
                  <a16:creationId xmlns:a16="http://schemas.microsoft.com/office/drawing/2014/main" id="{8D9FC6F9-86E8-C5DE-414C-3134F2CB1E1E}"/>
                </a:ext>
              </a:extLst>
            </p:cNvPr>
            <p:cNvSpPr/>
            <p:nvPr/>
          </p:nvSpPr>
          <p:spPr>
            <a:xfrm>
              <a:off x="4965192" y="2331720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Notification inbox with unread count</a:t>
              </a:r>
              <a:endParaRPr lang="en-US" sz="950" dirty="0"/>
            </a:p>
          </p:txBody>
        </p:sp>
        <p:sp>
          <p:nvSpPr>
            <p:cNvPr id="33" name="Shape 25">
              <a:extLst>
                <a:ext uri="{FF2B5EF4-FFF2-40B4-BE49-F238E27FC236}">
                  <a16:creationId xmlns:a16="http://schemas.microsoft.com/office/drawing/2014/main" id="{37EAFF99-B6E3-0CC6-C477-EAFD7C8774D3}"/>
                </a:ext>
              </a:extLst>
            </p:cNvPr>
            <p:cNvSpPr/>
            <p:nvPr/>
          </p:nvSpPr>
          <p:spPr>
            <a:xfrm>
              <a:off x="4873752" y="2615184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34" name="Text 26">
              <a:extLst>
                <a:ext uri="{FF2B5EF4-FFF2-40B4-BE49-F238E27FC236}">
                  <a16:creationId xmlns:a16="http://schemas.microsoft.com/office/drawing/2014/main" id="{20A2E022-EC0C-A0F4-2244-18C2D5AB82F9}"/>
                </a:ext>
              </a:extLst>
            </p:cNvPr>
            <p:cNvSpPr/>
            <p:nvPr/>
          </p:nvSpPr>
          <p:spPr>
            <a:xfrm>
              <a:off x="4965192" y="2633472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Donation history timeline</a:t>
              </a:r>
              <a:endParaRPr lang="en-US" sz="950" dirty="0"/>
            </a:p>
          </p:txBody>
        </p:sp>
        <p:sp>
          <p:nvSpPr>
            <p:cNvPr id="35" name="Shape 27">
              <a:extLst>
                <a:ext uri="{FF2B5EF4-FFF2-40B4-BE49-F238E27FC236}">
                  <a16:creationId xmlns:a16="http://schemas.microsoft.com/office/drawing/2014/main" id="{0AE6096E-D180-69FA-1A98-FF7618D05B78}"/>
                </a:ext>
              </a:extLst>
            </p:cNvPr>
            <p:cNvSpPr/>
            <p:nvPr/>
          </p:nvSpPr>
          <p:spPr>
            <a:xfrm>
              <a:off x="320040" y="3127248"/>
              <a:ext cx="4114800" cy="1664208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6" name="Shape 28">
              <a:extLst>
                <a:ext uri="{FF2B5EF4-FFF2-40B4-BE49-F238E27FC236}">
                  <a16:creationId xmlns:a16="http://schemas.microsoft.com/office/drawing/2014/main" id="{5258B04C-A4BF-370A-01E5-5010FA931D98}"/>
                </a:ext>
              </a:extLst>
            </p:cNvPr>
            <p:cNvSpPr/>
            <p:nvPr/>
          </p:nvSpPr>
          <p:spPr>
            <a:xfrm>
              <a:off x="320040" y="3127248"/>
              <a:ext cx="4114800" cy="310896"/>
            </a:xfrm>
            <a:prstGeom prst="roundRect">
              <a:avLst>
                <a:gd name="adj" fmla="val 23529"/>
              </a:avLst>
            </a:prstGeom>
            <a:solidFill>
              <a:srgbClr val="2E7D32"/>
            </a:solidFill>
            <a:ln/>
          </p:spPr>
        </p:sp>
        <p:sp>
          <p:nvSpPr>
            <p:cNvPr id="37" name="Shape 29">
              <a:extLst>
                <a:ext uri="{FF2B5EF4-FFF2-40B4-BE49-F238E27FC236}">
                  <a16:creationId xmlns:a16="http://schemas.microsoft.com/office/drawing/2014/main" id="{69B4F424-96BF-6434-C27A-251755E4653D}"/>
                </a:ext>
              </a:extLst>
            </p:cNvPr>
            <p:cNvSpPr/>
            <p:nvPr/>
          </p:nvSpPr>
          <p:spPr>
            <a:xfrm>
              <a:off x="320040" y="3310128"/>
              <a:ext cx="4114800" cy="128016"/>
            </a:xfrm>
            <a:prstGeom prst="rect">
              <a:avLst/>
            </a:prstGeom>
            <a:solidFill>
              <a:srgbClr val="2E7D32"/>
            </a:solidFill>
            <a:ln/>
          </p:spPr>
        </p:sp>
        <p:sp>
          <p:nvSpPr>
            <p:cNvPr id="38" name="Text 30">
              <a:extLst>
                <a:ext uri="{FF2B5EF4-FFF2-40B4-BE49-F238E27FC236}">
                  <a16:creationId xmlns:a16="http://schemas.microsoft.com/office/drawing/2014/main" id="{A6A40336-B87F-3765-0807-21BB818A184C}"/>
                </a:ext>
              </a:extLst>
            </p:cNvPr>
            <p:cNvSpPr/>
            <p:nvPr/>
          </p:nvSpPr>
          <p:spPr>
            <a:xfrm>
              <a:off x="429768" y="3154680"/>
              <a:ext cx="389534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⬤ ⬤ ⬤  Request Form</a:t>
              </a:r>
              <a:endParaRPr lang="en-US" sz="1000" dirty="0"/>
            </a:p>
          </p:txBody>
        </p:sp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77DED3F7-161C-67D1-78B5-64EFC222D4D4}"/>
                </a:ext>
              </a:extLst>
            </p:cNvPr>
            <p:cNvSpPr/>
            <p:nvPr/>
          </p:nvSpPr>
          <p:spPr>
            <a:xfrm>
              <a:off x="484632" y="3538728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40" name="Text 32">
              <a:extLst>
                <a:ext uri="{FF2B5EF4-FFF2-40B4-BE49-F238E27FC236}">
                  <a16:creationId xmlns:a16="http://schemas.microsoft.com/office/drawing/2014/main" id="{FFE45B6F-70AE-2B83-39E9-90C66F549392}"/>
                </a:ext>
              </a:extLst>
            </p:cNvPr>
            <p:cNvSpPr/>
            <p:nvPr/>
          </p:nvSpPr>
          <p:spPr>
            <a:xfrm>
              <a:off x="576072" y="3557016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Blood group dropdown, urgency selector</a:t>
              </a:r>
              <a:endParaRPr lang="en-US" sz="950" dirty="0"/>
            </a:p>
          </p:txBody>
        </p:sp>
        <p:sp>
          <p:nvSpPr>
            <p:cNvPr id="41" name="Shape 33">
              <a:extLst>
                <a:ext uri="{FF2B5EF4-FFF2-40B4-BE49-F238E27FC236}">
                  <a16:creationId xmlns:a16="http://schemas.microsoft.com/office/drawing/2014/main" id="{50CA1328-2117-1897-B379-1D9E12B92F7F}"/>
                </a:ext>
              </a:extLst>
            </p:cNvPr>
            <p:cNvSpPr/>
            <p:nvPr/>
          </p:nvSpPr>
          <p:spPr>
            <a:xfrm>
              <a:off x="484632" y="3840480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42" name="Text 34">
              <a:extLst>
                <a:ext uri="{FF2B5EF4-FFF2-40B4-BE49-F238E27FC236}">
                  <a16:creationId xmlns:a16="http://schemas.microsoft.com/office/drawing/2014/main" id="{E8887585-5081-CAFE-B5CA-255B1EA6DD7E}"/>
                </a:ext>
              </a:extLst>
            </p:cNvPr>
            <p:cNvSpPr/>
            <p:nvPr/>
          </p:nvSpPr>
          <p:spPr>
            <a:xfrm>
              <a:off x="576072" y="3858768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Hospital name, district, units needed</a:t>
              </a:r>
              <a:endParaRPr lang="en-US" sz="950" dirty="0"/>
            </a:p>
          </p:txBody>
        </p:sp>
        <p:sp>
          <p:nvSpPr>
            <p:cNvPr id="43" name="Shape 35">
              <a:extLst>
                <a:ext uri="{FF2B5EF4-FFF2-40B4-BE49-F238E27FC236}">
                  <a16:creationId xmlns:a16="http://schemas.microsoft.com/office/drawing/2014/main" id="{6D828940-4A92-34FE-3591-6E4C345E4815}"/>
                </a:ext>
              </a:extLst>
            </p:cNvPr>
            <p:cNvSpPr/>
            <p:nvPr/>
          </p:nvSpPr>
          <p:spPr>
            <a:xfrm>
              <a:off x="484632" y="4142232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44" name="Text 36">
              <a:extLst>
                <a:ext uri="{FF2B5EF4-FFF2-40B4-BE49-F238E27FC236}">
                  <a16:creationId xmlns:a16="http://schemas.microsoft.com/office/drawing/2014/main" id="{F4AF3E06-0AB2-E299-BC5E-38F85E923AA3}"/>
                </a:ext>
              </a:extLst>
            </p:cNvPr>
            <p:cNvSpPr/>
            <p:nvPr/>
          </p:nvSpPr>
          <p:spPr>
            <a:xfrm>
              <a:off x="576072" y="4160520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Deadline date picker</a:t>
              </a:r>
              <a:endParaRPr lang="en-US" sz="950" dirty="0"/>
            </a:p>
          </p:txBody>
        </p:sp>
        <p:sp>
          <p:nvSpPr>
            <p:cNvPr id="45" name="Shape 37">
              <a:extLst>
                <a:ext uri="{FF2B5EF4-FFF2-40B4-BE49-F238E27FC236}">
                  <a16:creationId xmlns:a16="http://schemas.microsoft.com/office/drawing/2014/main" id="{8F98CDB6-6737-0ED8-EC86-6AA07FB1768D}"/>
                </a:ext>
              </a:extLst>
            </p:cNvPr>
            <p:cNvSpPr/>
            <p:nvPr/>
          </p:nvSpPr>
          <p:spPr>
            <a:xfrm>
              <a:off x="484632" y="4443984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46" name="Text 38">
              <a:extLst>
                <a:ext uri="{FF2B5EF4-FFF2-40B4-BE49-F238E27FC236}">
                  <a16:creationId xmlns:a16="http://schemas.microsoft.com/office/drawing/2014/main" id="{25E06738-5652-33BA-3343-6EC4F6FE4FBA}"/>
                </a:ext>
              </a:extLst>
            </p:cNvPr>
            <p:cNvSpPr/>
            <p:nvPr/>
          </p:nvSpPr>
          <p:spPr>
            <a:xfrm>
              <a:off x="576072" y="4462272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Submit → Live matched donor list</a:t>
              </a:r>
              <a:endParaRPr lang="en-US" sz="950" dirty="0"/>
            </a:p>
          </p:txBody>
        </p:sp>
        <p:sp>
          <p:nvSpPr>
            <p:cNvPr id="47" name="Shape 39">
              <a:extLst>
                <a:ext uri="{FF2B5EF4-FFF2-40B4-BE49-F238E27FC236}">
                  <a16:creationId xmlns:a16="http://schemas.microsoft.com/office/drawing/2014/main" id="{B512306A-F108-5AB6-3721-7E277185A20E}"/>
                </a:ext>
              </a:extLst>
            </p:cNvPr>
            <p:cNvSpPr/>
            <p:nvPr/>
          </p:nvSpPr>
          <p:spPr>
            <a:xfrm>
              <a:off x="4709160" y="3127248"/>
              <a:ext cx="4114800" cy="1664208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8" name="Shape 40">
              <a:extLst>
                <a:ext uri="{FF2B5EF4-FFF2-40B4-BE49-F238E27FC236}">
                  <a16:creationId xmlns:a16="http://schemas.microsoft.com/office/drawing/2014/main" id="{A89E96A5-13C3-69B8-BEE7-9C1069756596}"/>
                </a:ext>
              </a:extLst>
            </p:cNvPr>
            <p:cNvSpPr/>
            <p:nvPr/>
          </p:nvSpPr>
          <p:spPr>
            <a:xfrm>
              <a:off x="4709160" y="3127248"/>
              <a:ext cx="4114800" cy="310896"/>
            </a:xfrm>
            <a:prstGeom prst="roundRect">
              <a:avLst>
                <a:gd name="adj" fmla="val 23529"/>
              </a:avLst>
            </a:prstGeom>
            <a:solidFill>
              <a:srgbClr val="5D4037"/>
            </a:solidFill>
            <a:ln/>
          </p:spPr>
        </p:sp>
        <p:sp>
          <p:nvSpPr>
            <p:cNvPr id="49" name="Shape 41">
              <a:extLst>
                <a:ext uri="{FF2B5EF4-FFF2-40B4-BE49-F238E27FC236}">
                  <a16:creationId xmlns:a16="http://schemas.microsoft.com/office/drawing/2014/main" id="{3EDB1AAD-41CF-B468-4113-BDA573951C62}"/>
                </a:ext>
              </a:extLst>
            </p:cNvPr>
            <p:cNvSpPr/>
            <p:nvPr/>
          </p:nvSpPr>
          <p:spPr>
            <a:xfrm>
              <a:off x="4709160" y="3310128"/>
              <a:ext cx="4114800" cy="128016"/>
            </a:xfrm>
            <a:prstGeom prst="rect">
              <a:avLst/>
            </a:prstGeom>
            <a:solidFill>
              <a:srgbClr val="5D4037"/>
            </a:solidFill>
            <a:ln/>
          </p:spPr>
        </p:sp>
        <p:sp>
          <p:nvSpPr>
            <p:cNvPr id="50" name="Text 42">
              <a:extLst>
                <a:ext uri="{FF2B5EF4-FFF2-40B4-BE49-F238E27FC236}">
                  <a16:creationId xmlns:a16="http://schemas.microsoft.com/office/drawing/2014/main" id="{53747D0A-4ACD-5B22-015F-397630529F0A}"/>
                </a:ext>
              </a:extLst>
            </p:cNvPr>
            <p:cNvSpPr/>
            <p:nvPr/>
          </p:nvSpPr>
          <p:spPr>
            <a:xfrm>
              <a:off x="4818888" y="3154680"/>
              <a:ext cx="389534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⬤ ⬤ ⬤  Admin Dashboard</a:t>
              </a:r>
              <a:endParaRPr lang="en-US" sz="1000" dirty="0"/>
            </a:p>
          </p:txBody>
        </p:sp>
        <p:sp>
          <p:nvSpPr>
            <p:cNvPr id="51" name="Shape 43">
              <a:extLst>
                <a:ext uri="{FF2B5EF4-FFF2-40B4-BE49-F238E27FC236}">
                  <a16:creationId xmlns:a16="http://schemas.microsoft.com/office/drawing/2014/main" id="{3DE3BD14-61A8-56E9-DEAF-2BC81E415A61}"/>
                </a:ext>
              </a:extLst>
            </p:cNvPr>
            <p:cNvSpPr/>
            <p:nvPr/>
          </p:nvSpPr>
          <p:spPr>
            <a:xfrm>
              <a:off x="4873752" y="3538728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52" name="Text 44">
              <a:extLst>
                <a:ext uri="{FF2B5EF4-FFF2-40B4-BE49-F238E27FC236}">
                  <a16:creationId xmlns:a16="http://schemas.microsoft.com/office/drawing/2014/main" id="{FB4C92DD-F9FB-45CE-FB74-16A9E71CEA02}"/>
                </a:ext>
              </a:extLst>
            </p:cNvPr>
            <p:cNvSpPr/>
            <p:nvPr/>
          </p:nvSpPr>
          <p:spPr>
            <a:xfrm>
              <a:off x="4965192" y="3557016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Summary cards: Active / Pending / Donors</a:t>
              </a:r>
              <a:endParaRPr lang="en-US" sz="950" dirty="0"/>
            </a:p>
          </p:txBody>
        </p:sp>
        <p:sp>
          <p:nvSpPr>
            <p:cNvPr id="53" name="Shape 45">
              <a:extLst>
                <a:ext uri="{FF2B5EF4-FFF2-40B4-BE49-F238E27FC236}">
                  <a16:creationId xmlns:a16="http://schemas.microsoft.com/office/drawing/2014/main" id="{D16C5295-786B-4A7A-F7EA-72AFCA16310F}"/>
                </a:ext>
              </a:extLst>
            </p:cNvPr>
            <p:cNvSpPr/>
            <p:nvPr/>
          </p:nvSpPr>
          <p:spPr>
            <a:xfrm>
              <a:off x="4873752" y="3840480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54" name="Text 46">
              <a:extLst>
                <a:ext uri="{FF2B5EF4-FFF2-40B4-BE49-F238E27FC236}">
                  <a16:creationId xmlns:a16="http://schemas.microsoft.com/office/drawing/2014/main" id="{DD62BE39-B34A-1BBD-F4B1-29E27F289008}"/>
                </a:ext>
              </a:extLst>
            </p:cNvPr>
            <p:cNvSpPr/>
            <p:nvPr/>
          </p:nvSpPr>
          <p:spPr>
            <a:xfrm>
              <a:off x="4965192" y="3858768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BarChart: requests by blood group</a:t>
              </a:r>
              <a:endParaRPr lang="en-US" sz="950" dirty="0"/>
            </a:p>
          </p:txBody>
        </p:sp>
        <p:sp>
          <p:nvSpPr>
            <p:cNvPr id="55" name="Shape 47">
              <a:extLst>
                <a:ext uri="{FF2B5EF4-FFF2-40B4-BE49-F238E27FC236}">
                  <a16:creationId xmlns:a16="http://schemas.microsoft.com/office/drawing/2014/main" id="{7479A8CE-2FEB-47A7-4770-864E0CC938AF}"/>
                </a:ext>
              </a:extLst>
            </p:cNvPr>
            <p:cNvSpPr/>
            <p:nvPr/>
          </p:nvSpPr>
          <p:spPr>
            <a:xfrm>
              <a:off x="4873752" y="4142232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56" name="Text 48">
              <a:extLst>
                <a:ext uri="{FF2B5EF4-FFF2-40B4-BE49-F238E27FC236}">
                  <a16:creationId xmlns:a16="http://schemas.microsoft.com/office/drawing/2014/main" id="{8A532FE2-29FE-010B-93EE-54D76FA78441}"/>
                </a:ext>
              </a:extLst>
            </p:cNvPr>
            <p:cNvSpPr/>
            <p:nvPr/>
          </p:nvSpPr>
          <p:spPr>
            <a:xfrm>
              <a:off x="4965192" y="4160520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TableView: all requests with filters</a:t>
              </a:r>
              <a:endParaRPr lang="en-US" sz="950" dirty="0"/>
            </a:p>
          </p:txBody>
        </p:sp>
        <p:sp>
          <p:nvSpPr>
            <p:cNvPr id="57" name="Shape 49">
              <a:extLst>
                <a:ext uri="{FF2B5EF4-FFF2-40B4-BE49-F238E27FC236}">
                  <a16:creationId xmlns:a16="http://schemas.microsoft.com/office/drawing/2014/main" id="{927EA58F-66B4-34B9-C213-F11753A1518E}"/>
                </a:ext>
              </a:extLst>
            </p:cNvPr>
            <p:cNvSpPr/>
            <p:nvPr/>
          </p:nvSpPr>
          <p:spPr>
            <a:xfrm>
              <a:off x="4873752" y="4443984"/>
              <a:ext cx="3785616" cy="246888"/>
            </a:xfrm>
            <a:prstGeom prst="roundRect">
              <a:avLst>
                <a:gd name="adj" fmla="val 14815"/>
              </a:avLst>
            </a:prstGeom>
            <a:solidFill>
              <a:srgbClr val="F8F4F4"/>
            </a:solidFill>
            <a:ln/>
          </p:spPr>
        </p:sp>
        <p:sp>
          <p:nvSpPr>
            <p:cNvPr id="58" name="Text 50">
              <a:extLst>
                <a:ext uri="{FF2B5EF4-FFF2-40B4-BE49-F238E27FC236}">
                  <a16:creationId xmlns:a16="http://schemas.microsoft.com/office/drawing/2014/main" id="{645CA41A-18F6-734E-F11B-BD07E1EFD301}"/>
                </a:ext>
              </a:extLst>
            </p:cNvPr>
            <p:cNvSpPr/>
            <p:nvPr/>
          </p:nvSpPr>
          <p:spPr>
            <a:xfrm>
              <a:off x="4965192" y="4462272"/>
              <a:ext cx="360273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3D3D"/>
                  </a:solidFill>
                </a:rPr>
                <a:t>User management panel with search</a:t>
              </a:r>
              <a:endParaRPr lang="en-US" sz="950" dirty="0"/>
            </a:p>
          </p:txBody>
        </p:sp>
      </p:grp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70321" y="3640299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lang="en-US" sz="16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900285" cy="467995"/>
          </a:xfrm>
          <a:custGeom>
            <a:avLst/>
            <a:gdLst/>
            <a:ahLst/>
            <a:cxnLst/>
            <a:rect l="l" t="t" r="r" b="b"/>
            <a:pathLst>
              <a:path w="9900285" h="467995">
                <a:moveTo>
                  <a:pt x="9900000" y="0"/>
                </a:moveTo>
                <a:lnTo>
                  <a:pt x="0" y="0"/>
                </a:lnTo>
                <a:lnTo>
                  <a:pt x="0" y="467999"/>
                </a:lnTo>
                <a:lnTo>
                  <a:pt x="9900000" y="467999"/>
                </a:lnTo>
                <a:lnTo>
                  <a:pt x="9900000" y="0"/>
                </a:lnTo>
                <a:close/>
              </a:path>
            </a:pathLst>
          </a:custGeom>
          <a:solidFill>
            <a:srgbClr val="8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253999"/>
            <a:ext cx="9900285" cy="54610"/>
          </a:xfrm>
          <a:custGeom>
            <a:avLst/>
            <a:gdLst/>
            <a:ahLst/>
            <a:cxnLst/>
            <a:rect l="l" t="t" r="r" b="b"/>
            <a:pathLst>
              <a:path w="9900285" h="54609">
                <a:moveTo>
                  <a:pt x="9900000" y="0"/>
                </a:moveTo>
                <a:lnTo>
                  <a:pt x="0" y="0"/>
                </a:lnTo>
                <a:lnTo>
                  <a:pt x="0" y="54000"/>
                </a:lnTo>
                <a:lnTo>
                  <a:pt x="9900000" y="54000"/>
                </a:lnTo>
                <a:lnTo>
                  <a:pt x="9900000" y="0"/>
                </a:lnTo>
                <a:close/>
              </a:path>
            </a:pathLst>
          </a:custGeom>
          <a:solidFill>
            <a:srgbClr val="BF38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300" y="140899"/>
            <a:ext cx="1473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TECHNICAL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Technology</a:t>
            </a:r>
            <a:r>
              <a:rPr sz="2800" spc="-160" dirty="0"/>
              <a:t> </a:t>
            </a:r>
            <a:r>
              <a:rPr sz="2800" spc="-10" dirty="0"/>
              <a:t>Stack</a:t>
            </a:r>
            <a:endParaRPr sz="28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F2B64F-19D1-59FC-913F-FA51C1B7505E}"/>
              </a:ext>
            </a:extLst>
          </p:cNvPr>
          <p:cNvGrpSpPr/>
          <p:nvPr/>
        </p:nvGrpSpPr>
        <p:grpSpPr>
          <a:xfrm>
            <a:off x="271619" y="2153754"/>
            <a:ext cx="9218323" cy="3848524"/>
            <a:chOff x="365760" y="1298448"/>
            <a:chExt cx="8366760" cy="3493008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3011F255-DC7E-7BC3-589C-535F18973403}"/>
                </a:ext>
              </a:extLst>
            </p:cNvPr>
            <p:cNvSpPr/>
            <p:nvPr/>
          </p:nvSpPr>
          <p:spPr>
            <a:xfrm>
              <a:off x="365760" y="1298448"/>
              <a:ext cx="4023360" cy="1078992"/>
            </a:xfrm>
            <a:prstGeom prst="roundRect">
              <a:avLst>
                <a:gd name="adj" fmla="val 678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9" name="Shape 4">
              <a:extLst>
                <a:ext uri="{FF2B5EF4-FFF2-40B4-BE49-F238E27FC236}">
                  <a16:creationId xmlns:a16="http://schemas.microsoft.com/office/drawing/2014/main" id="{3078747C-9406-69BC-738B-CC8781A1D324}"/>
                </a:ext>
              </a:extLst>
            </p:cNvPr>
            <p:cNvSpPr/>
            <p:nvPr/>
          </p:nvSpPr>
          <p:spPr>
            <a:xfrm>
              <a:off x="475488" y="1408176"/>
              <a:ext cx="859536" cy="859536"/>
            </a:xfrm>
            <a:prstGeom prst="roundRect">
              <a:avLst>
                <a:gd name="adj" fmla="val 8511"/>
              </a:avLst>
            </a:prstGeom>
            <a:solidFill>
              <a:srgbClr val="8B0000"/>
            </a:solidFill>
            <a:ln/>
          </p:spPr>
        </p:sp>
        <p:pic>
          <p:nvPicPr>
            <p:cNvPr id="10" name="Image 0" descr="preencoded.png">
              <a:extLst>
                <a:ext uri="{FF2B5EF4-FFF2-40B4-BE49-F238E27FC236}">
                  <a16:creationId xmlns:a16="http://schemas.microsoft.com/office/drawing/2014/main" id="{430A45F6-6B2F-3320-0872-78B4D153B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784" y="1490472"/>
              <a:ext cx="694944" cy="694944"/>
            </a:xfrm>
            <a:prstGeom prst="rect">
              <a:avLst/>
            </a:prstGeom>
          </p:spPr>
        </p:pic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1B819029-0915-9365-9AEA-1B7DABEAC88B}"/>
                </a:ext>
              </a:extLst>
            </p:cNvPr>
            <p:cNvSpPr/>
            <p:nvPr/>
          </p:nvSpPr>
          <p:spPr>
            <a:xfrm>
              <a:off x="1463040" y="1371600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</a:rPr>
                <a:t>Java 17</a:t>
              </a:r>
              <a:endParaRPr lang="en-US" sz="1300" dirty="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147B7E62-FF79-F60B-692F-0531A0C5291B}"/>
                </a:ext>
              </a:extLst>
            </p:cNvPr>
            <p:cNvSpPr/>
            <p:nvPr/>
          </p:nvSpPr>
          <p:spPr>
            <a:xfrm>
              <a:off x="1463040" y="1627632"/>
              <a:ext cx="2788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8B0000"/>
                  </a:solidFill>
                </a:rPr>
                <a:t>Core Language</a:t>
              </a:r>
              <a:endParaRPr lang="en-US" sz="1000" dirty="0"/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F35B8A7A-25E4-1C47-7633-A25ABE357CA1}"/>
                </a:ext>
              </a:extLst>
            </p:cNvPr>
            <p:cNvSpPr/>
            <p:nvPr/>
          </p:nvSpPr>
          <p:spPr>
            <a:xfrm>
              <a:off x="1463040" y="1847088"/>
              <a:ext cx="27889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OOP, interfaces, generics, lambda, collections — full Java ecosystem without Spring complexity.</a:t>
              </a:r>
              <a:endParaRPr lang="en-US" sz="1000" dirty="0"/>
            </a:p>
          </p:txBody>
        </p:sp>
        <p:sp>
          <p:nvSpPr>
            <p:cNvPr id="20" name="Shape 8">
              <a:extLst>
                <a:ext uri="{FF2B5EF4-FFF2-40B4-BE49-F238E27FC236}">
                  <a16:creationId xmlns:a16="http://schemas.microsoft.com/office/drawing/2014/main" id="{78D9DF6F-C914-4647-809B-F8793C4EB3FC}"/>
                </a:ext>
              </a:extLst>
            </p:cNvPr>
            <p:cNvSpPr/>
            <p:nvPr/>
          </p:nvSpPr>
          <p:spPr>
            <a:xfrm>
              <a:off x="4709160" y="1298448"/>
              <a:ext cx="4023360" cy="1078992"/>
            </a:xfrm>
            <a:prstGeom prst="roundRect">
              <a:avLst>
                <a:gd name="adj" fmla="val 678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21" name="Shape 9">
              <a:extLst>
                <a:ext uri="{FF2B5EF4-FFF2-40B4-BE49-F238E27FC236}">
                  <a16:creationId xmlns:a16="http://schemas.microsoft.com/office/drawing/2014/main" id="{68C0EE68-D869-51CB-64D9-D4ED4B82B131}"/>
                </a:ext>
              </a:extLst>
            </p:cNvPr>
            <p:cNvSpPr/>
            <p:nvPr/>
          </p:nvSpPr>
          <p:spPr>
            <a:xfrm>
              <a:off x="4818888" y="1408176"/>
              <a:ext cx="859536" cy="859536"/>
            </a:xfrm>
            <a:prstGeom prst="roundRect">
              <a:avLst>
                <a:gd name="adj" fmla="val 8511"/>
              </a:avLst>
            </a:prstGeom>
            <a:solidFill>
              <a:srgbClr val="1565C0"/>
            </a:solidFill>
            <a:ln/>
          </p:spPr>
        </p:sp>
        <p:pic>
          <p:nvPicPr>
            <p:cNvPr id="22" name="Image 1" descr="preencoded.png">
              <a:extLst>
                <a:ext uri="{FF2B5EF4-FFF2-40B4-BE49-F238E27FC236}">
                  <a16:creationId xmlns:a16="http://schemas.microsoft.com/office/drawing/2014/main" id="{CF7B1BEF-5D99-EC7B-F93D-5B575B303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1184" y="1490472"/>
              <a:ext cx="694944" cy="694944"/>
            </a:xfrm>
            <a:prstGeom prst="rect">
              <a:avLst/>
            </a:prstGeom>
          </p:spPr>
        </p:pic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BDB5FD94-6B21-BFDA-F99E-DCD1329646FD}"/>
                </a:ext>
              </a:extLst>
            </p:cNvPr>
            <p:cNvSpPr/>
            <p:nvPr/>
          </p:nvSpPr>
          <p:spPr>
            <a:xfrm>
              <a:off x="5806440" y="1371600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</a:rPr>
                <a:t>JavaFX 17</a:t>
              </a:r>
              <a:endParaRPr lang="en-US" sz="1300" dirty="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806DCD41-9CA1-3146-5B7B-55344B39BBF9}"/>
                </a:ext>
              </a:extLst>
            </p:cNvPr>
            <p:cNvSpPr/>
            <p:nvPr/>
          </p:nvSpPr>
          <p:spPr>
            <a:xfrm>
              <a:off x="5806440" y="1627632"/>
              <a:ext cx="2788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565C0"/>
                  </a:solidFill>
                </a:rPr>
                <a:t>GUI Framework</a:t>
              </a:r>
              <a:endParaRPr lang="en-US" sz="1000" dirty="0"/>
            </a:p>
          </p:txBody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D236F853-B581-13E6-B84F-606EC2138D94}"/>
                </a:ext>
              </a:extLst>
            </p:cNvPr>
            <p:cNvSpPr/>
            <p:nvPr/>
          </p:nvSpPr>
          <p:spPr>
            <a:xfrm>
              <a:off x="5806440" y="1847088"/>
              <a:ext cx="27889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Scene graphs, FXML layouts, CSS styling, TableView, Charts, Dialogs — everything for a rich desktop UI.</a:t>
              </a:r>
              <a:endParaRPr lang="en-US" sz="1000" dirty="0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782DC927-64F1-C155-91CF-FCEB7BAD4BEA}"/>
                </a:ext>
              </a:extLst>
            </p:cNvPr>
            <p:cNvSpPr/>
            <p:nvPr/>
          </p:nvSpPr>
          <p:spPr>
            <a:xfrm>
              <a:off x="365760" y="2505456"/>
              <a:ext cx="4023360" cy="1078992"/>
            </a:xfrm>
            <a:prstGeom prst="roundRect">
              <a:avLst>
                <a:gd name="adj" fmla="val 678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27" name="Shape 14">
              <a:extLst>
                <a:ext uri="{FF2B5EF4-FFF2-40B4-BE49-F238E27FC236}">
                  <a16:creationId xmlns:a16="http://schemas.microsoft.com/office/drawing/2014/main" id="{40096F33-4659-5786-B611-F06109225974}"/>
                </a:ext>
              </a:extLst>
            </p:cNvPr>
            <p:cNvSpPr/>
            <p:nvPr/>
          </p:nvSpPr>
          <p:spPr>
            <a:xfrm>
              <a:off x="475488" y="2615184"/>
              <a:ext cx="859536" cy="859536"/>
            </a:xfrm>
            <a:prstGeom prst="roundRect">
              <a:avLst>
                <a:gd name="adj" fmla="val 8511"/>
              </a:avLst>
            </a:prstGeom>
            <a:solidFill>
              <a:srgbClr val="E65100"/>
            </a:solidFill>
            <a:ln/>
          </p:spPr>
        </p:sp>
        <p:pic>
          <p:nvPicPr>
            <p:cNvPr id="28" name="Image 2" descr="preencoded.png">
              <a:extLst>
                <a:ext uri="{FF2B5EF4-FFF2-40B4-BE49-F238E27FC236}">
                  <a16:creationId xmlns:a16="http://schemas.microsoft.com/office/drawing/2014/main" id="{0C500BA6-73BC-91E7-4731-54B08FA5A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7784" y="2697480"/>
              <a:ext cx="694944" cy="694944"/>
            </a:xfrm>
            <a:prstGeom prst="rect">
              <a:avLst/>
            </a:prstGeom>
          </p:spPr>
        </p:pic>
        <p:sp>
          <p:nvSpPr>
            <p:cNvPr id="29" name="Text 15">
              <a:extLst>
                <a:ext uri="{FF2B5EF4-FFF2-40B4-BE49-F238E27FC236}">
                  <a16:creationId xmlns:a16="http://schemas.microsoft.com/office/drawing/2014/main" id="{60FDB9F7-5911-5832-669A-2F80BEE6D3B0}"/>
                </a:ext>
              </a:extLst>
            </p:cNvPr>
            <p:cNvSpPr/>
            <p:nvPr/>
          </p:nvSpPr>
          <p:spPr>
            <a:xfrm>
              <a:off x="1463040" y="2578608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</a:rPr>
                <a:t>Scene Builder</a:t>
              </a:r>
              <a:endParaRPr lang="en-US" sz="1300" dirty="0"/>
            </a:p>
          </p:txBody>
        </p:sp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5440F670-496D-60CD-BF15-516D25A7296D}"/>
                </a:ext>
              </a:extLst>
            </p:cNvPr>
            <p:cNvSpPr/>
            <p:nvPr/>
          </p:nvSpPr>
          <p:spPr>
            <a:xfrm>
              <a:off x="1463040" y="2834640"/>
              <a:ext cx="2788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E65100"/>
                  </a:solidFill>
                </a:rPr>
                <a:t>UI Designer</a:t>
              </a:r>
              <a:endParaRPr lang="en-US" sz="1000" dirty="0"/>
            </a:p>
          </p:txBody>
        </p:sp>
        <p:sp>
          <p:nvSpPr>
            <p:cNvPr id="31" name="Text 17">
              <a:extLst>
                <a:ext uri="{FF2B5EF4-FFF2-40B4-BE49-F238E27FC236}">
                  <a16:creationId xmlns:a16="http://schemas.microsoft.com/office/drawing/2014/main" id="{20BD52E9-D1B9-5681-91F1-82390FBB6A40}"/>
                </a:ext>
              </a:extLst>
            </p:cNvPr>
            <p:cNvSpPr/>
            <p:nvPr/>
          </p:nvSpPr>
          <p:spPr>
            <a:xfrm>
              <a:off x="1463040" y="3054096"/>
              <a:ext cx="27889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Drag-and-drop FXML layout tool. Decouples UI design from controller logic — demonstrates MVC discipline.</a:t>
              </a:r>
              <a:endParaRPr lang="en-US" sz="1000" dirty="0"/>
            </a:p>
          </p:txBody>
        </p:sp>
        <p:sp>
          <p:nvSpPr>
            <p:cNvPr id="32" name="Shape 18">
              <a:extLst>
                <a:ext uri="{FF2B5EF4-FFF2-40B4-BE49-F238E27FC236}">
                  <a16:creationId xmlns:a16="http://schemas.microsoft.com/office/drawing/2014/main" id="{3E81DD13-A457-6AA0-5BD5-A5DB8F936747}"/>
                </a:ext>
              </a:extLst>
            </p:cNvPr>
            <p:cNvSpPr/>
            <p:nvPr/>
          </p:nvSpPr>
          <p:spPr>
            <a:xfrm>
              <a:off x="4709160" y="2505456"/>
              <a:ext cx="4023360" cy="1078992"/>
            </a:xfrm>
            <a:prstGeom prst="roundRect">
              <a:avLst>
                <a:gd name="adj" fmla="val 678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33" name="Shape 19">
              <a:extLst>
                <a:ext uri="{FF2B5EF4-FFF2-40B4-BE49-F238E27FC236}">
                  <a16:creationId xmlns:a16="http://schemas.microsoft.com/office/drawing/2014/main" id="{FDBC4C76-BF25-8365-C4E8-AB8620A02629}"/>
                </a:ext>
              </a:extLst>
            </p:cNvPr>
            <p:cNvSpPr/>
            <p:nvPr/>
          </p:nvSpPr>
          <p:spPr>
            <a:xfrm>
              <a:off x="4818888" y="2615184"/>
              <a:ext cx="859536" cy="859536"/>
            </a:xfrm>
            <a:prstGeom prst="roundRect">
              <a:avLst>
                <a:gd name="adj" fmla="val 8511"/>
              </a:avLst>
            </a:prstGeom>
            <a:solidFill>
              <a:srgbClr val="2E7D32"/>
            </a:solidFill>
            <a:ln/>
          </p:spPr>
        </p:sp>
        <p:pic>
          <p:nvPicPr>
            <p:cNvPr id="34" name="Image 3" descr="preencoded.png">
              <a:extLst>
                <a:ext uri="{FF2B5EF4-FFF2-40B4-BE49-F238E27FC236}">
                  <a16:creationId xmlns:a16="http://schemas.microsoft.com/office/drawing/2014/main" id="{09E3EA57-A6EA-6408-C47C-35945A229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01184" y="2697480"/>
              <a:ext cx="694944" cy="694944"/>
            </a:xfrm>
            <a:prstGeom prst="rect">
              <a:avLst/>
            </a:prstGeom>
          </p:spPr>
        </p:pic>
        <p:sp>
          <p:nvSpPr>
            <p:cNvPr id="35" name="Text 20">
              <a:extLst>
                <a:ext uri="{FF2B5EF4-FFF2-40B4-BE49-F238E27FC236}">
                  <a16:creationId xmlns:a16="http://schemas.microsoft.com/office/drawing/2014/main" id="{A516C557-0E7D-68E7-7327-19C31E747912}"/>
                </a:ext>
              </a:extLst>
            </p:cNvPr>
            <p:cNvSpPr/>
            <p:nvPr/>
          </p:nvSpPr>
          <p:spPr>
            <a:xfrm>
              <a:off x="5806440" y="2578608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</a:rPr>
                <a:t>MySQL 8</a:t>
              </a:r>
              <a:endParaRPr lang="en-US" sz="1300" dirty="0"/>
            </a:p>
          </p:txBody>
        </p:sp>
        <p:sp>
          <p:nvSpPr>
            <p:cNvPr id="36" name="Text 21">
              <a:extLst>
                <a:ext uri="{FF2B5EF4-FFF2-40B4-BE49-F238E27FC236}">
                  <a16:creationId xmlns:a16="http://schemas.microsoft.com/office/drawing/2014/main" id="{6CA31008-4F4E-B9B5-9D7D-E2D48396BA59}"/>
                </a:ext>
              </a:extLst>
            </p:cNvPr>
            <p:cNvSpPr/>
            <p:nvPr/>
          </p:nvSpPr>
          <p:spPr>
            <a:xfrm>
              <a:off x="5806440" y="2834640"/>
              <a:ext cx="2788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E7D32"/>
                  </a:solidFill>
                </a:rPr>
                <a:t>Database</a:t>
              </a:r>
              <a:endParaRPr lang="en-US" sz="1000" dirty="0"/>
            </a:p>
          </p:txBody>
        </p:sp>
        <p:sp>
          <p:nvSpPr>
            <p:cNvPr id="37" name="Text 22">
              <a:extLst>
                <a:ext uri="{FF2B5EF4-FFF2-40B4-BE49-F238E27FC236}">
                  <a16:creationId xmlns:a16="http://schemas.microsoft.com/office/drawing/2014/main" id="{F73F1B13-0C3E-C191-BD02-0D483C0CD89E}"/>
                </a:ext>
              </a:extLst>
            </p:cNvPr>
            <p:cNvSpPr/>
            <p:nvPr/>
          </p:nvSpPr>
          <p:spPr>
            <a:xfrm>
              <a:off x="5806440" y="3054096"/>
              <a:ext cx="27889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Relational DB with normalised schema. SQL joins for matching; aggregates for analytics. JDBC connection.</a:t>
              </a:r>
              <a:endParaRPr lang="en-US" sz="1000" dirty="0"/>
            </a:p>
          </p:txBody>
        </p:sp>
        <p:sp>
          <p:nvSpPr>
            <p:cNvPr id="38" name="Shape 23">
              <a:extLst>
                <a:ext uri="{FF2B5EF4-FFF2-40B4-BE49-F238E27FC236}">
                  <a16:creationId xmlns:a16="http://schemas.microsoft.com/office/drawing/2014/main" id="{2B8B086D-FBBB-679E-2175-9B54572FAFC7}"/>
                </a:ext>
              </a:extLst>
            </p:cNvPr>
            <p:cNvSpPr/>
            <p:nvPr/>
          </p:nvSpPr>
          <p:spPr>
            <a:xfrm>
              <a:off x="365760" y="3712464"/>
              <a:ext cx="4023360" cy="1078992"/>
            </a:xfrm>
            <a:prstGeom prst="roundRect">
              <a:avLst>
                <a:gd name="adj" fmla="val 678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39" name="Shape 24">
              <a:extLst>
                <a:ext uri="{FF2B5EF4-FFF2-40B4-BE49-F238E27FC236}">
                  <a16:creationId xmlns:a16="http://schemas.microsoft.com/office/drawing/2014/main" id="{B8FC050A-B726-7A30-F480-6736706243CF}"/>
                </a:ext>
              </a:extLst>
            </p:cNvPr>
            <p:cNvSpPr/>
            <p:nvPr/>
          </p:nvSpPr>
          <p:spPr>
            <a:xfrm>
              <a:off x="475488" y="3822192"/>
              <a:ext cx="859536" cy="859536"/>
            </a:xfrm>
            <a:prstGeom prst="roundRect">
              <a:avLst>
                <a:gd name="adj" fmla="val 8511"/>
              </a:avLst>
            </a:prstGeom>
            <a:solidFill>
              <a:srgbClr val="6A1B9A"/>
            </a:solidFill>
            <a:ln/>
          </p:spPr>
        </p:sp>
        <p:pic>
          <p:nvPicPr>
            <p:cNvPr id="40" name="Image 4" descr="preencoded.png">
              <a:extLst>
                <a:ext uri="{FF2B5EF4-FFF2-40B4-BE49-F238E27FC236}">
                  <a16:creationId xmlns:a16="http://schemas.microsoft.com/office/drawing/2014/main" id="{1CD481A6-6BA5-2AC8-E5D0-9DCACD14E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7784" y="3904488"/>
              <a:ext cx="694944" cy="694944"/>
            </a:xfrm>
            <a:prstGeom prst="rect">
              <a:avLst/>
            </a:prstGeom>
          </p:spPr>
        </p:pic>
        <p:sp>
          <p:nvSpPr>
            <p:cNvPr id="41" name="Text 25">
              <a:extLst>
                <a:ext uri="{FF2B5EF4-FFF2-40B4-BE49-F238E27FC236}">
                  <a16:creationId xmlns:a16="http://schemas.microsoft.com/office/drawing/2014/main" id="{ED283C89-1AE6-669E-8BCB-7BCA480252D1}"/>
                </a:ext>
              </a:extLst>
            </p:cNvPr>
            <p:cNvSpPr/>
            <p:nvPr/>
          </p:nvSpPr>
          <p:spPr>
            <a:xfrm>
              <a:off x="1463040" y="3785616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</a:rPr>
                <a:t>BCrypt Hashing</a:t>
              </a:r>
              <a:endParaRPr lang="en-US" sz="1300" dirty="0"/>
            </a:p>
          </p:txBody>
        </p:sp>
        <p:sp>
          <p:nvSpPr>
            <p:cNvPr id="42" name="Text 26">
              <a:extLst>
                <a:ext uri="{FF2B5EF4-FFF2-40B4-BE49-F238E27FC236}">
                  <a16:creationId xmlns:a16="http://schemas.microsoft.com/office/drawing/2014/main" id="{E0F9FA22-3905-9952-02BE-54A4690A4E7B}"/>
                </a:ext>
              </a:extLst>
            </p:cNvPr>
            <p:cNvSpPr/>
            <p:nvPr/>
          </p:nvSpPr>
          <p:spPr>
            <a:xfrm>
              <a:off x="1463040" y="4041648"/>
              <a:ext cx="2788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A1B9A"/>
                  </a:solidFill>
                </a:rPr>
                <a:t>Security</a:t>
              </a:r>
              <a:endParaRPr lang="en-US" sz="1000" dirty="0"/>
            </a:p>
          </p:txBody>
        </p:sp>
        <p:sp>
          <p:nvSpPr>
            <p:cNvPr id="43" name="Text 27">
              <a:extLst>
                <a:ext uri="{FF2B5EF4-FFF2-40B4-BE49-F238E27FC236}">
                  <a16:creationId xmlns:a16="http://schemas.microsoft.com/office/drawing/2014/main" id="{F10270C8-B4CA-DC70-D4D8-E59F50D8862E}"/>
                </a:ext>
              </a:extLst>
            </p:cNvPr>
            <p:cNvSpPr/>
            <p:nvPr/>
          </p:nvSpPr>
          <p:spPr>
            <a:xfrm>
              <a:off x="1463040" y="4261104"/>
              <a:ext cx="27889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Passwords stored as BCrypt hashes — never plaintext. Demonstrates security-aware development practice.</a:t>
              </a:r>
              <a:endParaRPr lang="en-US" sz="1000" dirty="0"/>
            </a:p>
          </p:txBody>
        </p:sp>
        <p:sp>
          <p:nvSpPr>
            <p:cNvPr id="44" name="Shape 28">
              <a:extLst>
                <a:ext uri="{FF2B5EF4-FFF2-40B4-BE49-F238E27FC236}">
                  <a16:creationId xmlns:a16="http://schemas.microsoft.com/office/drawing/2014/main" id="{058222B2-38AA-05E9-90FB-C7A9D3314817}"/>
                </a:ext>
              </a:extLst>
            </p:cNvPr>
            <p:cNvSpPr/>
            <p:nvPr/>
          </p:nvSpPr>
          <p:spPr>
            <a:xfrm>
              <a:off x="4709160" y="3712464"/>
              <a:ext cx="4023360" cy="1078992"/>
            </a:xfrm>
            <a:prstGeom prst="roundRect">
              <a:avLst>
                <a:gd name="adj" fmla="val 678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45" name="Shape 29">
              <a:extLst>
                <a:ext uri="{FF2B5EF4-FFF2-40B4-BE49-F238E27FC236}">
                  <a16:creationId xmlns:a16="http://schemas.microsoft.com/office/drawing/2014/main" id="{17175D57-B585-7A48-2852-0DBB59360662}"/>
                </a:ext>
              </a:extLst>
            </p:cNvPr>
            <p:cNvSpPr/>
            <p:nvPr/>
          </p:nvSpPr>
          <p:spPr>
            <a:xfrm>
              <a:off x="4818888" y="3822192"/>
              <a:ext cx="859536" cy="859536"/>
            </a:xfrm>
            <a:prstGeom prst="roundRect">
              <a:avLst>
                <a:gd name="adj" fmla="val 8511"/>
              </a:avLst>
            </a:prstGeom>
            <a:solidFill>
              <a:srgbClr val="37474F"/>
            </a:solidFill>
            <a:ln/>
          </p:spPr>
        </p:sp>
        <p:pic>
          <p:nvPicPr>
            <p:cNvPr id="46" name="Image 5" descr="preencoded.png">
              <a:extLst>
                <a:ext uri="{FF2B5EF4-FFF2-40B4-BE49-F238E27FC236}">
                  <a16:creationId xmlns:a16="http://schemas.microsoft.com/office/drawing/2014/main" id="{76454F13-62F3-3456-CE52-88E712CD8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01184" y="3904488"/>
              <a:ext cx="694944" cy="694944"/>
            </a:xfrm>
            <a:prstGeom prst="rect">
              <a:avLst/>
            </a:prstGeom>
          </p:spPr>
        </p:pic>
        <p:sp>
          <p:nvSpPr>
            <p:cNvPr id="47" name="Text 30">
              <a:extLst>
                <a:ext uri="{FF2B5EF4-FFF2-40B4-BE49-F238E27FC236}">
                  <a16:creationId xmlns:a16="http://schemas.microsoft.com/office/drawing/2014/main" id="{F8BC734D-A1EB-CFBF-9E7E-4153E18C5956}"/>
                </a:ext>
              </a:extLst>
            </p:cNvPr>
            <p:cNvSpPr/>
            <p:nvPr/>
          </p:nvSpPr>
          <p:spPr>
            <a:xfrm>
              <a:off x="5806440" y="3785616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</a:rPr>
                <a:t>Git &amp; GitHub</a:t>
              </a:r>
              <a:endParaRPr lang="en-US" sz="1300" dirty="0"/>
            </a:p>
          </p:txBody>
        </p:sp>
        <p:sp>
          <p:nvSpPr>
            <p:cNvPr id="48" name="Text 31">
              <a:extLst>
                <a:ext uri="{FF2B5EF4-FFF2-40B4-BE49-F238E27FC236}">
                  <a16:creationId xmlns:a16="http://schemas.microsoft.com/office/drawing/2014/main" id="{E772E782-E73E-8523-C6EF-397CDFDD3749}"/>
                </a:ext>
              </a:extLst>
            </p:cNvPr>
            <p:cNvSpPr/>
            <p:nvPr/>
          </p:nvSpPr>
          <p:spPr>
            <a:xfrm>
              <a:off x="5806440" y="4041648"/>
              <a:ext cx="2788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7474F"/>
                  </a:solidFill>
                </a:rPr>
                <a:t>Version Control</a:t>
              </a:r>
              <a:endParaRPr lang="en-US" sz="1000" dirty="0"/>
            </a:p>
          </p:txBody>
        </p:sp>
        <p:sp>
          <p:nvSpPr>
            <p:cNvPr id="49" name="Text 32">
              <a:extLst>
                <a:ext uri="{FF2B5EF4-FFF2-40B4-BE49-F238E27FC236}">
                  <a16:creationId xmlns:a16="http://schemas.microsoft.com/office/drawing/2014/main" id="{F4EA92A4-098E-C05E-D57D-00F27B1ECC25}"/>
                </a:ext>
              </a:extLst>
            </p:cNvPr>
            <p:cNvSpPr/>
            <p:nvPr/>
          </p:nvSpPr>
          <p:spPr>
            <a:xfrm>
              <a:off x="5806440" y="4261104"/>
              <a:ext cx="27889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3D3D"/>
                  </a:solidFill>
                </a:rPr>
                <a:t>Feature branches, pull requests, commit history. Javadoc + README. Professional development workflow.</a:t>
              </a:r>
              <a:endParaRPr lang="en-US" sz="1000" dirty="0"/>
            </a:p>
          </p:txBody>
        </p:sp>
      </p:grp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70321" y="3640299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lang="en-US" sz="16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900285" cy="467995"/>
          </a:xfrm>
          <a:custGeom>
            <a:avLst/>
            <a:gdLst/>
            <a:ahLst/>
            <a:cxnLst/>
            <a:rect l="l" t="t" r="r" b="b"/>
            <a:pathLst>
              <a:path w="9900285" h="467995">
                <a:moveTo>
                  <a:pt x="9900000" y="0"/>
                </a:moveTo>
                <a:lnTo>
                  <a:pt x="0" y="0"/>
                </a:lnTo>
                <a:lnTo>
                  <a:pt x="0" y="467999"/>
                </a:lnTo>
                <a:lnTo>
                  <a:pt x="9900000" y="467999"/>
                </a:lnTo>
                <a:lnTo>
                  <a:pt x="9900000" y="0"/>
                </a:lnTo>
                <a:close/>
              </a:path>
            </a:pathLst>
          </a:custGeom>
          <a:solidFill>
            <a:srgbClr val="8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253999"/>
            <a:ext cx="9900285" cy="54610"/>
          </a:xfrm>
          <a:custGeom>
            <a:avLst/>
            <a:gdLst/>
            <a:ahLst/>
            <a:cxnLst/>
            <a:rect l="l" t="t" r="r" b="b"/>
            <a:pathLst>
              <a:path w="9900285" h="54609">
                <a:moveTo>
                  <a:pt x="9900000" y="0"/>
                </a:moveTo>
                <a:lnTo>
                  <a:pt x="0" y="0"/>
                </a:lnTo>
                <a:lnTo>
                  <a:pt x="0" y="54000"/>
                </a:lnTo>
                <a:lnTo>
                  <a:pt x="9900000" y="54000"/>
                </a:lnTo>
                <a:lnTo>
                  <a:pt x="9900000" y="0"/>
                </a:lnTo>
                <a:close/>
              </a:path>
            </a:pathLst>
          </a:custGeom>
          <a:solidFill>
            <a:srgbClr val="BF38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300" y="140899"/>
            <a:ext cx="736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TIMELINE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Tentative</a:t>
            </a:r>
            <a:r>
              <a:rPr sz="2800" spc="-125" dirty="0"/>
              <a:t> </a:t>
            </a:r>
            <a:r>
              <a:rPr sz="2800" spc="-10" dirty="0"/>
              <a:t>Timeline</a:t>
            </a:r>
            <a:endParaRPr sz="2800"/>
          </a:p>
        </p:txBody>
      </p:sp>
      <p:sp>
        <p:nvSpPr>
          <p:cNvPr id="11" name="object 11"/>
          <p:cNvSpPr txBox="1"/>
          <p:nvPr/>
        </p:nvSpPr>
        <p:spPr>
          <a:xfrm>
            <a:off x="117988" y="3209195"/>
            <a:ext cx="1096442" cy="18684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065" marR="5080" algn="ctr">
              <a:lnSpc>
                <a:spcPct val="104200"/>
              </a:lnSpc>
              <a:spcBef>
                <a:spcPts val="60"/>
              </a:spcBef>
            </a:pPr>
            <a:r>
              <a:rPr lang="en-US" sz="1200" b="1" spc="-10" dirty="0">
                <a:solidFill>
                  <a:srgbClr val="1A0A0A"/>
                </a:solidFill>
                <a:latin typeface="Arial MT"/>
                <a:cs typeface="Arial MT"/>
              </a:rPr>
              <a:t>\</a:t>
            </a:r>
            <a:endParaRPr sz="1200" b="1" dirty="0">
              <a:latin typeface="Arial"/>
              <a:cs typeface="Arial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CD33490-A31D-F1A4-F744-A2A2FAFCFF19}"/>
              </a:ext>
            </a:extLst>
          </p:cNvPr>
          <p:cNvGrpSpPr/>
          <p:nvPr/>
        </p:nvGrpSpPr>
        <p:grpSpPr>
          <a:xfrm>
            <a:off x="-660247" y="1974023"/>
            <a:ext cx="10197947" cy="4466225"/>
            <a:chOff x="0" y="1298448"/>
            <a:chExt cx="8778240" cy="3712464"/>
          </a:xfrm>
        </p:grpSpPr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6E513343-43CB-7F25-BA8A-B7669DC768FC}"/>
                </a:ext>
              </a:extLst>
            </p:cNvPr>
            <p:cNvSpPr/>
            <p:nvPr/>
          </p:nvSpPr>
          <p:spPr>
            <a:xfrm>
              <a:off x="1371600" y="1353312"/>
              <a:ext cx="0" cy="3657600"/>
            </a:xfrm>
            <a:prstGeom prst="line">
              <a:avLst/>
            </a:prstGeom>
            <a:noFill/>
            <a:ln w="38100">
              <a:solidFill>
                <a:srgbClr val="8B0000"/>
              </a:solidFill>
              <a:prstDash val="solid"/>
            </a:ln>
          </p:spPr>
        </p:sp>
        <p:sp>
          <p:nvSpPr>
            <p:cNvPr id="27" name="Shape 4">
              <a:extLst>
                <a:ext uri="{FF2B5EF4-FFF2-40B4-BE49-F238E27FC236}">
                  <a16:creationId xmlns:a16="http://schemas.microsoft.com/office/drawing/2014/main" id="{38BEBB55-D404-E8E1-A287-64FF55B8BAFC}"/>
                </a:ext>
              </a:extLst>
            </p:cNvPr>
            <p:cNvSpPr/>
            <p:nvPr/>
          </p:nvSpPr>
          <p:spPr>
            <a:xfrm>
              <a:off x="1261872" y="1389888"/>
              <a:ext cx="219456" cy="219456"/>
            </a:xfrm>
            <a:prstGeom prst="line">
              <a:avLst/>
            </a:prstGeom>
            <a:solidFill>
              <a:srgbClr val="8B0000"/>
            </a:solidFill>
            <a:ln/>
          </p:spPr>
        </p:sp>
        <p:sp>
          <p:nvSpPr>
            <p:cNvPr id="28" name="Text 5">
              <a:extLst>
                <a:ext uri="{FF2B5EF4-FFF2-40B4-BE49-F238E27FC236}">
                  <a16:creationId xmlns:a16="http://schemas.microsoft.com/office/drawing/2014/main" id="{64117473-5B3B-2408-8BD9-9603856656B7}"/>
                </a:ext>
              </a:extLst>
            </p:cNvPr>
            <p:cNvSpPr/>
            <p:nvPr/>
          </p:nvSpPr>
          <p:spPr>
            <a:xfrm>
              <a:off x="0" y="1335024"/>
              <a:ext cx="1188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8B0000"/>
                  </a:solidFill>
                </a:rPr>
                <a:t>Wk 1–2</a:t>
              </a:r>
              <a:endParaRPr lang="en-US" sz="1000" dirty="0"/>
            </a:p>
          </p:txBody>
        </p:sp>
        <p:sp>
          <p:nvSpPr>
            <p:cNvPr id="29" name="Shape 6">
              <a:extLst>
                <a:ext uri="{FF2B5EF4-FFF2-40B4-BE49-F238E27FC236}">
                  <a16:creationId xmlns:a16="http://schemas.microsoft.com/office/drawing/2014/main" id="{F354ECD9-3A81-9036-413B-54CD3469CCA0}"/>
                </a:ext>
              </a:extLst>
            </p:cNvPr>
            <p:cNvSpPr/>
            <p:nvPr/>
          </p:nvSpPr>
          <p:spPr>
            <a:xfrm>
              <a:off x="1691640" y="1298448"/>
              <a:ext cx="7086600" cy="457200"/>
            </a:xfrm>
            <a:prstGeom prst="roundRect">
              <a:avLst>
                <a:gd name="adj" fmla="val 1200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0" name="Text 7">
              <a:extLst>
                <a:ext uri="{FF2B5EF4-FFF2-40B4-BE49-F238E27FC236}">
                  <a16:creationId xmlns:a16="http://schemas.microsoft.com/office/drawing/2014/main" id="{7F5F3D13-D9A7-2280-C23F-B31564165D07}"/>
                </a:ext>
              </a:extLst>
            </p:cNvPr>
            <p:cNvSpPr/>
            <p:nvPr/>
          </p:nvSpPr>
          <p:spPr>
            <a:xfrm>
              <a:off x="1810512" y="1325880"/>
              <a:ext cx="2286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8B0000"/>
                  </a:solidFill>
                </a:rPr>
                <a:t>Planning &amp; Requirements</a:t>
              </a:r>
              <a:endParaRPr lang="en-US" sz="1100" dirty="0"/>
            </a:p>
          </p:txBody>
        </p:sp>
        <p:sp>
          <p:nvSpPr>
            <p:cNvPr id="31" name="Text 8">
              <a:extLst>
                <a:ext uri="{FF2B5EF4-FFF2-40B4-BE49-F238E27FC236}">
                  <a16:creationId xmlns:a16="http://schemas.microsoft.com/office/drawing/2014/main" id="{1EC3D679-2254-C8B9-D6A5-5B6812F13D6E}"/>
                </a:ext>
              </a:extLst>
            </p:cNvPr>
            <p:cNvSpPr/>
            <p:nvPr/>
          </p:nvSpPr>
          <p:spPr>
            <a:xfrm>
              <a:off x="1810512" y="1536192"/>
              <a:ext cx="6858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B6B"/>
                  </a:solidFill>
                </a:rPr>
                <a:t>Use case diagrams, DB schema design, UI wireframes, team task allocation</a:t>
              </a:r>
              <a:endParaRPr lang="en-US" sz="950" dirty="0"/>
            </a:p>
          </p:txBody>
        </p:sp>
        <p:sp>
          <p:nvSpPr>
            <p:cNvPr id="32" name="Shape 9">
              <a:extLst>
                <a:ext uri="{FF2B5EF4-FFF2-40B4-BE49-F238E27FC236}">
                  <a16:creationId xmlns:a16="http://schemas.microsoft.com/office/drawing/2014/main" id="{9EE748E7-20D9-C405-E672-00F5B575808B}"/>
                </a:ext>
              </a:extLst>
            </p:cNvPr>
            <p:cNvSpPr/>
            <p:nvPr/>
          </p:nvSpPr>
          <p:spPr>
            <a:xfrm>
              <a:off x="1261872" y="1911096"/>
              <a:ext cx="219456" cy="219456"/>
            </a:xfrm>
            <a:prstGeom prst="line">
              <a:avLst/>
            </a:prstGeom>
            <a:solidFill>
              <a:srgbClr val="1565C0"/>
            </a:solidFill>
            <a:ln/>
          </p:spPr>
        </p:sp>
        <p:sp>
          <p:nvSpPr>
            <p:cNvPr id="33" name="Text 10">
              <a:extLst>
                <a:ext uri="{FF2B5EF4-FFF2-40B4-BE49-F238E27FC236}">
                  <a16:creationId xmlns:a16="http://schemas.microsoft.com/office/drawing/2014/main" id="{5F6EC41E-5F78-9093-E8A3-17D7528B40F9}"/>
                </a:ext>
              </a:extLst>
            </p:cNvPr>
            <p:cNvSpPr/>
            <p:nvPr/>
          </p:nvSpPr>
          <p:spPr>
            <a:xfrm>
              <a:off x="0" y="1856232"/>
              <a:ext cx="1188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1565C0"/>
                  </a:solidFill>
                </a:rPr>
                <a:t>Wk 3–4</a:t>
              </a:r>
              <a:endParaRPr lang="en-US" sz="1000" dirty="0"/>
            </a:p>
          </p:txBody>
        </p:sp>
        <p:sp>
          <p:nvSpPr>
            <p:cNvPr id="34" name="Shape 11">
              <a:extLst>
                <a:ext uri="{FF2B5EF4-FFF2-40B4-BE49-F238E27FC236}">
                  <a16:creationId xmlns:a16="http://schemas.microsoft.com/office/drawing/2014/main" id="{71DAAF63-7F84-FD85-36EC-27166474BD05}"/>
                </a:ext>
              </a:extLst>
            </p:cNvPr>
            <p:cNvSpPr/>
            <p:nvPr/>
          </p:nvSpPr>
          <p:spPr>
            <a:xfrm>
              <a:off x="1691640" y="1819656"/>
              <a:ext cx="7086600" cy="457200"/>
            </a:xfrm>
            <a:prstGeom prst="roundRect">
              <a:avLst>
                <a:gd name="adj" fmla="val 1200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5" name="Text 12">
              <a:extLst>
                <a:ext uri="{FF2B5EF4-FFF2-40B4-BE49-F238E27FC236}">
                  <a16:creationId xmlns:a16="http://schemas.microsoft.com/office/drawing/2014/main" id="{4D85DB17-6B00-68D5-8D19-016793E1559A}"/>
                </a:ext>
              </a:extLst>
            </p:cNvPr>
            <p:cNvSpPr/>
            <p:nvPr/>
          </p:nvSpPr>
          <p:spPr>
            <a:xfrm>
              <a:off x="1810512" y="1847088"/>
              <a:ext cx="2286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565C0"/>
                  </a:solidFill>
                </a:rPr>
                <a:t>Authentication &amp; DB Setup</a:t>
              </a:r>
              <a:endParaRPr lang="en-US" sz="1100" dirty="0"/>
            </a:p>
          </p:txBody>
        </p:sp>
        <p:sp>
          <p:nvSpPr>
            <p:cNvPr id="36" name="Text 13">
              <a:extLst>
                <a:ext uri="{FF2B5EF4-FFF2-40B4-BE49-F238E27FC236}">
                  <a16:creationId xmlns:a16="http://schemas.microsoft.com/office/drawing/2014/main" id="{AD048E37-5178-14B3-4670-CB7E17FBA16B}"/>
                </a:ext>
              </a:extLst>
            </p:cNvPr>
            <p:cNvSpPr/>
            <p:nvPr/>
          </p:nvSpPr>
          <p:spPr>
            <a:xfrm>
              <a:off x="1810512" y="2057400"/>
              <a:ext cx="6858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B6B"/>
                  </a:solidFill>
                </a:rPr>
                <a:t>MySQL schema, JDBC layer, BCrypt login, registration, session management</a:t>
              </a:r>
              <a:endParaRPr lang="en-US" sz="950" dirty="0"/>
            </a:p>
          </p:txBody>
        </p:sp>
        <p:sp>
          <p:nvSpPr>
            <p:cNvPr id="37" name="Shape 14">
              <a:extLst>
                <a:ext uri="{FF2B5EF4-FFF2-40B4-BE49-F238E27FC236}">
                  <a16:creationId xmlns:a16="http://schemas.microsoft.com/office/drawing/2014/main" id="{1C15FAAB-D88E-84A3-4D6D-6575F0DA088F}"/>
                </a:ext>
              </a:extLst>
            </p:cNvPr>
            <p:cNvSpPr/>
            <p:nvPr/>
          </p:nvSpPr>
          <p:spPr>
            <a:xfrm>
              <a:off x="1261872" y="2432304"/>
              <a:ext cx="219456" cy="219456"/>
            </a:xfrm>
            <a:prstGeom prst="line">
              <a:avLst/>
            </a:prstGeom>
            <a:solidFill>
              <a:srgbClr val="2E7D32"/>
            </a:solidFill>
            <a:ln/>
          </p:spPr>
        </p:sp>
        <p:sp>
          <p:nvSpPr>
            <p:cNvPr id="38" name="Text 15">
              <a:extLst>
                <a:ext uri="{FF2B5EF4-FFF2-40B4-BE49-F238E27FC236}">
                  <a16:creationId xmlns:a16="http://schemas.microsoft.com/office/drawing/2014/main" id="{1F0F07BA-060B-C61B-69DC-CF25A58633AE}"/>
                </a:ext>
              </a:extLst>
            </p:cNvPr>
            <p:cNvSpPr/>
            <p:nvPr/>
          </p:nvSpPr>
          <p:spPr>
            <a:xfrm>
              <a:off x="0" y="2377440"/>
              <a:ext cx="1188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2E7D32"/>
                  </a:solidFill>
                </a:rPr>
                <a:t>Wk 5–6</a:t>
              </a:r>
              <a:endParaRPr lang="en-US" sz="1000" dirty="0"/>
            </a:p>
          </p:txBody>
        </p:sp>
        <p:sp>
          <p:nvSpPr>
            <p:cNvPr id="39" name="Shape 16">
              <a:extLst>
                <a:ext uri="{FF2B5EF4-FFF2-40B4-BE49-F238E27FC236}">
                  <a16:creationId xmlns:a16="http://schemas.microsoft.com/office/drawing/2014/main" id="{92845218-3A7D-93EC-065B-E7D449B69DB2}"/>
                </a:ext>
              </a:extLst>
            </p:cNvPr>
            <p:cNvSpPr/>
            <p:nvPr/>
          </p:nvSpPr>
          <p:spPr>
            <a:xfrm>
              <a:off x="1691640" y="2340864"/>
              <a:ext cx="7086600" cy="457200"/>
            </a:xfrm>
            <a:prstGeom prst="roundRect">
              <a:avLst>
                <a:gd name="adj" fmla="val 1200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D8C6E3A2-6BF9-E75E-99DF-9D77A02341FD}"/>
                </a:ext>
              </a:extLst>
            </p:cNvPr>
            <p:cNvSpPr/>
            <p:nvPr/>
          </p:nvSpPr>
          <p:spPr>
            <a:xfrm>
              <a:off x="1810512" y="2368296"/>
              <a:ext cx="2286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2E7D32"/>
                  </a:solidFill>
                </a:rPr>
                <a:t>Donor &amp; Request Modules</a:t>
              </a:r>
              <a:endParaRPr lang="en-US" sz="1100" dirty="0"/>
            </a:p>
          </p:txBody>
        </p:sp>
        <p:sp>
          <p:nvSpPr>
            <p:cNvPr id="41" name="Text 18">
              <a:extLst>
                <a:ext uri="{FF2B5EF4-FFF2-40B4-BE49-F238E27FC236}">
                  <a16:creationId xmlns:a16="http://schemas.microsoft.com/office/drawing/2014/main" id="{FB37D00A-7E1C-44C7-FA94-D86A9E8A2CCA}"/>
                </a:ext>
              </a:extLst>
            </p:cNvPr>
            <p:cNvSpPr/>
            <p:nvPr/>
          </p:nvSpPr>
          <p:spPr>
            <a:xfrm>
              <a:off x="1810512" y="2578608"/>
              <a:ext cx="6858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B6B"/>
                  </a:solidFill>
                </a:rPr>
                <a:t>Donor profile CRUD, status toggle, blood request form, basic matching query</a:t>
              </a:r>
              <a:endParaRPr lang="en-US" sz="950" dirty="0"/>
            </a:p>
          </p:txBody>
        </p:sp>
        <p:sp>
          <p:nvSpPr>
            <p:cNvPr id="42" name="Shape 19">
              <a:extLst>
                <a:ext uri="{FF2B5EF4-FFF2-40B4-BE49-F238E27FC236}">
                  <a16:creationId xmlns:a16="http://schemas.microsoft.com/office/drawing/2014/main" id="{45C733D4-8B9D-EC9D-46A2-64FDE52ABFA7}"/>
                </a:ext>
              </a:extLst>
            </p:cNvPr>
            <p:cNvSpPr/>
            <p:nvPr/>
          </p:nvSpPr>
          <p:spPr>
            <a:xfrm>
              <a:off x="1261872" y="2953512"/>
              <a:ext cx="219456" cy="219456"/>
            </a:xfrm>
            <a:prstGeom prst="line">
              <a:avLst/>
            </a:prstGeom>
            <a:solidFill>
              <a:srgbClr val="E65100"/>
            </a:solidFill>
            <a:ln/>
          </p:spPr>
        </p:sp>
        <p:sp>
          <p:nvSpPr>
            <p:cNvPr id="43" name="Text 20">
              <a:extLst>
                <a:ext uri="{FF2B5EF4-FFF2-40B4-BE49-F238E27FC236}">
                  <a16:creationId xmlns:a16="http://schemas.microsoft.com/office/drawing/2014/main" id="{20CA57EE-C9C2-DA9D-50B0-F8385D54A924}"/>
                </a:ext>
              </a:extLst>
            </p:cNvPr>
            <p:cNvSpPr/>
            <p:nvPr/>
          </p:nvSpPr>
          <p:spPr>
            <a:xfrm>
              <a:off x="0" y="2898648"/>
              <a:ext cx="1188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E65100"/>
                  </a:solidFill>
                </a:rPr>
                <a:t>Wk 7–8</a:t>
              </a:r>
              <a:endParaRPr lang="en-US" sz="1000" dirty="0"/>
            </a:p>
          </p:txBody>
        </p:sp>
        <p:sp>
          <p:nvSpPr>
            <p:cNvPr id="44" name="Shape 21">
              <a:extLst>
                <a:ext uri="{FF2B5EF4-FFF2-40B4-BE49-F238E27FC236}">
                  <a16:creationId xmlns:a16="http://schemas.microsoft.com/office/drawing/2014/main" id="{E7ED1C0D-9DC2-BBEC-E66D-B0CA26F5FF51}"/>
                </a:ext>
              </a:extLst>
            </p:cNvPr>
            <p:cNvSpPr/>
            <p:nvPr/>
          </p:nvSpPr>
          <p:spPr>
            <a:xfrm>
              <a:off x="1691640" y="2862072"/>
              <a:ext cx="7086600" cy="457200"/>
            </a:xfrm>
            <a:prstGeom prst="roundRect">
              <a:avLst>
                <a:gd name="adj" fmla="val 1200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45" name="Text 22">
              <a:extLst>
                <a:ext uri="{FF2B5EF4-FFF2-40B4-BE49-F238E27FC236}">
                  <a16:creationId xmlns:a16="http://schemas.microsoft.com/office/drawing/2014/main" id="{038466B1-420F-E002-C284-0570C91F5457}"/>
                </a:ext>
              </a:extLst>
            </p:cNvPr>
            <p:cNvSpPr/>
            <p:nvPr/>
          </p:nvSpPr>
          <p:spPr>
            <a:xfrm>
              <a:off x="1810512" y="2889504"/>
              <a:ext cx="2286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65100"/>
                  </a:solidFill>
                </a:rPr>
                <a:t>Matching &amp; Eligibility</a:t>
              </a:r>
              <a:endParaRPr lang="en-US" sz="1100" dirty="0"/>
            </a:p>
          </p:txBody>
        </p:sp>
        <p:sp>
          <p:nvSpPr>
            <p:cNvPr id="46" name="Text 23">
              <a:extLst>
                <a:ext uri="{FF2B5EF4-FFF2-40B4-BE49-F238E27FC236}">
                  <a16:creationId xmlns:a16="http://schemas.microsoft.com/office/drawing/2014/main" id="{0730BE14-C576-8787-1DB8-1D5086A1E029}"/>
                </a:ext>
              </a:extLst>
            </p:cNvPr>
            <p:cNvSpPr/>
            <p:nvPr/>
          </p:nvSpPr>
          <p:spPr>
            <a:xfrm>
              <a:off x="1810512" y="3099816"/>
              <a:ext cx="6858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B6B"/>
                  </a:solidFill>
                </a:rPr>
                <a:t>Eligibility engine, donor ranking algorithm, match notification system</a:t>
              </a:r>
              <a:endParaRPr lang="en-US" sz="950" dirty="0"/>
            </a:p>
          </p:txBody>
        </p:sp>
        <p:sp>
          <p:nvSpPr>
            <p:cNvPr id="47" name="Shape 24">
              <a:extLst>
                <a:ext uri="{FF2B5EF4-FFF2-40B4-BE49-F238E27FC236}">
                  <a16:creationId xmlns:a16="http://schemas.microsoft.com/office/drawing/2014/main" id="{657C9475-6014-9F95-0498-E5D91A8F114E}"/>
                </a:ext>
              </a:extLst>
            </p:cNvPr>
            <p:cNvSpPr/>
            <p:nvPr/>
          </p:nvSpPr>
          <p:spPr>
            <a:xfrm>
              <a:off x="1261872" y="3474720"/>
              <a:ext cx="219456" cy="219456"/>
            </a:xfrm>
            <a:prstGeom prst="line">
              <a:avLst/>
            </a:prstGeom>
            <a:solidFill>
              <a:srgbClr val="6A1B9A"/>
            </a:solidFill>
            <a:ln/>
          </p:spPr>
        </p:sp>
        <p:sp>
          <p:nvSpPr>
            <p:cNvPr id="48" name="Text 25">
              <a:extLst>
                <a:ext uri="{FF2B5EF4-FFF2-40B4-BE49-F238E27FC236}">
                  <a16:creationId xmlns:a16="http://schemas.microsoft.com/office/drawing/2014/main" id="{F5F2744B-85FA-D9EA-1FEC-557E99074F0D}"/>
                </a:ext>
              </a:extLst>
            </p:cNvPr>
            <p:cNvSpPr/>
            <p:nvPr/>
          </p:nvSpPr>
          <p:spPr>
            <a:xfrm>
              <a:off x="0" y="3419856"/>
              <a:ext cx="1188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6A1B9A"/>
                  </a:solidFill>
                </a:rPr>
                <a:t>Wk 9–10</a:t>
              </a:r>
              <a:endParaRPr lang="en-US" sz="1000" dirty="0"/>
            </a:p>
          </p:txBody>
        </p:sp>
        <p:sp>
          <p:nvSpPr>
            <p:cNvPr id="49" name="Shape 26">
              <a:extLst>
                <a:ext uri="{FF2B5EF4-FFF2-40B4-BE49-F238E27FC236}">
                  <a16:creationId xmlns:a16="http://schemas.microsoft.com/office/drawing/2014/main" id="{9C256954-CE8E-DE94-5490-CC951FC77C75}"/>
                </a:ext>
              </a:extLst>
            </p:cNvPr>
            <p:cNvSpPr/>
            <p:nvPr/>
          </p:nvSpPr>
          <p:spPr>
            <a:xfrm>
              <a:off x="1691640" y="3383280"/>
              <a:ext cx="7086600" cy="457200"/>
            </a:xfrm>
            <a:prstGeom prst="roundRect">
              <a:avLst>
                <a:gd name="adj" fmla="val 1200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50" name="Text 27">
              <a:extLst>
                <a:ext uri="{FF2B5EF4-FFF2-40B4-BE49-F238E27FC236}">
                  <a16:creationId xmlns:a16="http://schemas.microsoft.com/office/drawing/2014/main" id="{0358F203-0182-6B45-4D44-75B8883466DF}"/>
                </a:ext>
              </a:extLst>
            </p:cNvPr>
            <p:cNvSpPr/>
            <p:nvPr/>
          </p:nvSpPr>
          <p:spPr>
            <a:xfrm>
              <a:off x="1810512" y="3410712"/>
              <a:ext cx="2286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6A1B9A"/>
                  </a:solidFill>
                </a:rPr>
                <a:t>Lifecycle &amp; Notifications</a:t>
              </a:r>
              <a:endParaRPr lang="en-US" sz="1100" dirty="0"/>
            </a:p>
          </p:txBody>
        </p:sp>
        <p:sp>
          <p:nvSpPr>
            <p:cNvPr id="51" name="Text 28">
              <a:extLst>
                <a:ext uri="{FF2B5EF4-FFF2-40B4-BE49-F238E27FC236}">
                  <a16:creationId xmlns:a16="http://schemas.microsoft.com/office/drawing/2014/main" id="{6BC71C67-4E83-6C26-266A-9191DCBB94F7}"/>
                </a:ext>
              </a:extLst>
            </p:cNvPr>
            <p:cNvSpPr/>
            <p:nvPr/>
          </p:nvSpPr>
          <p:spPr>
            <a:xfrm>
              <a:off x="1810512" y="3621024"/>
              <a:ext cx="6858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B6B"/>
                  </a:solidFill>
                </a:rPr>
                <a:t>Full request lifecycle, accept/decline flow, notification inbox, cooldown UI</a:t>
              </a:r>
              <a:endParaRPr lang="en-US" sz="950" dirty="0"/>
            </a:p>
          </p:txBody>
        </p:sp>
        <p:sp>
          <p:nvSpPr>
            <p:cNvPr id="52" name="Shape 29">
              <a:extLst>
                <a:ext uri="{FF2B5EF4-FFF2-40B4-BE49-F238E27FC236}">
                  <a16:creationId xmlns:a16="http://schemas.microsoft.com/office/drawing/2014/main" id="{E00B5B9C-132C-839B-2394-CB90F6D96A99}"/>
                </a:ext>
              </a:extLst>
            </p:cNvPr>
            <p:cNvSpPr/>
            <p:nvPr/>
          </p:nvSpPr>
          <p:spPr>
            <a:xfrm>
              <a:off x="1261872" y="3995928"/>
              <a:ext cx="219456" cy="219456"/>
            </a:xfrm>
            <a:prstGeom prst="line">
              <a:avLst/>
            </a:prstGeom>
            <a:solidFill>
              <a:srgbClr val="5D4037"/>
            </a:solidFill>
            <a:ln/>
          </p:spPr>
        </p:sp>
        <p:sp>
          <p:nvSpPr>
            <p:cNvPr id="53" name="Text 30">
              <a:extLst>
                <a:ext uri="{FF2B5EF4-FFF2-40B4-BE49-F238E27FC236}">
                  <a16:creationId xmlns:a16="http://schemas.microsoft.com/office/drawing/2014/main" id="{9B3080F8-5B06-CA61-C338-DD64AB564051}"/>
                </a:ext>
              </a:extLst>
            </p:cNvPr>
            <p:cNvSpPr/>
            <p:nvPr/>
          </p:nvSpPr>
          <p:spPr>
            <a:xfrm>
              <a:off x="0" y="3941064"/>
              <a:ext cx="1188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5D4037"/>
                  </a:solidFill>
                </a:rPr>
                <a:t>Wk 11</a:t>
              </a:r>
              <a:endParaRPr lang="en-US" sz="1000" dirty="0"/>
            </a:p>
          </p:txBody>
        </p:sp>
        <p:sp>
          <p:nvSpPr>
            <p:cNvPr id="54" name="Shape 31">
              <a:extLst>
                <a:ext uri="{FF2B5EF4-FFF2-40B4-BE49-F238E27FC236}">
                  <a16:creationId xmlns:a16="http://schemas.microsoft.com/office/drawing/2014/main" id="{444166D8-C991-61ED-81AF-58CDCA3C8365}"/>
                </a:ext>
              </a:extLst>
            </p:cNvPr>
            <p:cNvSpPr/>
            <p:nvPr/>
          </p:nvSpPr>
          <p:spPr>
            <a:xfrm>
              <a:off x="1691640" y="3904488"/>
              <a:ext cx="7086600" cy="457200"/>
            </a:xfrm>
            <a:prstGeom prst="roundRect">
              <a:avLst>
                <a:gd name="adj" fmla="val 1200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55" name="Text 32">
              <a:extLst>
                <a:ext uri="{FF2B5EF4-FFF2-40B4-BE49-F238E27FC236}">
                  <a16:creationId xmlns:a16="http://schemas.microsoft.com/office/drawing/2014/main" id="{95245490-99AC-2FB3-20E9-CBE3A52E2CCD}"/>
                </a:ext>
              </a:extLst>
            </p:cNvPr>
            <p:cNvSpPr/>
            <p:nvPr/>
          </p:nvSpPr>
          <p:spPr>
            <a:xfrm>
              <a:off x="1810512" y="3931920"/>
              <a:ext cx="2286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5D4037"/>
                  </a:solidFill>
                </a:rPr>
                <a:t>Admin Dashboard &amp; Charts</a:t>
              </a:r>
              <a:endParaRPr lang="en-US" sz="1100" dirty="0"/>
            </a:p>
          </p:txBody>
        </p:sp>
        <p:sp>
          <p:nvSpPr>
            <p:cNvPr id="56" name="Text 33">
              <a:extLst>
                <a:ext uri="{FF2B5EF4-FFF2-40B4-BE49-F238E27FC236}">
                  <a16:creationId xmlns:a16="http://schemas.microsoft.com/office/drawing/2014/main" id="{247ED348-0828-E3FB-DDDB-35F18F824032}"/>
                </a:ext>
              </a:extLst>
            </p:cNvPr>
            <p:cNvSpPr/>
            <p:nvPr/>
          </p:nvSpPr>
          <p:spPr>
            <a:xfrm>
              <a:off x="1810512" y="4142232"/>
              <a:ext cx="6858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B6B"/>
                  </a:solidFill>
                </a:rPr>
                <a:t>Analytics screen, BarChart/PieChart, user management, achievement badges</a:t>
              </a:r>
              <a:endParaRPr lang="en-US" sz="950" dirty="0"/>
            </a:p>
          </p:txBody>
        </p:sp>
        <p:sp>
          <p:nvSpPr>
            <p:cNvPr id="57" name="Shape 34">
              <a:extLst>
                <a:ext uri="{FF2B5EF4-FFF2-40B4-BE49-F238E27FC236}">
                  <a16:creationId xmlns:a16="http://schemas.microsoft.com/office/drawing/2014/main" id="{5D108054-2FE5-D065-B874-217AF788341F}"/>
                </a:ext>
              </a:extLst>
            </p:cNvPr>
            <p:cNvSpPr/>
            <p:nvPr/>
          </p:nvSpPr>
          <p:spPr>
            <a:xfrm>
              <a:off x="1261872" y="4517136"/>
              <a:ext cx="219456" cy="219456"/>
            </a:xfrm>
            <a:prstGeom prst="line">
              <a:avLst/>
            </a:prstGeom>
            <a:solidFill>
              <a:srgbClr val="37474F"/>
            </a:solidFill>
            <a:ln/>
          </p:spPr>
        </p:sp>
        <p:sp>
          <p:nvSpPr>
            <p:cNvPr id="58" name="Text 35">
              <a:extLst>
                <a:ext uri="{FF2B5EF4-FFF2-40B4-BE49-F238E27FC236}">
                  <a16:creationId xmlns:a16="http://schemas.microsoft.com/office/drawing/2014/main" id="{91BCDD37-C138-39C4-70E7-2028F72E06C1}"/>
                </a:ext>
              </a:extLst>
            </p:cNvPr>
            <p:cNvSpPr/>
            <p:nvPr/>
          </p:nvSpPr>
          <p:spPr>
            <a:xfrm>
              <a:off x="0" y="4462272"/>
              <a:ext cx="1188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37474F"/>
                  </a:solidFill>
                </a:rPr>
                <a:t>Wk 12</a:t>
              </a:r>
              <a:endParaRPr lang="en-US" sz="1000" dirty="0"/>
            </a:p>
          </p:txBody>
        </p:sp>
        <p:sp>
          <p:nvSpPr>
            <p:cNvPr id="59" name="Shape 36">
              <a:extLst>
                <a:ext uri="{FF2B5EF4-FFF2-40B4-BE49-F238E27FC236}">
                  <a16:creationId xmlns:a16="http://schemas.microsoft.com/office/drawing/2014/main" id="{E5C973BB-97F0-7559-67C8-EF23DAF92B98}"/>
                </a:ext>
              </a:extLst>
            </p:cNvPr>
            <p:cNvSpPr/>
            <p:nvPr/>
          </p:nvSpPr>
          <p:spPr>
            <a:xfrm>
              <a:off x="1691640" y="4425696"/>
              <a:ext cx="7086600" cy="457200"/>
            </a:xfrm>
            <a:prstGeom prst="roundRect">
              <a:avLst>
                <a:gd name="adj" fmla="val 12000"/>
              </a:avLst>
            </a:prstGeom>
            <a:solidFill>
              <a:srgbClr val="F8F4F4"/>
            </a:solidFill>
            <a:ln/>
            <a:effectLst>
              <a:outerShdw blurRad="101600" dist="38100" dir="27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60" name="Text 37">
              <a:extLst>
                <a:ext uri="{FF2B5EF4-FFF2-40B4-BE49-F238E27FC236}">
                  <a16:creationId xmlns:a16="http://schemas.microsoft.com/office/drawing/2014/main" id="{19CA04B2-4C49-D3A9-3775-516FCC5A3BE0}"/>
                </a:ext>
              </a:extLst>
            </p:cNvPr>
            <p:cNvSpPr/>
            <p:nvPr/>
          </p:nvSpPr>
          <p:spPr>
            <a:xfrm>
              <a:off x="1810512" y="4453128"/>
              <a:ext cx="2286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7474F"/>
                  </a:solidFill>
                </a:rPr>
                <a:t>Testing, Docs &amp; Demo Prep</a:t>
              </a:r>
              <a:endParaRPr lang="en-US" sz="1100" dirty="0"/>
            </a:p>
          </p:txBody>
        </p:sp>
        <p:sp>
          <p:nvSpPr>
            <p:cNvPr id="61" name="Text 38">
              <a:extLst>
                <a:ext uri="{FF2B5EF4-FFF2-40B4-BE49-F238E27FC236}">
                  <a16:creationId xmlns:a16="http://schemas.microsoft.com/office/drawing/2014/main" id="{6210068F-D952-2AE7-1286-E31612FCABB4}"/>
                </a:ext>
              </a:extLst>
            </p:cNvPr>
            <p:cNvSpPr/>
            <p:nvPr/>
          </p:nvSpPr>
          <p:spPr>
            <a:xfrm>
              <a:off x="1810512" y="4663440"/>
              <a:ext cx="6858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B6B"/>
                  </a:solidFill>
                </a:rPr>
                <a:t>Bug fixes, Javadoc, README, GitHub cleanup, final demo rehearsal</a:t>
              </a:r>
              <a:endParaRPr lang="en-US" sz="950" dirty="0"/>
            </a:p>
          </p:txBody>
        </p:sp>
      </p:grp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7560309"/>
            <a:chOff x="0" y="0"/>
            <a:chExt cx="10692130" cy="7560309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900285" cy="7560309"/>
            </a:xfrm>
            <a:custGeom>
              <a:avLst/>
              <a:gdLst/>
              <a:ahLst/>
              <a:cxnLst/>
              <a:rect l="l" t="t" r="r" b="b"/>
              <a:pathLst>
                <a:path w="9900285" h="7560309">
                  <a:moveTo>
                    <a:pt x="0" y="7560000"/>
                  </a:moveTo>
                  <a:lnTo>
                    <a:pt x="9900000" y="7560000"/>
                  </a:lnTo>
                  <a:lnTo>
                    <a:pt x="9900000" y="0"/>
                  </a:lnTo>
                  <a:lnTo>
                    <a:pt x="0" y="0"/>
                  </a:lnTo>
                  <a:lnTo>
                    <a:pt x="0" y="7560000"/>
                  </a:lnTo>
                  <a:close/>
                </a:path>
              </a:pathLst>
            </a:custGeom>
            <a:solidFill>
              <a:srgbClr val="8A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900000" y="0"/>
              <a:ext cx="792480" cy="7560309"/>
            </a:xfrm>
            <a:custGeom>
              <a:avLst/>
              <a:gdLst/>
              <a:ahLst/>
              <a:cxnLst/>
              <a:rect l="l" t="t" r="r" b="b"/>
              <a:pathLst>
                <a:path w="792479" h="7560309">
                  <a:moveTo>
                    <a:pt x="791999" y="0"/>
                  </a:moveTo>
                  <a:lnTo>
                    <a:pt x="0" y="0"/>
                  </a:lnTo>
                  <a:lnTo>
                    <a:pt x="0" y="7560000"/>
                  </a:lnTo>
                  <a:lnTo>
                    <a:pt x="791999" y="7560000"/>
                  </a:lnTo>
                  <a:lnTo>
                    <a:pt x="791999" y="0"/>
                  </a:lnTo>
                  <a:close/>
                </a:path>
              </a:pathLst>
            </a:custGeom>
            <a:solidFill>
              <a:srgbClr val="6B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170321" y="3640299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lang="en-US" sz="16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4536000"/>
            <a:ext cx="7128509" cy="605155"/>
          </a:xfrm>
          <a:custGeom>
            <a:avLst/>
            <a:gdLst/>
            <a:ahLst/>
            <a:cxnLst/>
            <a:rect l="l" t="t" r="r" b="b"/>
            <a:pathLst>
              <a:path w="7128509" h="605154">
                <a:moveTo>
                  <a:pt x="5939999" y="0"/>
                </a:moveTo>
                <a:lnTo>
                  <a:pt x="0" y="0"/>
                </a:lnTo>
                <a:lnTo>
                  <a:pt x="0" y="604799"/>
                </a:lnTo>
                <a:lnTo>
                  <a:pt x="7127999" y="604799"/>
                </a:lnTo>
                <a:lnTo>
                  <a:pt x="5939999" y="0"/>
                </a:lnTo>
                <a:close/>
              </a:path>
            </a:pathLst>
          </a:custGeom>
          <a:solidFill>
            <a:srgbClr val="BF38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98999" y="1251999"/>
            <a:ext cx="2032000" cy="2032000"/>
          </a:xfrm>
          <a:custGeom>
            <a:avLst/>
            <a:gdLst/>
            <a:ahLst/>
            <a:cxnLst/>
            <a:rect l="l" t="t" r="r" b="b"/>
            <a:pathLst>
              <a:path w="2032000" h="2032000">
                <a:moveTo>
                  <a:pt x="1016000" y="0"/>
                </a:moveTo>
                <a:lnTo>
                  <a:pt x="968172" y="1105"/>
                </a:lnTo>
                <a:lnTo>
                  <a:pt x="920913" y="4390"/>
                </a:lnTo>
                <a:lnTo>
                  <a:pt x="874272" y="9806"/>
                </a:lnTo>
                <a:lnTo>
                  <a:pt x="828298" y="17303"/>
                </a:lnTo>
                <a:lnTo>
                  <a:pt x="783040" y="26833"/>
                </a:lnTo>
                <a:lnTo>
                  <a:pt x="738546" y="38347"/>
                </a:lnTo>
                <a:lnTo>
                  <a:pt x="694865" y="51796"/>
                </a:lnTo>
                <a:lnTo>
                  <a:pt x="652046" y="67131"/>
                </a:lnTo>
                <a:lnTo>
                  <a:pt x="610137" y="84305"/>
                </a:lnTo>
                <a:lnTo>
                  <a:pt x="569188" y="103267"/>
                </a:lnTo>
                <a:lnTo>
                  <a:pt x="529248" y="123969"/>
                </a:lnTo>
                <a:lnTo>
                  <a:pt x="490364" y="146363"/>
                </a:lnTo>
                <a:lnTo>
                  <a:pt x="452586" y="170399"/>
                </a:lnTo>
                <a:lnTo>
                  <a:pt x="415963" y="196028"/>
                </a:lnTo>
                <a:lnTo>
                  <a:pt x="380543" y="223203"/>
                </a:lnTo>
                <a:lnTo>
                  <a:pt x="346376" y="251874"/>
                </a:lnTo>
                <a:lnTo>
                  <a:pt x="313509" y="281992"/>
                </a:lnTo>
                <a:lnTo>
                  <a:pt x="281992" y="313509"/>
                </a:lnTo>
                <a:lnTo>
                  <a:pt x="251874" y="346376"/>
                </a:lnTo>
                <a:lnTo>
                  <a:pt x="223203" y="380543"/>
                </a:lnTo>
                <a:lnTo>
                  <a:pt x="196028" y="415963"/>
                </a:lnTo>
                <a:lnTo>
                  <a:pt x="170399" y="452586"/>
                </a:lnTo>
                <a:lnTo>
                  <a:pt x="146363" y="490364"/>
                </a:lnTo>
                <a:lnTo>
                  <a:pt x="123969" y="529248"/>
                </a:lnTo>
                <a:lnTo>
                  <a:pt x="103267" y="569188"/>
                </a:lnTo>
                <a:lnTo>
                  <a:pt x="84305" y="610137"/>
                </a:lnTo>
                <a:lnTo>
                  <a:pt x="67131" y="652046"/>
                </a:lnTo>
                <a:lnTo>
                  <a:pt x="51796" y="694865"/>
                </a:lnTo>
                <a:lnTo>
                  <a:pt x="38347" y="738546"/>
                </a:lnTo>
                <a:lnTo>
                  <a:pt x="26833" y="783040"/>
                </a:lnTo>
                <a:lnTo>
                  <a:pt x="17303" y="828298"/>
                </a:lnTo>
                <a:lnTo>
                  <a:pt x="9806" y="874272"/>
                </a:lnTo>
                <a:lnTo>
                  <a:pt x="4390" y="920913"/>
                </a:lnTo>
                <a:lnTo>
                  <a:pt x="1105" y="968172"/>
                </a:lnTo>
                <a:lnTo>
                  <a:pt x="0" y="1016000"/>
                </a:lnTo>
                <a:lnTo>
                  <a:pt x="1105" y="1063827"/>
                </a:lnTo>
                <a:lnTo>
                  <a:pt x="4390" y="1111086"/>
                </a:lnTo>
                <a:lnTo>
                  <a:pt x="9806" y="1157727"/>
                </a:lnTo>
                <a:lnTo>
                  <a:pt x="17303" y="1203701"/>
                </a:lnTo>
                <a:lnTo>
                  <a:pt x="26833" y="1248959"/>
                </a:lnTo>
                <a:lnTo>
                  <a:pt x="38347" y="1293453"/>
                </a:lnTo>
                <a:lnTo>
                  <a:pt x="51796" y="1337134"/>
                </a:lnTo>
                <a:lnTo>
                  <a:pt x="67131" y="1379953"/>
                </a:lnTo>
                <a:lnTo>
                  <a:pt x="84305" y="1421862"/>
                </a:lnTo>
                <a:lnTo>
                  <a:pt x="103267" y="1462811"/>
                </a:lnTo>
                <a:lnTo>
                  <a:pt x="123969" y="1502751"/>
                </a:lnTo>
                <a:lnTo>
                  <a:pt x="146363" y="1541635"/>
                </a:lnTo>
                <a:lnTo>
                  <a:pt x="170399" y="1579413"/>
                </a:lnTo>
                <a:lnTo>
                  <a:pt x="196028" y="1616036"/>
                </a:lnTo>
                <a:lnTo>
                  <a:pt x="223203" y="1651456"/>
                </a:lnTo>
                <a:lnTo>
                  <a:pt x="251874" y="1685623"/>
                </a:lnTo>
                <a:lnTo>
                  <a:pt x="281992" y="1718490"/>
                </a:lnTo>
                <a:lnTo>
                  <a:pt x="313509" y="1750007"/>
                </a:lnTo>
                <a:lnTo>
                  <a:pt x="346376" y="1780125"/>
                </a:lnTo>
                <a:lnTo>
                  <a:pt x="380543" y="1808796"/>
                </a:lnTo>
                <a:lnTo>
                  <a:pt x="415963" y="1835971"/>
                </a:lnTo>
                <a:lnTo>
                  <a:pt x="452586" y="1861600"/>
                </a:lnTo>
                <a:lnTo>
                  <a:pt x="490364" y="1885636"/>
                </a:lnTo>
                <a:lnTo>
                  <a:pt x="529248" y="1908030"/>
                </a:lnTo>
                <a:lnTo>
                  <a:pt x="569188" y="1928732"/>
                </a:lnTo>
                <a:lnTo>
                  <a:pt x="610137" y="1947694"/>
                </a:lnTo>
                <a:lnTo>
                  <a:pt x="652046" y="1964868"/>
                </a:lnTo>
                <a:lnTo>
                  <a:pt x="694865" y="1980203"/>
                </a:lnTo>
                <a:lnTo>
                  <a:pt x="738546" y="1993652"/>
                </a:lnTo>
                <a:lnTo>
                  <a:pt x="783040" y="2005166"/>
                </a:lnTo>
                <a:lnTo>
                  <a:pt x="828298" y="2014696"/>
                </a:lnTo>
                <a:lnTo>
                  <a:pt x="874272" y="2022193"/>
                </a:lnTo>
                <a:lnTo>
                  <a:pt x="920913" y="2027609"/>
                </a:lnTo>
                <a:lnTo>
                  <a:pt x="968172" y="2030894"/>
                </a:lnTo>
                <a:lnTo>
                  <a:pt x="1016000" y="2032000"/>
                </a:lnTo>
                <a:lnTo>
                  <a:pt x="1063827" y="2030894"/>
                </a:lnTo>
                <a:lnTo>
                  <a:pt x="1111086" y="2027609"/>
                </a:lnTo>
                <a:lnTo>
                  <a:pt x="1157727" y="2022193"/>
                </a:lnTo>
                <a:lnTo>
                  <a:pt x="1203701" y="2014696"/>
                </a:lnTo>
                <a:lnTo>
                  <a:pt x="1248959" y="2005166"/>
                </a:lnTo>
                <a:lnTo>
                  <a:pt x="1293453" y="1993652"/>
                </a:lnTo>
                <a:lnTo>
                  <a:pt x="1337134" y="1980203"/>
                </a:lnTo>
                <a:lnTo>
                  <a:pt x="1379953" y="1964868"/>
                </a:lnTo>
                <a:lnTo>
                  <a:pt x="1421862" y="1947694"/>
                </a:lnTo>
                <a:lnTo>
                  <a:pt x="1462811" y="1928732"/>
                </a:lnTo>
                <a:lnTo>
                  <a:pt x="1502751" y="1908030"/>
                </a:lnTo>
                <a:lnTo>
                  <a:pt x="1541635" y="1885636"/>
                </a:lnTo>
                <a:lnTo>
                  <a:pt x="1579413" y="1861600"/>
                </a:lnTo>
                <a:lnTo>
                  <a:pt x="1616036" y="1835971"/>
                </a:lnTo>
                <a:lnTo>
                  <a:pt x="1651456" y="1808796"/>
                </a:lnTo>
                <a:lnTo>
                  <a:pt x="1685623" y="1780125"/>
                </a:lnTo>
                <a:lnTo>
                  <a:pt x="1718490" y="1750007"/>
                </a:lnTo>
                <a:lnTo>
                  <a:pt x="1750007" y="1718490"/>
                </a:lnTo>
                <a:lnTo>
                  <a:pt x="1780125" y="1685623"/>
                </a:lnTo>
                <a:lnTo>
                  <a:pt x="1808796" y="1651456"/>
                </a:lnTo>
                <a:lnTo>
                  <a:pt x="1835971" y="1616036"/>
                </a:lnTo>
                <a:lnTo>
                  <a:pt x="1861600" y="1579413"/>
                </a:lnTo>
                <a:lnTo>
                  <a:pt x="1885636" y="1541635"/>
                </a:lnTo>
                <a:lnTo>
                  <a:pt x="1908030" y="1502751"/>
                </a:lnTo>
                <a:lnTo>
                  <a:pt x="1928732" y="1462811"/>
                </a:lnTo>
                <a:lnTo>
                  <a:pt x="1947694" y="1421862"/>
                </a:lnTo>
                <a:lnTo>
                  <a:pt x="1964868" y="1379953"/>
                </a:lnTo>
                <a:lnTo>
                  <a:pt x="1980203" y="1337134"/>
                </a:lnTo>
                <a:lnTo>
                  <a:pt x="1993652" y="1293453"/>
                </a:lnTo>
                <a:lnTo>
                  <a:pt x="2005166" y="1248959"/>
                </a:lnTo>
                <a:lnTo>
                  <a:pt x="2014696" y="1203701"/>
                </a:lnTo>
                <a:lnTo>
                  <a:pt x="2022193" y="1157727"/>
                </a:lnTo>
                <a:lnTo>
                  <a:pt x="2027609" y="1111086"/>
                </a:lnTo>
                <a:lnTo>
                  <a:pt x="2030894" y="1063827"/>
                </a:lnTo>
                <a:lnTo>
                  <a:pt x="2032000" y="1016000"/>
                </a:lnTo>
                <a:lnTo>
                  <a:pt x="2030894" y="968172"/>
                </a:lnTo>
                <a:lnTo>
                  <a:pt x="2027609" y="920913"/>
                </a:lnTo>
                <a:lnTo>
                  <a:pt x="2022193" y="874272"/>
                </a:lnTo>
                <a:lnTo>
                  <a:pt x="2014696" y="828298"/>
                </a:lnTo>
                <a:lnTo>
                  <a:pt x="2005166" y="783040"/>
                </a:lnTo>
                <a:lnTo>
                  <a:pt x="1993652" y="738546"/>
                </a:lnTo>
                <a:lnTo>
                  <a:pt x="1980203" y="694865"/>
                </a:lnTo>
                <a:lnTo>
                  <a:pt x="1964868" y="652046"/>
                </a:lnTo>
                <a:lnTo>
                  <a:pt x="1947694" y="610137"/>
                </a:lnTo>
                <a:lnTo>
                  <a:pt x="1928732" y="569188"/>
                </a:lnTo>
                <a:lnTo>
                  <a:pt x="1908030" y="529248"/>
                </a:lnTo>
                <a:lnTo>
                  <a:pt x="1885636" y="490364"/>
                </a:lnTo>
                <a:lnTo>
                  <a:pt x="1861600" y="452586"/>
                </a:lnTo>
                <a:lnTo>
                  <a:pt x="1835971" y="415963"/>
                </a:lnTo>
                <a:lnTo>
                  <a:pt x="1808796" y="380543"/>
                </a:lnTo>
                <a:lnTo>
                  <a:pt x="1780125" y="346376"/>
                </a:lnTo>
                <a:lnTo>
                  <a:pt x="1750007" y="313509"/>
                </a:lnTo>
                <a:lnTo>
                  <a:pt x="1718490" y="281992"/>
                </a:lnTo>
                <a:lnTo>
                  <a:pt x="1685623" y="251874"/>
                </a:lnTo>
                <a:lnTo>
                  <a:pt x="1651456" y="223203"/>
                </a:lnTo>
                <a:lnTo>
                  <a:pt x="1616036" y="196028"/>
                </a:lnTo>
                <a:lnTo>
                  <a:pt x="1579413" y="170399"/>
                </a:lnTo>
                <a:lnTo>
                  <a:pt x="1541635" y="146363"/>
                </a:lnTo>
                <a:lnTo>
                  <a:pt x="1502751" y="123969"/>
                </a:lnTo>
                <a:lnTo>
                  <a:pt x="1462811" y="103267"/>
                </a:lnTo>
                <a:lnTo>
                  <a:pt x="1421862" y="84305"/>
                </a:lnTo>
                <a:lnTo>
                  <a:pt x="1379953" y="67131"/>
                </a:lnTo>
                <a:lnTo>
                  <a:pt x="1337134" y="51796"/>
                </a:lnTo>
                <a:lnTo>
                  <a:pt x="1293453" y="38347"/>
                </a:lnTo>
                <a:lnTo>
                  <a:pt x="1248959" y="26833"/>
                </a:lnTo>
                <a:lnTo>
                  <a:pt x="1203701" y="17303"/>
                </a:lnTo>
                <a:lnTo>
                  <a:pt x="1157727" y="9806"/>
                </a:lnTo>
                <a:lnTo>
                  <a:pt x="1111086" y="4390"/>
                </a:lnTo>
                <a:lnTo>
                  <a:pt x="1063827" y="1105"/>
                </a:lnTo>
                <a:lnTo>
                  <a:pt x="1016000" y="0"/>
                </a:lnTo>
                <a:close/>
              </a:path>
            </a:pathLst>
          </a:custGeom>
          <a:solidFill>
            <a:srgbClr val="FFF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3000" y="5412999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635000" y="0"/>
                </a:moveTo>
                <a:lnTo>
                  <a:pt x="587609" y="1741"/>
                </a:lnTo>
                <a:lnTo>
                  <a:pt x="541164" y="6885"/>
                </a:lnTo>
                <a:lnTo>
                  <a:pt x="495788" y="15307"/>
                </a:lnTo>
                <a:lnTo>
                  <a:pt x="451603" y="26885"/>
                </a:lnTo>
                <a:lnTo>
                  <a:pt x="408733" y="41496"/>
                </a:lnTo>
                <a:lnTo>
                  <a:pt x="367300" y="59018"/>
                </a:lnTo>
                <a:lnTo>
                  <a:pt x="327426" y="79327"/>
                </a:lnTo>
                <a:lnTo>
                  <a:pt x="289235" y="102302"/>
                </a:lnTo>
                <a:lnTo>
                  <a:pt x="252850" y="127818"/>
                </a:lnTo>
                <a:lnTo>
                  <a:pt x="218393" y="155754"/>
                </a:lnTo>
                <a:lnTo>
                  <a:pt x="185987" y="185986"/>
                </a:lnTo>
                <a:lnTo>
                  <a:pt x="155754" y="218393"/>
                </a:lnTo>
                <a:lnTo>
                  <a:pt x="127818" y="252850"/>
                </a:lnTo>
                <a:lnTo>
                  <a:pt x="102302" y="289235"/>
                </a:lnTo>
                <a:lnTo>
                  <a:pt x="79328" y="327426"/>
                </a:lnTo>
                <a:lnTo>
                  <a:pt x="59018" y="367299"/>
                </a:lnTo>
                <a:lnTo>
                  <a:pt x="41496" y="408732"/>
                </a:lnTo>
                <a:lnTo>
                  <a:pt x="26885" y="451603"/>
                </a:lnTo>
                <a:lnTo>
                  <a:pt x="15307" y="495787"/>
                </a:lnTo>
                <a:lnTo>
                  <a:pt x="6885" y="541164"/>
                </a:lnTo>
                <a:lnTo>
                  <a:pt x="1741" y="587609"/>
                </a:lnTo>
                <a:lnTo>
                  <a:pt x="0" y="635000"/>
                </a:lnTo>
                <a:lnTo>
                  <a:pt x="1741" y="682390"/>
                </a:lnTo>
                <a:lnTo>
                  <a:pt x="6885" y="728835"/>
                </a:lnTo>
                <a:lnTo>
                  <a:pt x="15307" y="774211"/>
                </a:lnTo>
                <a:lnTo>
                  <a:pt x="26885" y="818396"/>
                </a:lnTo>
                <a:lnTo>
                  <a:pt x="41496" y="861266"/>
                </a:lnTo>
                <a:lnTo>
                  <a:pt x="59018" y="902699"/>
                </a:lnTo>
                <a:lnTo>
                  <a:pt x="79328" y="942573"/>
                </a:lnTo>
                <a:lnTo>
                  <a:pt x="102302" y="980763"/>
                </a:lnTo>
                <a:lnTo>
                  <a:pt x="127818" y="1017149"/>
                </a:lnTo>
                <a:lnTo>
                  <a:pt x="155754" y="1051606"/>
                </a:lnTo>
                <a:lnTo>
                  <a:pt x="185987" y="1084012"/>
                </a:lnTo>
                <a:lnTo>
                  <a:pt x="218393" y="1114244"/>
                </a:lnTo>
                <a:lnTo>
                  <a:pt x="252850" y="1142180"/>
                </a:lnTo>
                <a:lnTo>
                  <a:pt x="289235" y="1167697"/>
                </a:lnTo>
                <a:lnTo>
                  <a:pt x="327426" y="1190671"/>
                </a:lnTo>
                <a:lnTo>
                  <a:pt x="367300" y="1210981"/>
                </a:lnTo>
                <a:lnTo>
                  <a:pt x="408733" y="1228503"/>
                </a:lnTo>
                <a:lnTo>
                  <a:pt x="451603" y="1243114"/>
                </a:lnTo>
                <a:lnTo>
                  <a:pt x="495788" y="1254692"/>
                </a:lnTo>
                <a:lnTo>
                  <a:pt x="541164" y="1263114"/>
                </a:lnTo>
                <a:lnTo>
                  <a:pt x="587609" y="1268258"/>
                </a:lnTo>
                <a:lnTo>
                  <a:pt x="635000" y="1269999"/>
                </a:lnTo>
                <a:lnTo>
                  <a:pt x="682390" y="1268258"/>
                </a:lnTo>
                <a:lnTo>
                  <a:pt x="728835" y="1263114"/>
                </a:lnTo>
                <a:lnTo>
                  <a:pt x="774211" y="1254692"/>
                </a:lnTo>
                <a:lnTo>
                  <a:pt x="818396" y="1243114"/>
                </a:lnTo>
                <a:lnTo>
                  <a:pt x="861266" y="1228503"/>
                </a:lnTo>
                <a:lnTo>
                  <a:pt x="902699" y="1210981"/>
                </a:lnTo>
                <a:lnTo>
                  <a:pt x="942573" y="1190671"/>
                </a:lnTo>
                <a:lnTo>
                  <a:pt x="980763" y="1167697"/>
                </a:lnTo>
                <a:lnTo>
                  <a:pt x="1017149" y="1142180"/>
                </a:lnTo>
                <a:lnTo>
                  <a:pt x="1051606" y="1114244"/>
                </a:lnTo>
                <a:lnTo>
                  <a:pt x="1084012" y="1084012"/>
                </a:lnTo>
                <a:lnTo>
                  <a:pt x="1114244" y="1051606"/>
                </a:lnTo>
                <a:lnTo>
                  <a:pt x="1142180" y="1017149"/>
                </a:lnTo>
                <a:lnTo>
                  <a:pt x="1167697" y="980763"/>
                </a:lnTo>
                <a:lnTo>
                  <a:pt x="1190671" y="942573"/>
                </a:lnTo>
                <a:lnTo>
                  <a:pt x="1210981" y="902699"/>
                </a:lnTo>
                <a:lnTo>
                  <a:pt x="1228503" y="861266"/>
                </a:lnTo>
                <a:lnTo>
                  <a:pt x="1243114" y="818396"/>
                </a:lnTo>
                <a:lnTo>
                  <a:pt x="1254692" y="774211"/>
                </a:lnTo>
                <a:lnTo>
                  <a:pt x="1263114" y="728835"/>
                </a:lnTo>
                <a:lnTo>
                  <a:pt x="1268258" y="682390"/>
                </a:lnTo>
                <a:lnTo>
                  <a:pt x="1269999" y="635000"/>
                </a:lnTo>
                <a:lnTo>
                  <a:pt x="1268258" y="587609"/>
                </a:lnTo>
                <a:lnTo>
                  <a:pt x="1263114" y="541164"/>
                </a:lnTo>
                <a:lnTo>
                  <a:pt x="1254692" y="495787"/>
                </a:lnTo>
                <a:lnTo>
                  <a:pt x="1243114" y="451603"/>
                </a:lnTo>
                <a:lnTo>
                  <a:pt x="1228503" y="408732"/>
                </a:lnTo>
                <a:lnTo>
                  <a:pt x="1210981" y="367299"/>
                </a:lnTo>
                <a:lnTo>
                  <a:pt x="1190671" y="327426"/>
                </a:lnTo>
                <a:lnTo>
                  <a:pt x="1167697" y="289235"/>
                </a:lnTo>
                <a:lnTo>
                  <a:pt x="1142180" y="252850"/>
                </a:lnTo>
                <a:lnTo>
                  <a:pt x="1114244" y="218393"/>
                </a:lnTo>
                <a:lnTo>
                  <a:pt x="1084012" y="185986"/>
                </a:lnTo>
                <a:lnTo>
                  <a:pt x="1051606" y="155754"/>
                </a:lnTo>
                <a:lnTo>
                  <a:pt x="1017149" y="127818"/>
                </a:lnTo>
                <a:lnTo>
                  <a:pt x="980763" y="102302"/>
                </a:lnTo>
                <a:lnTo>
                  <a:pt x="942573" y="79327"/>
                </a:lnTo>
                <a:lnTo>
                  <a:pt x="902699" y="59018"/>
                </a:lnTo>
                <a:lnTo>
                  <a:pt x="861266" y="41496"/>
                </a:lnTo>
                <a:lnTo>
                  <a:pt x="818396" y="26885"/>
                </a:lnTo>
                <a:lnTo>
                  <a:pt x="774211" y="15307"/>
                </a:lnTo>
                <a:lnTo>
                  <a:pt x="728835" y="6885"/>
                </a:lnTo>
                <a:lnTo>
                  <a:pt x="682390" y="1741"/>
                </a:lnTo>
                <a:lnTo>
                  <a:pt x="635000" y="0"/>
                </a:lnTo>
                <a:close/>
              </a:path>
            </a:pathLst>
          </a:custGeom>
          <a:solidFill>
            <a:srgbClr val="FFF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94400" y="6448399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07347" y="3246"/>
                </a:lnTo>
                <a:lnTo>
                  <a:pt x="261067" y="12702"/>
                </a:lnTo>
                <a:lnTo>
                  <a:pt x="217184" y="27944"/>
                </a:lnTo>
                <a:lnTo>
                  <a:pt x="176121" y="48549"/>
                </a:lnTo>
                <a:lnTo>
                  <a:pt x="138303" y="74093"/>
                </a:lnTo>
                <a:lnTo>
                  <a:pt x="104152" y="104152"/>
                </a:lnTo>
                <a:lnTo>
                  <a:pt x="74093" y="138303"/>
                </a:lnTo>
                <a:lnTo>
                  <a:pt x="48549" y="176121"/>
                </a:lnTo>
                <a:lnTo>
                  <a:pt x="27944" y="217184"/>
                </a:lnTo>
                <a:lnTo>
                  <a:pt x="12702" y="261067"/>
                </a:lnTo>
                <a:lnTo>
                  <a:pt x="3246" y="307347"/>
                </a:lnTo>
                <a:lnTo>
                  <a:pt x="0" y="355599"/>
                </a:lnTo>
                <a:lnTo>
                  <a:pt x="3246" y="403852"/>
                </a:lnTo>
                <a:lnTo>
                  <a:pt x="12702" y="450132"/>
                </a:lnTo>
                <a:lnTo>
                  <a:pt x="27944" y="494015"/>
                </a:lnTo>
                <a:lnTo>
                  <a:pt x="48549" y="535078"/>
                </a:lnTo>
                <a:lnTo>
                  <a:pt x="74093" y="572896"/>
                </a:lnTo>
                <a:lnTo>
                  <a:pt x="104152" y="607047"/>
                </a:lnTo>
                <a:lnTo>
                  <a:pt x="138303" y="637106"/>
                </a:lnTo>
                <a:lnTo>
                  <a:pt x="176121" y="662650"/>
                </a:lnTo>
                <a:lnTo>
                  <a:pt x="217184" y="683255"/>
                </a:lnTo>
                <a:lnTo>
                  <a:pt x="261067" y="698497"/>
                </a:lnTo>
                <a:lnTo>
                  <a:pt x="307347" y="707953"/>
                </a:lnTo>
                <a:lnTo>
                  <a:pt x="355600" y="711199"/>
                </a:lnTo>
                <a:lnTo>
                  <a:pt x="403852" y="707953"/>
                </a:lnTo>
                <a:lnTo>
                  <a:pt x="450132" y="698497"/>
                </a:lnTo>
                <a:lnTo>
                  <a:pt x="494015" y="683255"/>
                </a:lnTo>
                <a:lnTo>
                  <a:pt x="535078" y="662650"/>
                </a:lnTo>
                <a:lnTo>
                  <a:pt x="572896" y="637106"/>
                </a:lnTo>
                <a:lnTo>
                  <a:pt x="607047" y="607047"/>
                </a:lnTo>
                <a:lnTo>
                  <a:pt x="637106" y="572896"/>
                </a:lnTo>
                <a:lnTo>
                  <a:pt x="662650" y="535078"/>
                </a:lnTo>
                <a:lnTo>
                  <a:pt x="683255" y="494015"/>
                </a:lnTo>
                <a:lnTo>
                  <a:pt x="698497" y="450132"/>
                </a:lnTo>
                <a:lnTo>
                  <a:pt x="707953" y="403852"/>
                </a:lnTo>
                <a:lnTo>
                  <a:pt x="711200" y="355599"/>
                </a:lnTo>
                <a:lnTo>
                  <a:pt x="707953" y="307347"/>
                </a:lnTo>
                <a:lnTo>
                  <a:pt x="698497" y="261067"/>
                </a:lnTo>
                <a:lnTo>
                  <a:pt x="683255" y="217184"/>
                </a:lnTo>
                <a:lnTo>
                  <a:pt x="662650" y="176121"/>
                </a:lnTo>
                <a:lnTo>
                  <a:pt x="637106" y="138303"/>
                </a:lnTo>
                <a:lnTo>
                  <a:pt x="607047" y="104152"/>
                </a:lnTo>
                <a:lnTo>
                  <a:pt x="572896" y="74093"/>
                </a:lnTo>
                <a:lnTo>
                  <a:pt x="535078" y="48549"/>
                </a:lnTo>
                <a:lnTo>
                  <a:pt x="494015" y="27944"/>
                </a:lnTo>
                <a:lnTo>
                  <a:pt x="450132" y="12702"/>
                </a:lnTo>
                <a:lnTo>
                  <a:pt x="403852" y="3246"/>
                </a:lnTo>
                <a:lnTo>
                  <a:pt x="355600" y="0"/>
                </a:lnTo>
                <a:close/>
              </a:path>
            </a:pathLst>
          </a:custGeom>
          <a:solidFill>
            <a:srgbClr val="FFF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823613" y="2526899"/>
            <a:ext cx="425323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dirty="0">
                <a:solidFill>
                  <a:srgbClr val="FFFFFF"/>
                </a:solidFill>
              </a:rPr>
              <a:t>THANK</a:t>
            </a:r>
            <a:r>
              <a:rPr sz="5600" spc="-200" dirty="0">
                <a:solidFill>
                  <a:srgbClr val="FFFFFF"/>
                </a:solidFill>
              </a:rPr>
              <a:t> </a:t>
            </a:r>
            <a:r>
              <a:rPr sz="5600" spc="-25" dirty="0">
                <a:solidFill>
                  <a:srgbClr val="FFFFFF"/>
                </a:solidFill>
              </a:rPr>
              <a:t>YOU</a:t>
            </a:r>
            <a:endParaRPr sz="5600"/>
          </a:p>
        </p:txBody>
      </p:sp>
      <p:sp>
        <p:nvSpPr>
          <p:cNvPr id="11" name="object 11"/>
          <p:cNvSpPr txBox="1"/>
          <p:nvPr/>
        </p:nvSpPr>
        <p:spPr>
          <a:xfrm>
            <a:off x="1997466" y="3816300"/>
            <a:ext cx="590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BloodLink</a:t>
            </a:r>
            <a:r>
              <a:rPr sz="1400" spc="3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sz="1400" spc="3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Emergency Blood</a:t>
            </a: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Response &amp; Donor Coordination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1560</Words>
  <Application>Microsoft Office PowerPoint</Application>
  <PresentationFormat>Custom</PresentationFormat>
  <Paragraphs>259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MS Gothic</vt:lpstr>
      <vt:lpstr>Arial</vt:lpstr>
      <vt:lpstr>Arial MT</vt:lpstr>
      <vt:lpstr>Symbol</vt:lpstr>
      <vt:lpstr>Office Theme</vt:lpstr>
      <vt:lpstr>PowerPoint Presentation</vt:lpstr>
      <vt:lpstr>Our Team</vt:lpstr>
      <vt:lpstr>The Problem</vt:lpstr>
      <vt:lpstr>BloodLink</vt:lpstr>
      <vt:lpstr>PowerPoint Presentation</vt:lpstr>
      <vt:lpstr>Goals &amp; Objectives</vt:lpstr>
      <vt:lpstr>Core Features</vt:lpstr>
      <vt:lpstr>Advanced Features</vt:lpstr>
      <vt:lpstr>User Roles</vt:lpstr>
      <vt:lpstr>Module Breakdown</vt:lpstr>
      <vt:lpstr>Screen Design Concepts</vt:lpstr>
      <vt:lpstr>Technology Stack</vt:lpstr>
      <vt:lpstr>Tentative Timeline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Samin Rayed</cp:lastModifiedBy>
  <cp:revision>3</cp:revision>
  <dcterms:created xsi:type="dcterms:W3CDTF">2026-06-01T08:55:28Z</dcterms:created>
  <dcterms:modified xsi:type="dcterms:W3CDTF">2026-06-11T19:37:32Z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2026-06-01T00:00:00Z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2026-06-01T00:00:00Z</vt:filetime>
  </property>
  <property fmtid="{D5CDD505-2E9C-101B-9397-08002B2CF9AE}" pid="6" name="Producer">
    <vt:lpwstr>ReportLab PDF Library - (opensource)</vt:lpwstr>
  </property>
</Properties>
</file>